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50000"/>
          </a:blip>
          <a:stretch>
            <a:fillRect/>
          </a:stretch>
        </p:blipFill>
        <p:spPr>
          <a:xfrm>
            <a:off x="6143625" y="-1285875"/>
            <a:ext cx="4286250" cy="4286250"/>
          </a:xfrm>
          <a:prstGeom prst="rect">
            <a:avLst/>
          </a:prstGeom>
        </p:spPr>
      </p:pic>
      <p:sp>
        <p:nvSpPr>
          <p:cNvPr id="4" name="Text 0"/>
          <p:cNvSpPr/>
          <p:nvPr/>
        </p:nvSpPr>
        <p:spPr>
          <a:xfrm>
            <a:off x="6143625" y="-1285875"/>
            <a:ext cx="4286250" cy="4286250"/>
          </a:xfrm>
          <a:prstGeom prst="ellipse">
            <a:avLst/>
          </a:prstGeom>
          <a:solidFill>
            <a:srgbClr val="00E676">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50000"/>
          </a:blip>
          <a:stretch>
            <a:fillRect/>
          </a:stretch>
        </p:blipFill>
        <p:spPr>
          <a:xfrm>
            <a:off x="-1143000" y="3286125"/>
            <a:ext cx="3000375" cy="3000375"/>
          </a:xfrm>
          <a:prstGeom prst="rect">
            <a:avLst/>
          </a:prstGeom>
        </p:spPr>
      </p:pic>
      <p:sp>
        <p:nvSpPr>
          <p:cNvPr id="6" name="Text 1"/>
          <p:cNvSpPr/>
          <p:nvPr/>
        </p:nvSpPr>
        <p:spPr>
          <a:xfrm>
            <a:off x="-1143000" y="3286125"/>
            <a:ext cx="3000375" cy="3000375"/>
          </a:xfrm>
          <a:prstGeom prst="ellipse">
            <a:avLst/>
          </a:prstGeom>
          <a:solidFill>
            <a:srgbClr val="325AC8">
              <a:alpha val="0"/>
            </a:srgbClr>
          </a:solidFill>
          <a:ln/>
        </p:spPr>
        <p:txBody>
          <a:bodyPr wrap="square" rtlCol="0" anchor="ctr"/>
          <a:lstStyle/>
          <a:p>
            <a:pPr indent="0" marL="0">
              <a:buNone/>
            </a:pPr>
            <a:endParaRPr lang="en-US" dirty="0"/>
          </a:p>
        </p:txBody>
      </p:sp>
      <p:sp>
        <p:nvSpPr>
          <p:cNvPr id="7" name="Text 2"/>
          <p:cNvSpPr/>
          <p:nvPr/>
        </p:nvSpPr>
        <p:spPr>
          <a:xfrm>
            <a:off x="514350" y="453628"/>
            <a:ext cx="85725" cy="85725"/>
          </a:xfrm>
          <a:prstGeom prst="ellipse">
            <a:avLst/>
          </a:prstGeom>
          <a:solidFill>
            <a:srgbClr val="00E676"/>
          </a:solidFill>
          <a:ln/>
          <a:effectLst>
            <a:outerShdw sx="100000" sy="100000" kx="0" ky="0" algn="bl" rotWithShape="0" blurRad="171450" dist="50800" dir="16200000">
              <a:srgbClr val="00E676">
                <a:alpha val="60000"/>
              </a:srgbClr>
            </a:outerShdw>
          </a:effectLst>
        </p:spPr>
        <p:txBody>
          <a:bodyPr wrap="square" rtlCol="0" anchor="ctr"/>
          <a:lstStyle/>
          <a:p>
            <a:pPr indent="0" marL="0">
              <a:buNone/>
            </a:pPr>
            <a:endParaRPr lang="en-US" dirty="0"/>
          </a:p>
        </p:txBody>
      </p:sp>
      <p:sp>
        <p:nvSpPr>
          <p:cNvPr id="8" name="Text 3"/>
          <p:cNvSpPr/>
          <p:nvPr/>
        </p:nvSpPr>
        <p:spPr>
          <a:xfrm>
            <a:off x="685800" y="400050"/>
            <a:ext cx="877110"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F4F7FB"/>
                </a:solidFill>
                <a:latin typeface="Carlito" pitchFamily="34" charset="0"/>
                <a:ea typeface="Carlito" pitchFamily="34" charset="-122"/>
                <a:cs typeface="Carlito" pitchFamily="34" charset="-120"/>
              </a:rPr>
              <a:t>Latent.pk</a:t>
            </a:r>
            <a:endParaRPr lang="en-US" sz="1013" dirty="0"/>
          </a:p>
        </p:txBody>
      </p:sp>
      <p:sp>
        <p:nvSpPr>
          <p:cNvPr id="9" name="Text 4"/>
          <p:cNvSpPr/>
          <p:nvPr/>
        </p:nvSpPr>
        <p:spPr>
          <a:xfrm>
            <a:off x="7425928" y="437555"/>
            <a:ext cx="1522482"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64748B"/>
                </a:solidFill>
                <a:latin typeface="Liberation Sans Narrow" pitchFamily="34" charset="0"/>
                <a:ea typeface="Liberation Sans Narrow" pitchFamily="34" charset="-122"/>
                <a:cs typeface="Liberation Sans Narrow" pitchFamily="34" charset="-120"/>
              </a:rPr>
              <a:t>INVESTOR DECK · 2026</a:t>
            </a:r>
            <a:endParaRPr lang="en-US" sz="800" dirty="0"/>
          </a:p>
        </p:txBody>
      </p:sp>
      <p:sp>
        <p:nvSpPr>
          <p:cNvPr id="10" name="Text 5"/>
          <p:cNvSpPr/>
          <p:nvPr/>
        </p:nvSpPr>
        <p:spPr>
          <a:xfrm>
            <a:off x="491490" y="1561726"/>
            <a:ext cx="1237498"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11" name="Text 6"/>
          <p:cNvSpPr/>
          <p:nvPr/>
        </p:nvSpPr>
        <p:spPr>
          <a:xfrm>
            <a:off x="514350" y="1574527"/>
            <a:ext cx="1191778"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PRE-SEED ROUND</a:t>
            </a:r>
            <a:endParaRPr lang="en-US" sz="800" dirty="0"/>
          </a:p>
        </p:txBody>
      </p:sp>
      <p:sp>
        <p:nvSpPr>
          <p:cNvPr id="12" name="Text 7"/>
          <p:cNvSpPr/>
          <p:nvPr/>
        </p:nvSpPr>
        <p:spPr>
          <a:xfrm>
            <a:off x="514350" y="1985293"/>
            <a:ext cx="8629650" cy="703534"/>
          </a:xfrm>
          <a:prstGeom prst="rect">
            <a:avLst/>
          </a:prstGeom>
          <a:noFill/>
          <a:ln/>
        </p:spPr>
        <p:txBody>
          <a:bodyPr wrap="none" lIns="0" tIns="0" rIns="0" bIns="0" rtlCol="0" anchor="t"/>
          <a:lstStyle/>
          <a:p>
            <a:pPr algn="l" indent="0" marL="0">
              <a:lnSpc>
                <a:spcPts val="5130"/>
              </a:lnSpc>
              <a:buNone/>
            </a:pPr>
            <a:r>
              <a:rPr lang="en-US" sz="5400" b="1" spc="-216" kern="0" dirty="0">
                <a:solidFill>
                  <a:srgbClr val="F4F7FB"/>
                </a:solidFill>
                <a:latin typeface="Carlito" pitchFamily="34" charset="0"/>
                <a:ea typeface="Carlito" pitchFamily="34" charset="-122"/>
                <a:cs typeface="Carlito" pitchFamily="34" charset="-120"/>
              </a:rPr>
              <a:t>Latent.pk</a:t>
            </a:r>
            <a:endParaRPr lang="en-US" sz="5400" dirty="0"/>
          </a:p>
        </p:txBody>
      </p:sp>
      <p:sp>
        <p:nvSpPr>
          <p:cNvPr id="13" name="Text 8"/>
          <p:cNvSpPr/>
          <p:nvPr/>
        </p:nvSpPr>
        <p:spPr>
          <a:xfrm>
            <a:off x="514350" y="2808163"/>
            <a:ext cx="5857875" cy="540068"/>
          </a:xfrm>
          <a:prstGeom prst="rect">
            <a:avLst/>
          </a:prstGeom>
          <a:noFill/>
          <a:ln/>
        </p:spPr>
        <p:txBody>
          <a:bodyPr wrap="square" lIns="0" tIns="0" rIns="0" bIns="0" rtlCol="0" anchor="t"/>
          <a:lstStyle/>
          <a:p>
            <a:pPr algn="l" indent="0" marL="0">
              <a:lnSpc>
                <a:spcPts val="1969"/>
              </a:lnSpc>
              <a:buNone/>
            </a:pPr>
            <a:r>
              <a:rPr lang="en-US" sz="1575" spc="-16" kern="0" dirty="0">
                <a:solidFill>
                  <a:srgbClr val="F4F7FB"/>
                </a:solidFill>
                <a:latin typeface="Carlito" pitchFamily="34" charset="0"/>
                <a:ea typeface="Carlito" pitchFamily="34" charset="-122"/>
                <a:cs typeface="Carlito" pitchFamily="34" charset="-120"/>
              </a:rPr>
              <a:t>Turning “what stock should I buy” into “here's the plan to reach your goal.”</a:t>
            </a:r>
            <a:endParaRPr lang="en-US" sz="1575" dirty="0"/>
          </a:p>
        </p:txBody>
      </p:sp>
      <p:sp>
        <p:nvSpPr>
          <p:cNvPr id="14" name="Text 9"/>
          <p:cNvSpPr/>
          <p:nvPr/>
        </p:nvSpPr>
        <p:spPr>
          <a:xfrm>
            <a:off x="514350" y="3422526"/>
            <a:ext cx="5286375" cy="196739"/>
          </a:xfrm>
          <a:prstGeom prst="rect">
            <a:avLst/>
          </a:prstGeom>
          <a:noFill/>
          <a:ln/>
        </p:spPr>
        <p:txBody>
          <a:bodyPr wrap="square" lIns="0" tIns="0" rIns="0" bIns="0" rtlCol="0" anchor="t"/>
          <a:lstStyle/>
          <a:p>
            <a:pPr algn="l" indent="0" marL="0">
              <a:lnSpc>
                <a:spcPts val="1434"/>
              </a:lnSpc>
              <a:buNone/>
            </a:pPr>
            <a:r>
              <a:rPr lang="en-US" sz="956" dirty="0">
                <a:solidFill>
                  <a:srgbClr val="94A3B8"/>
                </a:solidFill>
                <a:latin typeface="Carlito" pitchFamily="34" charset="0"/>
                <a:ea typeface="Carlito" pitchFamily="34" charset="-122"/>
                <a:cs typeface="Carlito" pitchFamily="34" charset="-120"/>
              </a:rPr>
              <a:t>AI-driven, goal-based investment intelligence for the Pakistan Stock Exchange.</a:t>
            </a:r>
            <a:endParaRPr lang="en-US" sz="956" dirty="0"/>
          </a:p>
        </p:txBody>
      </p:sp>
      <p:sp>
        <p:nvSpPr>
          <p:cNvPr id="15" name="Text 10"/>
          <p:cNvSpPr/>
          <p:nvPr/>
        </p:nvSpPr>
        <p:spPr>
          <a:xfrm>
            <a:off x="514350" y="4586288"/>
            <a:ext cx="400050" cy="28575"/>
          </a:xfrm>
          <a:prstGeom prst="roundRect">
            <a:avLst>
              <a:gd name="adj" fmla="val 66667"/>
            </a:avLst>
          </a:prstGeom>
          <a:solidFill>
            <a:srgbClr val="00E676"/>
          </a:solidFill>
          <a:ln/>
          <a:effectLst>
            <a:outerShdw sx="100000" sy="100000" kx="0" ky="0" algn="bl" rotWithShape="0" blurRad="114300" dist="50800" dir="16200000">
              <a:srgbClr val="00E676">
                <a:alpha val="55000"/>
              </a:srgbClr>
            </a:outerShdw>
          </a:effectLst>
        </p:spPr>
        <p:txBody>
          <a:bodyPr wrap="square" rtlCol="0" anchor="ctr"/>
          <a:lstStyle/>
          <a:p>
            <a:pPr indent="0" marL="0">
              <a:buNone/>
            </a:pPr>
            <a:endParaRPr lang="en-US" dirty="0"/>
          </a:p>
        </p:txBody>
      </p:sp>
      <p:sp>
        <p:nvSpPr>
          <p:cNvPr id="16" name="Text 11"/>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a:t>
            </a:r>
            <a:endParaRPr lang="en-US" sz="800" dirty="0"/>
          </a:p>
        </p:txBody>
      </p:sp>
      <p:sp>
        <p:nvSpPr>
          <p:cNvPr id="17" name="Text 12"/>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01 / 14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50000"/>
          </a:blip>
          <a:stretch>
            <a:fillRect/>
          </a:stretch>
        </p:blipFill>
        <p:spPr>
          <a:xfrm>
            <a:off x="6572250" y="-1071562"/>
            <a:ext cx="3429000" cy="3429000"/>
          </a:xfrm>
          <a:prstGeom prst="rect">
            <a:avLst/>
          </a:prstGeom>
        </p:spPr>
      </p:pic>
      <p:sp>
        <p:nvSpPr>
          <p:cNvPr id="4" name="Text 0"/>
          <p:cNvSpPr/>
          <p:nvPr/>
        </p:nvSpPr>
        <p:spPr>
          <a:xfrm>
            <a:off x="6572250" y="-1071562"/>
            <a:ext cx="3429000" cy="3429000"/>
          </a:xfrm>
          <a:prstGeom prst="ellipse">
            <a:avLst/>
          </a:prstGeom>
          <a:solidFill>
            <a:srgbClr val="00E676">
              <a:alpha val="0"/>
            </a:srgbClr>
          </a:solidFill>
          <a:ln/>
        </p:spPr>
        <p:txBody>
          <a:bodyPr wrap="square" rtlCol="0" anchor="ctr"/>
          <a:lstStyle/>
          <a:p>
            <a:pPr indent="0" marL="0">
              <a:buNone/>
            </a:pPr>
            <a:endParaRPr lang="en-US" dirty="0"/>
          </a:p>
        </p:txBody>
      </p:sp>
      <p:sp>
        <p:nvSpPr>
          <p:cNvPr id="5" name="Text 1"/>
          <p:cNvSpPr/>
          <p:nvPr/>
        </p:nvSpPr>
        <p:spPr>
          <a:xfrm>
            <a:off x="491490" y="387248"/>
            <a:ext cx="906877"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6" name="Text 2"/>
          <p:cNvSpPr/>
          <p:nvPr/>
        </p:nvSpPr>
        <p:spPr>
          <a:xfrm>
            <a:off x="514350" y="400050"/>
            <a:ext cx="861157"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THE THESIS</a:t>
            </a:r>
            <a:endParaRPr lang="en-US" sz="800" dirty="0"/>
          </a:p>
        </p:txBody>
      </p:sp>
      <p:sp>
        <p:nvSpPr>
          <p:cNvPr id="7" name="Text 3"/>
          <p:cNvSpPr/>
          <p:nvPr/>
        </p:nvSpPr>
        <p:spPr>
          <a:xfrm>
            <a:off x="514350" y="810816"/>
            <a:ext cx="7000875" cy="907265"/>
          </a:xfrm>
          <a:prstGeom prst="rect">
            <a:avLst/>
          </a:prstGeom>
          <a:noFill/>
          <a:ln/>
        </p:spPr>
        <p:txBody>
          <a:bodyPr wrap="square" lIns="0" tIns="0" rIns="0" bIns="0" rtlCol="0" anchor="t"/>
          <a:lstStyle/>
          <a:p>
            <a:pPr algn="l" indent="0" marL="0">
              <a:lnSpc>
                <a:spcPts val="3307"/>
              </a:lnSpc>
              <a:buNone/>
            </a:pPr>
            <a:r>
              <a:rPr lang="en-US" sz="3150" b="1" spc="-63" kern="0" dirty="0">
                <a:solidFill>
                  <a:srgbClr val="F4F7FB"/>
                </a:solidFill>
                <a:latin typeface="Carlito" pitchFamily="34" charset="0"/>
                <a:ea typeface="Carlito" pitchFamily="34" charset="-122"/>
                <a:cs typeface="Carlito" pitchFamily="34" charset="-120"/>
              </a:rPr>
              <a:t>Pakistan's retail capital is ready. The interface isn't.</a:t>
            </a:r>
            <a:endParaRPr lang="en-US" sz="3150" dirty="0"/>
          </a:p>
        </p:txBody>
      </p:sp>
      <p:sp>
        <p:nvSpPr>
          <p:cNvPr id="8" name="Text 4"/>
          <p:cNvSpPr/>
          <p:nvPr/>
        </p:nvSpPr>
        <p:spPr>
          <a:xfrm>
            <a:off x="514350" y="1850901"/>
            <a:ext cx="6286500" cy="609746"/>
          </a:xfrm>
          <a:prstGeom prst="rect">
            <a:avLst/>
          </a:prstGeom>
          <a:noFill/>
          <a:ln/>
        </p:spPr>
        <p:txBody>
          <a:bodyPr wrap="square" lIns="0" tIns="0" rIns="0" bIns="0" rtlCol="0" anchor="t"/>
          <a:lstStyle/>
          <a:p>
            <a:pPr algn="l" indent="0" marL="0">
              <a:lnSpc>
                <a:spcPts val="1482"/>
              </a:lnSpc>
              <a:buNone/>
            </a:pPr>
            <a:r>
              <a:rPr lang="en-US" sz="956" dirty="0">
                <a:solidFill>
                  <a:srgbClr val="94A3B8"/>
                </a:solidFill>
                <a:latin typeface="Carlito" pitchFamily="34" charset="0"/>
                <a:ea typeface="Carlito" pitchFamily="34" charset="-122"/>
                <a:cs typeface="Carlito" pitchFamily="34" charset="-120"/>
              </a:rPr>
              <a:t>240 million people. $7B+ in Roshan Digital Account inflows since 2020. 110M+ smartphone users. Yet fewer than 100,000 Pakistanis actively trade on the PSX. The demand for participation is no longer the question — what's missing is a product that meets retail investors where they actually are.</a:t>
            </a:r>
            <a:endParaRPr lang="en-US" sz="956" dirty="0"/>
          </a:p>
        </p:txBody>
      </p:sp>
      <p:sp>
        <p:nvSpPr>
          <p:cNvPr id="9" name="Text 5"/>
          <p:cNvSpPr/>
          <p:nvPr/>
        </p:nvSpPr>
        <p:spPr>
          <a:xfrm>
            <a:off x="517922" y="3432572"/>
            <a:ext cx="2545519" cy="850106"/>
          </a:xfrm>
          <a:prstGeom prst="roundRect">
            <a:avLst>
              <a:gd name="adj" fmla="val 15686"/>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0" name="Text 6"/>
          <p:cNvSpPr/>
          <p:nvPr/>
        </p:nvSpPr>
        <p:spPr>
          <a:xfrm>
            <a:off x="692944" y="3509367"/>
            <a:ext cx="2195475" cy="339471"/>
          </a:xfrm>
          <a:prstGeom prst="rect">
            <a:avLst/>
          </a:prstGeom>
          <a:noFill/>
          <a:ln/>
        </p:spPr>
        <p:txBody>
          <a:bodyPr wrap="none" lIns="0" tIns="0" rIns="0" bIns="0" rtlCol="0" anchor="t"/>
          <a:lstStyle/>
          <a:p>
            <a:pPr algn="l" indent="0" marL="0">
              <a:lnSpc>
                <a:spcPts val="2475"/>
              </a:lnSpc>
              <a:buNone/>
            </a:pPr>
            <a:r>
              <a:rPr lang="en-US" sz="2475" b="1" spc="-49" kern="0" dirty="0">
                <a:solidFill>
                  <a:srgbClr val="00E676"/>
                </a:solidFill>
                <a:latin typeface="Liberation Sans Narrow" pitchFamily="34" charset="0"/>
                <a:ea typeface="Liberation Sans Narrow" pitchFamily="34" charset="-122"/>
                <a:cs typeface="Liberation Sans Narrow" pitchFamily="34" charset="-120"/>
              </a:rPr>
              <a:t>240M</a:t>
            </a:r>
            <a:endParaRPr lang="en-US" sz="2475" dirty="0"/>
          </a:p>
        </p:txBody>
      </p:sp>
      <p:sp>
        <p:nvSpPr>
          <p:cNvPr id="11" name="Text 7"/>
          <p:cNvSpPr/>
          <p:nvPr/>
        </p:nvSpPr>
        <p:spPr>
          <a:xfrm>
            <a:off x="692944" y="3909417"/>
            <a:ext cx="2195475" cy="140446"/>
          </a:xfrm>
          <a:prstGeom prst="rect">
            <a:avLst/>
          </a:prstGeom>
          <a:noFill/>
          <a:ln/>
        </p:spPr>
        <p:txBody>
          <a:bodyPr wrap="none" lIns="0" tIns="0" rIns="0" bIns="0" rtlCol="0" anchor="t">
            <a:normAutofit/>
          </a:bodyPr>
          <a:lstStyle/>
          <a:p>
            <a:pPr algn="l" indent="0" marL="0">
              <a:lnSpc>
                <a:spcPts val="1097"/>
              </a:lnSpc>
              <a:buNone/>
            </a:pPr>
            <a:r>
              <a:rPr lang="en-US" sz="800" spc="59" kern="0" dirty="0">
                <a:solidFill>
                  <a:srgbClr val="94A3B8"/>
                </a:solidFill>
                <a:latin typeface="Carlito" pitchFamily="34" charset="0"/>
                <a:ea typeface="Carlito" pitchFamily="34" charset="-122"/>
                <a:cs typeface="Carlito" pitchFamily="34" charset="-120"/>
              </a:rPr>
              <a:t>TOTAL POPULATION</a:t>
            </a:r>
            <a:endParaRPr lang="en-US" sz="800" dirty="0"/>
          </a:p>
        </p:txBody>
      </p:sp>
      <p:sp>
        <p:nvSpPr>
          <p:cNvPr id="12" name="Text 8"/>
          <p:cNvSpPr/>
          <p:nvPr/>
        </p:nvSpPr>
        <p:spPr>
          <a:xfrm>
            <a:off x="692944" y="4077295"/>
            <a:ext cx="2305203" cy="91440"/>
          </a:xfrm>
          <a:prstGeom prst="rect">
            <a:avLst/>
          </a:prstGeom>
          <a:noFill/>
          <a:ln/>
        </p:spPr>
        <p:txBody>
          <a:bodyPr wrap="square" lIns="0" tIns="0" rIns="0" bIns="0" rtlCol="0" anchor="t"/>
          <a:lstStyle/>
          <a:p>
            <a:pPr algn="l" indent="0" marL="0">
              <a:lnSpc>
                <a:spcPts val="1013"/>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5th largest country globally</a:t>
            </a:r>
            <a:endParaRPr lang="en-US" sz="800" dirty="0"/>
          </a:p>
        </p:txBody>
      </p:sp>
      <p:sp>
        <p:nvSpPr>
          <p:cNvPr id="13" name="Text 9"/>
          <p:cNvSpPr/>
          <p:nvPr/>
        </p:nvSpPr>
        <p:spPr>
          <a:xfrm>
            <a:off x="3299185" y="3432572"/>
            <a:ext cx="2545519" cy="850106"/>
          </a:xfrm>
          <a:prstGeom prst="roundRect">
            <a:avLst>
              <a:gd name="adj" fmla="val 15686"/>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4" name="Text 10"/>
          <p:cNvSpPr/>
          <p:nvPr/>
        </p:nvSpPr>
        <p:spPr>
          <a:xfrm>
            <a:off x="3474207" y="3509367"/>
            <a:ext cx="2195475" cy="339471"/>
          </a:xfrm>
          <a:prstGeom prst="rect">
            <a:avLst/>
          </a:prstGeom>
          <a:noFill/>
          <a:ln/>
        </p:spPr>
        <p:txBody>
          <a:bodyPr wrap="none" lIns="0" tIns="0" rIns="0" bIns="0" rtlCol="0" anchor="t"/>
          <a:lstStyle/>
          <a:p>
            <a:pPr algn="l" indent="0" marL="0">
              <a:lnSpc>
                <a:spcPts val="2475"/>
              </a:lnSpc>
              <a:buNone/>
            </a:pPr>
            <a:r>
              <a:rPr lang="en-US" sz="2475" b="1" spc="-49" kern="0" dirty="0">
                <a:solidFill>
                  <a:srgbClr val="00E676"/>
                </a:solidFill>
                <a:latin typeface="Liberation Sans Narrow" pitchFamily="34" charset="0"/>
                <a:ea typeface="Liberation Sans Narrow" pitchFamily="34" charset="-122"/>
                <a:cs typeface="Liberation Sans Narrow" pitchFamily="34" charset="-120"/>
              </a:rPr>
              <a:t>$7B+</a:t>
            </a:r>
            <a:endParaRPr lang="en-US" sz="2475" dirty="0"/>
          </a:p>
        </p:txBody>
      </p:sp>
      <p:sp>
        <p:nvSpPr>
          <p:cNvPr id="15" name="Text 11"/>
          <p:cNvSpPr/>
          <p:nvPr/>
        </p:nvSpPr>
        <p:spPr>
          <a:xfrm>
            <a:off x="3474207" y="3909417"/>
            <a:ext cx="2195475" cy="140446"/>
          </a:xfrm>
          <a:prstGeom prst="rect">
            <a:avLst/>
          </a:prstGeom>
          <a:noFill/>
          <a:ln/>
        </p:spPr>
        <p:txBody>
          <a:bodyPr wrap="none" lIns="0" tIns="0" rIns="0" bIns="0" rtlCol="0" anchor="t">
            <a:normAutofit/>
          </a:bodyPr>
          <a:lstStyle/>
          <a:p>
            <a:pPr algn="l" indent="0" marL="0">
              <a:lnSpc>
                <a:spcPts val="1097"/>
              </a:lnSpc>
              <a:buNone/>
            </a:pPr>
            <a:r>
              <a:rPr lang="en-US" sz="800" spc="59" kern="0" dirty="0">
                <a:solidFill>
                  <a:srgbClr val="94A3B8"/>
                </a:solidFill>
                <a:latin typeface="Liberation Sans Narrow" pitchFamily="34" charset="0"/>
                <a:ea typeface="Liberation Sans Narrow" pitchFamily="34" charset="-122"/>
                <a:cs typeface="Liberation Sans Narrow" pitchFamily="34" charset="-120"/>
              </a:rPr>
              <a:t>RDA INFLOWS (2020-2024)</a:t>
            </a:r>
            <a:endParaRPr lang="en-US" sz="800" dirty="0"/>
          </a:p>
        </p:txBody>
      </p:sp>
      <p:sp>
        <p:nvSpPr>
          <p:cNvPr id="16" name="Text 12"/>
          <p:cNvSpPr/>
          <p:nvPr/>
        </p:nvSpPr>
        <p:spPr>
          <a:xfrm>
            <a:off x="3474207" y="4077295"/>
            <a:ext cx="2305203" cy="91440"/>
          </a:xfrm>
          <a:prstGeom prst="rect">
            <a:avLst/>
          </a:prstGeom>
          <a:noFill/>
          <a:ln/>
        </p:spPr>
        <p:txBody>
          <a:bodyPr wrap="squar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Overseas Pakistani digital investment</a:t>
            </a:r>
            <a:endParaRPr lang="en-US" sz="800" dirty="0"/>
          </a:p>
        </p:txBody>
      </p:sp>
      <p:sp>
        <p:nvSpPr>
          <p:cNvPr id="17" name="Text 13"/>
          <p:cNvSpPr/>
          <p:nvPr/>
        </p:nvSpPr>
        <p:spPr>
          <a:xfrm>
            <a:off x="6080447" y="3432572"/>
            <a:ext cx="2545631" cy="850106"/>
          </a:xfrm>
          <a:prstGeom prst="roundRect">
            <a:avLst>
              <a:gd name="adj" fmla="val 15686"/>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8" name="Text 14"/>
          <p:cNvSpPr/>
          <p:nvPr/>
        </p:nvSpPr>
        <p:spPr>
          <a:xfrm>
            <a:off x="6255469" y="3509367"/>
            <a:ext cx="2195587" cy="339471"/>
          </a:xfrm>
          <a:prstGeom prst="rect">
            <a:avLst/>
          </a:prstGeom>
          <a:noFill/>
          <a:ln/>
        </p:spPr>
        <p:txBody>
          <a:bodyPr wrap="none" lIns="0" tIns="0" rIns="0" bIns="0" rtlCol="0" anchor="t"/>
          <a:lstStyle/>
          <a:p>
            <a:pPr algn="l" indent="0" marL="0">
              <a:lnSpc>
                <a:spcPts val="2475"/>
              </a:lnSpc>
              <a:buNone/>
            </a:pPr>
            <a:r>
              <a:rPr lang="en-US" sz="2475" b="1" spc="-49" kern="0" dirty="0">
                <a:solidFill>
                  <a:srgbClr val="FF5C5C"/>
                </a:solidFill>
                <a:latin typeface="Liberation Sans Narrow" pitchFamily="34" charset="0"/>
                <a:ea typeface="Liberation Sans Narrow" pitchFamily="34" charset="-122"/>
                <a:cs typeface="Liberation Sans Narrow" pitchFamily="34" charset="-120"/>
              </a:rPr>
              <a:t>&lt;100K</a:t>
            </a:r>
            <a:endParaRPr lang="en-US" sz="2475" dirty="0"/>
          </a:p>
        </p:txBody>
      </p:sp>
      <p:sp>
        <p:nvSpPr>
          <p:cNvPr id="19" name="Text 15"/>
          <p:cNvSpPr/>
          <p:nvPr/>
        </p:nvSpPr>
        <p:spPr>
          <a:xfrm>
            <a:off x="6255469" y="3909417"/>
            <a:ext cx="2195587" cy="140446"/>
          </a:xfrm>
          <a:prstGeom prst="rect">
            <a:avLst/>
          </a:prstGeom>
          <a:noFill/>
          <a:ln/>
        </p:spPr>
        <p:txBody>
          <a:bodyPr wrap="none" lIns="0" tIns="0" rIns="0" bIns="0" rtlCol="0" anchor="t">
            <a:normAutofit/>
          </a:bodyPr>
          <a:lstStyle/>
          <a:p>
            <a:pPr algn="l" indent="0" marL="0">
              <a:lnSpc>
                <a:spcPts val="1097"/>
              </a:lnSpc>
              <a:buNone/>
            </a:pPr>
            <a:r>
              <a:rPr lang="en-US" sz="800" spc="59" kern="0" dirty="0">
                <a:solidFill>
                  <a:srgbClr val="94A3B8"/>
                </a:solidFill>
                <a:latin typeface="Carlito" pitchFamily="34" charset="0"/>
                <a:ea typeface="Carlito" pitchFamily="34" charset="-122"/>
                <a:cs typeface="Carlito" pitchFamily="34" charset="-120"/>
              </a:rPr>
              <a:t>ACTIVE PSX RETAIL TRADERS</a:t>
            </a:r>
            <a:endParaRPr lang="en-US" sz="800" dirty="0"/>
          </a:p>
        </p:txBody>
      </p:sp>
      <p:sp>
        <p:nvSpPr>
          <p:cNvPr id="20" name="Text 16"/>
          <p:cNvSpPr/>
          <p:nvPr/>
        </p:nvSpPr>
        <p:spPr>
          <a:xfrm>
            <a:off x="6255469" y="4077295"/>
            <a:ext cx="2195587" cy="91440"/>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Out of 260K CDC accounts</a:t>
            </a:r>
            <a:endParaRPr lang="en-US" sz="800" dirty="0"/>
          </a:p>
        </p:txBody>
      </p:sp>
      <p:sp>
        <p:nvSpPr>
          <p:cNvPr id="21" name="Text 17"/>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THE THESIS</a:t>
            </a:r>
            <a:endParaRPr lang="en-US" sz="800" dirty="0"/>
          </a:p>
        </p:txBody>
      </p:sp>
      <p:sp>
        <p:nvSpPr>
          <p:cNvPr id="22" name="Text 18"/>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02 / 14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45000"/>
          </a:blip>
          <a:stretch>
            <a:fillRect/>
          </a:stretch>
        </p:blipFill>
        <p:spPr>
          <a:xfrm>
            <a:off x="7143750" y="-857250"/>
            <a:ext cx="2714625" cy="2714625"/>
          </a:xfrm>
          <a:prstGeom prst="rect">
            <a:avLst/>
          </a:prstGeom>
        </p:spPr>
      </p:pic>
      <p:sp>
        <p:nvSpPr>
          <p:cNvPr id="4" name="Text 0"/>
          <p:cNvSpPr/>
          <p:nvPr/>
        </p:nvSpPr>
        <p:spPr>
          <a:xfrm>
            <a:off x="7143750" y="-857250"/>
            <a:ext cx="2714625" cy="2714625"/>
          </a:xfrm>
          <a:prstGeom prst="ellipse">
            <a:avLst/>
          </a:prstGeom>
          <a:solidFill>
            <a:srgbClr val="FF5C5C">
              <a:alpha val="0"/>
            </a:srgbClr>
          </a:solidFill>
          <a:ln/>
        </p:spPr>
        <p:txBody>
          <a:bodyPr wrap="square" rtlCol="0" anchor="ctr"/>
          <a:lstStyle/>
          <a:p>
            <a:pPr indent="0" marL="0">
              <a:buNone/>
            </a:pPr>
            <a:endParaRPr lang="en-US" dirty="0"/>
          </a:p>
        </p:txBody>
      </p:sp>
      <p:sp>
        <p:nvSpPr>
          <p:cNvPr id="5" name="Text 1"/>
          <p:cNvSpPr/>
          <p:nvPr/>
        </p:nvSpPr>
        <p:spPr>
          <a:xfrm>
            <a:off x="491490" y="387248"/>
            <a:ext cx="1209482" cy="264919"/>
          </a:xfrm>
          <a:prstGeom prst="roundRect">
            <a:avLst>
              <a:gd name="adj" fmla="val 3591843"/>
            </a:avLst>
          </a:prstGeom>
          <a:solidFill>
            <a:srgbClr val="FF5C5C">
              <a:alpha val="12000"/>
            </a:srgbClr>
          </a:solidFill>
          <a:ln w="7144">
            <a:solidFill>
              <a:srgbClr val="FF5C5C"/>
            </a:solidFill>
            <a:prstDash val="solid"/>
          </a:ln>
        </p:spPr>
        <p:txBody>
          <a:bodyPr wrap="square" rtlCol="0" anchor="ctr"/>
          <a:lstStyle/>
          <a:p>
            <a:pPr indent="0" marL="0">
              <a:buNone/>
            </a:pPr>
            <a:endParaRPr lang="en-US" dirty="0"/>
          </a:p>
        </p:txBody>
      </p:sp>
      <p:sp>
        <p:nvSpPr>
          <p:cNvPr id="6" name="Text 2"/>
          <p:cNvSpPr/>
          <p:nvPr/>
        </p:nvSpPr>
        <p:spPr>
          <a:xfrm>
            <a:off x="514350" y="400050"/>
            <a:ext cx="1163762"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FF5C5C"/>
                </a:solidFill>
                <a:latin typeface="Liberation Sans Narrow" pitchFamily="34" charset="0"/>
                <a:ea typeface="Liberation Sans Narrow" pitchFamily="34" charset="-122"/>
                <a:cs typeface="Liberation Sans Narrow" pitchFamily="34" charset="-120"/>
              </a:rPr>
              <a:t>PROBLEM 01 / 03</a:t>
            </a:r>
            <a:endParaRPr lang="en-US" sz="800" dirty="0"/>
          </a:p>
        </p:txBody>
      </p:sp>
      <p:sp>
        <p:nvSpPr>
          <p:cNvPr id="7" name="Text 3"/>
          <p:cNvSpPr/>
          <p:nvPr/>
        </p:nvSpPr>
        <p:spPr>
          <a:xfrm>
            <a:off x="514350" y="753666"/>
            <a:ext cx="7858125" cy="746692"/>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7FB"/>
                </a:solidFill>
                <a:latin typeface="Carlito" pitchFamily="34" charset="0"/>
                <a:ea typeface="Carlito" pitchFamily="34" charset="-122"/>
                <a:cs typeface="Carlito" pitchFamily="34" charset="-120"/>
              </a:rPr>
              <a:t>Pakistan has 240 million people. Less than 0.05% actively invest in its stock market.</a:t>
            </a:r>
            <a:endParaRPr lang="en-US" sz="2475" dirty="0"/>
          </a:p>
        </p:txBody>
      </p:sp>
      <p:sp>
        <p:nvSpPr>
          <p:cNvPr id="8" name="Text 4"/>
          <p:cNvSpPr/>
          <p:nvPr/>
        </p:nvSpPr>
        <p:spPr>
          <a:xfrm>
            <a:off x="517922" y="1705794"/>
            <a:ext cx="1914525" cy="992981"/>
          </a:xfrm>
          <a:prstGeom prst="roundRect">
            <a:avLst>
              <a:gd name="adj" fmla="val 1342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9" name="Text 5"/>
          <p:cNvSpPr/>
          <p:nvPr/>
        </p:nvSpPr>
        <p:spPr>
          <a:xfrm>
            <a:off x="692944" y="1837953"/>
            <a:ext cx="1564481" cy="370332"/>
          </a:xfrm>
          <a:prstGeom prst="rect">
            <a:avLst/>
          </a:prstGeom>
          <a:noFill/>
          <a:ln/>
        </p:spPr>
        <p:txBody>
          <a:bodyPr wrap="none" lIns="0" tIns="0" rIns="0" bIns="0" rtlCol="0" anchor="t"/>
          <a:lstStyle/>
          <a:p>
            <a:pPr algn="l" indent="0" marL="0">
              <a:lnSpc>
                <a:spcPts val="2700"/>
              </a:lnSpc>
              <a:buNone/>
            </a:pPr>
            <a:r>
              <a:rPr lang="en-US" sz="2700" b="1" spc="-54" kern="0" dirty="0">
                <a:solidFill>
                  <a:srgbClr val="F4F7FB"/>
                </a:solidFill>
                <a:latin typeface="Liberation Sans Narrow" pitchFamily="34" charset="0"/>
                <a:ea typeface="Liberation Sans Narrow" pitchFamily="34" charset="-122"/>
                <a:cs typeface="Liberation Sans Narrow" pitchFamily="34" charset="-120"/>
              </a:rPr>
              <a:t>240M</a:t>
            </a:r>
            <a:endParaRPr lang="en-US" sz="2700" dirty="0"/>
          </a:p>
        </p:txBody>
      </p:sp>
      <p:sp>
        <p:nvSpPr>
          <p:cNvPr id="10" name="Text 6"/>
          <p:cNvSpPr/>
          <p:nvPr/>
        </p:nvSpPr>
        <p:spPr>
          <a:xfrm>
            <a:off x="692944" y="2280865"/>
            <a:ext cx="1564481" cy="129731"/>
          </a:xfrm>
          <a:prstGeom prst="rect">
            <a:avLst/>
          </a:prstGeom>
          <a:noFill/>
          <a:ln/>
        </p:spPr>
        <p:txBody>
          <a:bodyPr wrap="none" lIns="0" tIns="0" rIns="0" bIns="0" rtlCol="0" anchor="t">
            <a:normAutofit/>
          </a:bodyPr>
          <a:lstStyle/>
          <a:p>
            <a:pPr algn="l" indent="0" marL="0">
              <a:lnSpc>
                <a:spcPts val="1013"/>
              </a:lnSpc>
              <a:buNone/>
            </a:pPr>
            <a:r>
              <a:rPr lang="en-US" sz="800" spc="54" kern="0" dirty="0">
                <a:solidFill>
                  <a:srgbClr val="94A3B8"/>
                </a:solidFill>
                <a:latin typeface="Carlito" pitchFamily="34" charset="0"/>
                <a:ea typeface="Carlito" pitchFamily="34" charset="-122"/>
                <a:cs typeface="Carlito" pitchFamily="34" charset="-120"/>
              </a:rPr>
              <a:t>TOTAL POPULATION</a:t>
            </a:r>
            <a:endParaRPr lang="en-US" sz="800" dirty="0"/>
          </a:p>
        </p:txBody>
      </p:sp>
      <p:sp>
        <p:nvSpPr>
          <p:cNvPr id="11" name="Text 7"/>
          <p:cNvSpPr/>
          <p:nvPr/>
        </p:nvSpPr>
        <p:spPr>
          <a:xfrm>
            <a:off x="692944" y="2438028"/>
            <a:ext cx="1564481" cy="91440"/>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5th largest country</a:t>
            </a:r>
            <a:endParaRPr lang="en-US" sz="800" dirty="0"/>
          </a:p>
        </p:txBody>
      </p:sp>
      <p:sp>
        <p:nvSpPr>
          <p:cNvPr id="12" name="Text 8"/>
          <p:cNvSpPr/>
          <p:nvPr/>
        </p:nvSpPr>
        <p:spPr>
          <a:xfrm>
            <a:off x="2582466" y="1705794"/>
            <a:ext cx="1914525" cy="992981"/>
          </a:xfrm>
          <a:prstGeom prst="roundRect">
            <a:avLst>
              <a:gd name="adj" fmla="val 1342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3" name="Text 9"/>
          <p:cNvSpPr/>
          <p:nvPr/>
        </p:nvSpPr>
        <p:spPr>
          <a:xfrm>
            <a:off x="2757488" y="1837953"/>
            <a:ext cx="1564481" cy="370332"/>
          </a:xfrm>
          <a:prstGeom prst="rect">
            <a:avLst/>
          </a:prstGeom>
          <a:noFill/>
          <a:ln/>
        </p:spPr>
        <p:txBody>
          <a:bodyPr wrap="none" lIns="0" tIns="0" rIns="0" bIns="0" rtlCol="0" anchor="t"/>
          <a:lstStyle/>
          <a:p>
            <a:pPr algn="l" indent="0" marL="0">
              <a:lnSpc>
                <a:spcPts val="2700"/>
              </a:lnSpc>
              <a:buNone/>
            </a:pPr>
            <a:r>
              <a:rPr lang="en-US" sz="2700" b="1" spc="-54" kern="0" dirty="0">
                <a:solidFill>
                  <a:srgbClr val="F4F7FB"/>
                </a:solidFill>
                <a:latin typeface="Liberation Sans Narrow" pitchFamily="34" charset="0"/>
                <a:ea typeface="Liberation Sans Narrow" pitchFamily="34" charset="-122"/>
                <a:cs typeface="Liberation Sans Narrow" pitchFamily="34" charset="-120"/>
              </a:rPr>
              <a:t>260K</a:t>
            </a:r>
            <a:endParaRPr lang="en-US" sz="2700" dirty="0"/>
          </a:p>
        </p:txBody>
      </p:sp>
      <p:sp>
        <p:nvSpPr>
          <p:cNvPr id="14" name="Text 10"/>
          <p:cNvSpPr/>
          <p:nvPr/>
        </p:nvSpPr>
        <p:spPr>
          <a:xfrm>
            <a:off x="2757488" y="2280865"/>
            <a:ext cx="1564481" cy="129731"/>
          </a:xfrm>
          <a:prstGeom prst="rect">
            <a:avLst/>
          </a:prstGeom>
          <a:noFill/>
          <a:ln/>
        </p:spPr>
        <p:txBody>
          <a:bodyPr wrap="none" lIns="0" tIns="0" rIns="0" bIns="0" rtlCol="0" anchor="t">
            <a:normAutofit/>
          </a:bodyPr>
          <a:lstStyle/>
          <a:p>
            <a:pPr algn="l" indent="0" marL="0">
              <a:lnSpc>
                <a:spcPts val="1013"/>
              </a:lnSpc>
              <a:buNone/>
            </a:pPr>
            <a:r>
              <a:rPr lang="en-US" sz="800" spc="54" kern="0" dirty="0">
                <a:solidFill>
                  <a:srgbClr val="94A3B8"/>
                </a:solidFill>
                <a:latin typeface="Carlito" pitchFamily="34" charset="0"/>
                <a:ea typeface="Carlito" pitchFamily="34" charset="-122"/>
                <a:cs typeface="Carlito" pitchFamily="34" charset="-120"/>
              </a:rPr>
              <a:t>CDC INVESTOR ACCOUNTS</a:t>
            </a:r>
            <a:endParaRPr lang="en-US" sz="800" dirty="0"/>
          </a:p>
        </p:txBody>
      </p:sp>
      <p:sp>
        <p:nvSpPr>
          <p:cNvPr id="15" name="Text 11"/>
          <p:cNvSpPr/>
          <p:nvPr/>
        </p:nvSpPr>
        <p:spPr>
          <a:xfrm>
            <a:off x="2757488" y="2438028"/>
            <a:ext cx="1658350" cy="91440"/>
          </a:xfrm>
          <a:prstGeom prst="rect">
            <a:avLst/>
          </a:prstGeom>
          <a:noFill/>
          <a:ln/>
        </p:spPr>
        <p:txBody>
          <a:bodyPr wrap="squar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Registered retail accounts</a:t>
            </a:r>
            <a:endParaRPr lang="en-US" sz="800" dirty="0"/>
          </a:p>
        </p:txBody>
      </p:sp>
      <p:sp>
        <p:nvSpPr>
          <p:cNvPr id="16" name="Text 12"/>
          <p:cNvSpPr/>
          <p:nvPr/>
        </p:nvSpPr>
        <p:spPr>
          <a:xfrm>
            <a:off x="4647009" y="1705794"/>
            <a:ext cx="1914525" cy="992981"/>
          </a:xfrm>
          <a:prstGeom prst="roundRect">
            <a:avLst>
              <a:gd name="adj" fmla="val 1342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7" name="Text 13"/>
          <p:cNvSpPr/>
          <p:nvPr/>
        </p:nvSpPr>
        <p:spPr>
          <a:xfrm>
            <a:off x="4822031" y="1837953"/>
            <a:ext cx="1564481" cy="370332"/>
          </a:xfrm>
          <a:prstGeom prst="rect">
            <a:avLst/>
          </a:prstGeom>
          <a:noFill/>
          <a:ln/>
        </p:spPr>
        <p:txBody>
          <a:bodyPr wrap="none" lIns="0" tIns="0" rIns="0" bIns="0" rtlCol="0" anchor="t"/>
          <a:lstStyle/>
          <a:p>
            <a:pPr algn="l" indent="0" marL="0">
              <a:lnSpc>
                <a:spcPts val="2700"/>
              </a:lnSpc>
              <a:buNone/>
            </a:pPr>
            <a:r>
              <a:rPr lang="en-US" sz="2700" b="1" spc="-54" kern="0" dirty="0">
                <a:solidFill>
                  <a:srgbClr val="FF5C5C"/>
                </a:solidFill>
                <a:latin typeface="Liberation Sans Narrow" pitchFamily="34" charset="0"/>
                <a:ea typeface="Liberation Sans Narrow" pitchFamily="34" charset="-122"/>
                <a:cs typeface="Liberation Sans Narrow" pitchFamily="34" charset="-120"/>
              </a:rPr>
              <a:t>~85K</a:t>
            </a:r>
            <a:endParaRPr lang="en-US" sz="2700" dirty="0"/>
          </a:p>
        </p:txBody>
      </p:sp>
      <p:sp>
        <p:nvSpPr>
          <p:cNvPr id="18" name="Text 14"/>
          <p:cNvSpPr/>
          <p:nvPr/>
        </p:nvSpPr>
        <p:spPr>
          <a:xfrm>
            <a:off x="4822031" y="2280865"/>
            <a:ext cx="1564481" cy="129731"/>
          </a:xfrm>
          <a:prstGeom prst="rect">
            <a:avLst/>
          </a:prstGeom>
          <a:noFill/>
          <a:ln/>
        </p:spPr>
        <p:txBody>
          <a:bodyPr wrap="none" lIns="0" tIns="0" rIns="0" bIns="0" rtlCol="0" anchor="t">
            <a:normAutofit/>
          </a:bodyPr>
          <a:lstStyle/>
          <a:p>
            <a:pPr algn="l" indent="0" marL="0">
              <a:lnSpc>
                <a:spcPts val="1013"/>
              </a:lnSpc>
              <a:buNone/>
            </a:pPr>
            <a:r>
              <a:rPr lang="en-US" sz="800" spc="54" kern="0" dirty="0">
                <a:solidFill>
                  <a:srgbClr val="94A3B8"/>
                </a:solidFill>
                <a:latin typeface="Carlito" pitchFamily="34" charset="0"/>
                <a:ea typeface="Carlito" pitchFamily="34" charset="-122"/>
                <a:cs typeface="Carlito" pitchFamily="34" charset="-120"/>
              </a:rPr>
              <a:t>ACTIVE RETAIL TRADERS</a:t>
            </a:r>
            <a:endParaRPr lang="en-US" sz="800" dirty="0"/>
          </a:p>
        </p:txBody>
      </p:sp>
      <p:sp>
        <p:nvSpPr>
          <p:cNvPr id="19" name="Text 15"/>
          <p:cNvSpPr/>
          <p:nvPr/>
        </p:nvSpPr>
        <p:spPr>
          <a:xfrm>
            <a:off x="4822031" y="2438028"/>
            <a:ext cx="1658350" cy="91440"/>
          </a:xfrm>
          <a:prstGeom prst="rect">
            <a:avLst/>
          </a:prstGeom>
          <a:noFill/>
          <a:ln/>
        </p:spPr>
        <p:txBody>
          <a:bodyPr wrap="squar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Estimated, trades per quarter</a:t>
            </a:r>
            <a:endParaRPr lang="en-US" sz="800" dirty="0"/>
          </a:p>
        </p:txBody>
      </p:sp>
      <p:sp>
        <p:nvSpPr>
          <p:cNvPr id="20" name="Text 16"/>
          <p:cNvSpPr/>
          <p:nvPr/>
        </p:nvSpPr>
        <p:spPr>
          <a:xfrm>
            <a:off x="6711553" y="1705794"/>
            <a:ext cx="1914525" cy="992981"/>
          </a:xfrm>
          <a:prstGeom prst="roundRect">
            <a:avLst>
              <a:gd name="adj" fmla="val 1342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1" name="Text 17"/>
          <p:cNvSpPr/>
          <p:nvPr/>
        </p:nvSpPr>
        <p:spPr>
          <a:xfrm>
            <a:off x="6886575" y="1837953"/>
            <a:ext cx="1564481" cy="370332"/>
          </a:xfrm>
          <a:prstGeom prst="rect">
            <a:avLst/>
          </a:prstGeom>
          <a:noFill/>
          <a:ln/>
        </p:spPr>
        <p:txBody>
          <a:bodyPr wrap="none" lIns="0" tIns="0" rIns="0" bIns="0" rtlCol="0" anchor="t"/>
          <a:lstStyle/>
          <a:p>
            <a:pPr algn="l" indent="0" marL="0">
              <a:lnSpc>
                <a:spcPts val="2700"/>
              </a:lnSpc>
              <a:buNone/>
            </a:pPr>
            <a:r>
              <a:rPr lang="en-US" sz="2700" b="1" spc="-54" kern="0" dirty="0">
                <a:solidFill>
                  <a:srgbClr val="FF5C5C"/>
                </a:solidFill>
                <a:latin typeface="Liberation Sans Narrow" pitchFamily="34" charset="0"/>
                <a:ea typeface="Liberation Sans Narrow" pitchFamily="34" charset="-122"/>
                <a:cs typeface="Liberation Sans Narrow" pitchFamily="34" charset="-120"/>
              </a:rPr>
              <a:t>0.034%</a:t>
            </a:r>
            <a:endParaRPr lang="en-US" sz="2700" dirty="0"/>
          </a:p>
        </p:txBody>
      </p:sp>
      <p:sp>
        <p:nvSpPr>
          <p:cNvPr id="22" name="Text 18"/>
          <p:cNvSpPr/>
          <p:nvPr/>
        </p:nvSpPr>
        <p:spPr>
          <a:xfrm>
            <a:off x="6886575" y="2280865"/>
            <a:ext cx="1564481" cy="129731"/>
          </a:xfrm>
          <a:prstGeom prst="rect">
            <a:avLst/>
          </a:prstGeom>
          <a:noFill/>
          <a:ln/>
        </p:spPr>
        <p:txBody>
          <a:bodyPr wrap="none" lIns="0" tIns="0" rIns="0" bIns="0" rtlCol="0" anchor="t">
            <a:normAutofit/>
          </a:bodyPr>
          <a:lstStyle/>
          <a:p>
            <a:pPr algn="l" indent="0" marL="0">
              <a:lnSpc>
                <a:spcPts val="1013"/>
              </a:lnSpc>
              <a:buNone/>
            </a:pPr>
            <a:r>
              <a:rPr lang="en-US" sz="800" spc="54" kern="0" dirty="0">
                <a:solidFill>
                  <a:srgbClr val="94A3B8"/>
                </a:solidFill>
                <a:latin typeface="Carlito" pitchFamily="34" charset="0"/>
                <a:ea typeface="Carlito" pitchFamily="34" charset="-122"/>
                <a:cs typeface="Carlito" pitchFamily="34" charset="-120"/>
              </a:rPr>
              <a:t>PARTICIPATION RATE</a:t>
            </a:r>
            <a:endParaRPr lang="en-US" sz="800" dirty="0"/>
          </a:p>
        </p:txBody>
      </p:sp>
      <p:sp>
        <p:nvSpPr>
          <p:cNvPr id="23" name="Text 19"/>
          <p:cNvSpPr/>
          <p:nvPr/>
        </p:nvSpPr>
        <p:spPr>
          <a:xfrm>
            <a:off x="6886575" y="2438028"/>
            <a:ext cx="1658350" cy="91440"/>
          </a:xfrm>
          <a:prstGeom prst="rect">
            <a:avLst/>
          </a:prstGeom>
          <a:noFill/>
          <a:ln/>
        </p:spPr>
        <p:txBody>
          <a:bodyPr wrap="squar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Adults actively investing</a:t>
            </a:r>
            <a:endParaRPr lang="en-US" sz="800" dirty="0"/>
          </a:p>
        </p:txBody>
      </p:sp>
      <p:sp>
        <p:nvSpPr>
          <p:cNvPr id="24" name="Text 20"/>
          <p:cNvSpPr/>
          <p:nvPr/>
        </p:nvSpPr>
        <p:spPr>
          <a:xfrm>
            <a:off x="514350" y="2902372"/>
            <a:ext cx="7858125" cy="555498"/>
          </a:xfrm>
          <a:prstGeom prst="rect">
            <a:avLst/>
          </a:prstGeom>
          <a:noFill/>
          <a:ln/>
        </p:spPr>
        <p:txBody>
          <a:bodyPr wrap="square" lIns="0" tIns="0" rIns="0" bIns="0" rtlCol="0" anchor="t"/>
          <a:lstStyle/>
          <a:p>
            <a:pPr algn="l" indent="0" marL="0">
              <a:lnSpc>
                <a:spcPts val="1350"/>
              </a:lnSpc>
              <a:buNone/>
            </a:pPr>
            <a:r>
              <a:rPr lang="en-US" sz="844" dirty="0">
                <a:solidFill>
                  <a:srgbClr val="94A3B8"/>
                </a:solidFill>
                <a:latin typeface="Carlito" pitchFamily="34" charset="0"/>
                <a:ea typeface="Carlito" pitchFamily="34" charset="-122"/>
                <a:cs typeface="Carlito" pitchFamily="34" charset="-120"/>
              </a:rPr>
              <a:t>For context: India has 100M+ active demat accounts. Vietnam's retail participation tripled between 2018 and 2023. Pakistan's retail capital still flows through real estate, gold, and informal savings — assets that protect capital but fail to compound. The PSX remains a venue for institutions and a small pool of insiders, not a mass-market wealth engine. Latent exists to close this gap.</a:t>
            </a:r>
            <a:endParaRPr lang="en-US" sz="844" dirty="0"/>
          </a:p>
        </p:txBody>
      </p:sp>
      <p:sp>
        <p:nvSpPr>
          <p:cNvPr id="25" name="Text 21"/>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Liberation Sans Narrow" pitchFamily="34" charset="0"/>
                <a:ea typeface="Liberation Sans Narrow" pitchFamily="34" charset="-122"/>
                <a:cs typeface="Liberation Sans Narrow" pitchFamily="34" charset="-120"/>
              </a:rPr>
              <a:t>LATENT.PK · PROBLEM 01</a:t>
            </a:r>
            <a:endParaRPr lang="en-US" sz="800" dirty="0"/>
          </a:p>
        </p:txBody>
      </p:sp>
      <p:sp>
        <p:nvSpPr>
          <p:cNvPr id="26" name="Text 22"/>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03 / 14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40000"/>
          </a:blip>
          <a:stretch>
            <a:fillRect/>
          </a:stretch>
        </p:blipFill>
        <p:spPr>
          <a:xfrm>
            <a:off x="-571500" y="-714375"/>
            <a:ext cx="2571750" cy="2571750"/>
          </a:xfrm>
          <a:prstGeom prst="rect">
            <a:avLst/>
          </a:prstGeom>
        </p:spPr>
      </p:pic>
      <p:sp>
        <p:nvSpPr>
          <p:cNvPr id="4" name="Text 0"/>
          <p:cNvSpPr/>
          <p:nvPr/>
        </p:nvSpPr>
        <p:spPr>
          <a:xfrm>
            <a:off x="-571500" y="-714375"/>
            <a:ext cx="2571750" cy="2571750"/>
          </a:xfrm>
          <a:prstGeom prst="ellipse">
            <a:avLst/>
          </a:prstGeom>
          <a:solidFill>
            <a:srgbClr val="FF5C5C">
              <a:alpha val="0"/>
            </a:srgbClr>
          </a:solidFill>
          <a:ln/>
        </p:spPr>
        <p:txBody>
          <a:bodyPr wrap="square" rtlCol="0" anchor="ctr"/>
          <a:lstStyle/>
          <a:p>
            <a:pPr indent="0" marL="0">
              <a:buNone/>
            </a:pPr>
            <a:endParaRPr lang="en-US" dirty="0"/>
          </a:p>
        </p:txBody>
      </p:sp>
      <p:sp>
        <p:nvSpPr>
          <p:cNvPr id="5" name="Text 1"/>
          <p:cNvSpPr/>
          <p:nvPr/>
        </p:nvSpPr>
        <p:spPr>
          <a:xfrm>
            <a:off x="491490" y="387248"/>
            <a:ext cx="1209482" cy="264919"/>
          </a:xfrm>
          <a:prstGeom prst="roundRect">
            <a:avLst>
              <a:gd name="adj" fmla="val 3591843"/>
            </a:avLst>
          </a:prstGeom>
          <a:solidFill>
            <a:srgbClr val="FF5C5C">
              <a:alpha val="12000"/>
            </a:srgbClr>
          </a:solidFill>
          <a:ln w="7144">
            <a:solidFill>
              <a:srgbClr val="FF5C5C"/>
            </a:solidFill>
            <a:prstDash val="solid"/>
          </a:ln>
        </p:spPr>
        <p:txBody>
          <a:bodyPr wrap="square" rtlCol="0" anchor="ctr"/>
          <a:lstStyle/>
          <a:p>
            <a:pPr indent="0" marL="0">
              <a:buNone/>
            </a:pPr>
            <a:endParaRPr lang="en-US" dirty="0"/>
          </a:p>
        </p:txBody>
      </p:sp>
      <p:sp>
        <p:nvSpPr>
          <p:cNvPr id="6" name="Text 2"/>
          <p:cNvSpPr/>
          <p:nvPr/>
        </p:nvSpPr>
        <p:spPr>
          <a:xfrm>
            <a:off x="514350" y="400050"/>
            <a:ext cx="1163762"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FF5C5C"/>
                </a:solidFill>
                <a:latin typeface="Liberation Sans Narrow" pitchFamily="34" charset="0"/>
                <a:ea typeface="Liberation Sans Narrow" pitchFamily="34" charset="-122"/>
                <a:cs typeface="Liberation Sans Narrow" pitchFamily="34" charset="-120"/>
              </a:rPr>
              <a:t>PROBLEM 02 / 03</a:t>
            </a:r>
            <a:endParaRPr lang="en-US" sz="800" dirty="0"/>
          </a:p>
        </p:txBody>
      </p:sp>
      <p:sp>
        <p:nvSpPr>
          <p:cNvPr id="7" name="Text 3"/>
          <p:cNvSpPr/>
          <p:nvPr/>
        </p:nvSpPr>
        <p:spPr>
          <a:xfrm>
            <a:off x="514350" y="753666"/>
            <a:ext cx="4143375" cy="678942"/>
          </a:xfrm>
          <a:prstGeom prst="rect">
            <a:avLst/>
          </a:prstGeom>
          <a:noFill/>
          <a:ln/>
        </p:spPr>
        <p:txBody>
          <a:bodyPr wrap="square" lIns="0" tIns="0" rIns="0" bIns="0" rtlCol="0" anchor="t"/>
          <a:lstStyle/>
          <a:p>
            <a:pPr algn="l" indent="0" marL="0">
              <a:lnSpc>
                <a:spcPts val="2475"/>
              </a:lnSpc>
              <a:buNone/>
            </a:pPr>
            <a:r>
              <a:rPr lang="en-US" sz="2250" b="1" spc="-45" kern="0" dirty="0">
                <a:solidFill>
                  <a:srgbClr val="F4F7FB"/>
                </a:solidFill>
                <a:latin typeface="Carlito" pitchFamily="34" charset="0"/>
                <a:ea typeface="Carlito" pitchFamily="34" charset="-122"/>
                <a:cs typeface="Carlito" pitchFamily="34" charset="-120"/>
              </a:rPr>
              <a:t>Even interested investors can't act on it.</a:t>
            </a:r>
            <a:endParaRPr lang="en-US" sz="2250" dirty="0"/>
          </a:p>
        </p:txBody>
      </p:sp>
      <p:sp>
        <p:nvSpPr>
          <p:cNvPr id="8" name="Text 4"/>
          <p:cNvSpPr/>
          <p:nvPr/>
        </p:nvSpPr>
        <p:spPr>
          <a:xfrm>
            <a:off x="514350" y="1525191"/>
            <a:ext cx="4000500" cy="1110996"/>
          </a:xfrm>
          <a:prstGeom prst="rect">
            <a:avLst/>
          </a:prstGeom>
          <a:noFill/>
          <a:ln/>
        </p:spPr>
        <p:txBody>
          <a:bodyPr wrap="square" lIns="0" tIns="0" rIns="0" bIns="0" rtlCol="0" anchor="t"/>
          <a:lstStyle/>
          <a:p>
            <a:pPr algn="l" indent="0" marL="0">
              <a:lnSpc>
                <a:spcPts val="1350"/>
              </a:lnSpc>
              <a:buNone/>
            </a:pPr>
            <a:r>
              <a:rPr lang="en-US" sz="844" dirty="0">
                <a:solidFill>
                  <a:srgbClr val="94A3B8"/>
                </a:solidFill>
                <a:latin typeface="Carlito" pitchFamily="34" charset="0"/>
                <a:ea typeface="Carlito" pitchFamily="34" charset="-122"/>
                <a:cs typeface="Carlito" pitchFamily="34" charset="-120"/>
              </a:rPr>
              <a:t>Pakistan's financial literacy rate is 27% — among the lowest measured globally (S&amp;P Global FinLit Survey). The average working professional in Karachi or Lahore has the savings but lacks the time to read balance sheets, track corporate actions, and time entries. PSX disclosure is improving, but raw filings aren't a strategy. Information without synthesis is noise — and noise costs people money.</a:t>
            </a:r>
            <a:endParaRPr lang="en-US" sz="844" dirty="0"/>
          </a:p>
        </p:txBody>
      </p:sp>
      <p:sp>
        <p:nvSpPr>
          <p:cNvPr id="9" name="Text 5"/>
          <p:cNvSpPr/>
          <p:nvPr/>
        </p:nvSpPr>
        <p:spPr>
          <a:xfrm>
            <a:off x="517922" y="2786063"/>
            <a:ext cx="1864519" cy="535781"/>
          </a:xfrm>
          <a:prstGeom prst="roundRect">
            <a:avLst>
              <a:gd name="adj" fmla="val 2488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0" name="Text 6"/>
          <p:cNvSpPr/>
          <p:nvPr/>
        </p:nvSpPr>
        <p:spPr>
          <a:xfrm>
            <a:off x="635794" y="2874355"/>
            <a:ext cx="1628775"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FF5C5C"/>
                </a:solidFill>
                <a:latin typeface="Liberation Sans Narrow" pitchFamily="34" charset="0"/>
                <a:ea typeface="Liberation Sans Narrow" pitchFamily="34" charset="-122"/>
                <a:cs typeface="Liberation Sans Narrow" pitchFamily="34" charset="-120"/>
              </a:rPr>
              <a:t>27%</a:t>
            </a:r>
            <a:endParaRPr lang="en-US" sz="1575" dirty="0"/>
          </a:p>
        </p:txBody>
      </p:sp>
      <p:sp>
        <p:nvSpPr>
          <p:cNvPr id="11" name="Text 7"/>
          <p:cNvSpPr/>
          <p:nvPr/>
        </p:nvSpPr>
        <p:spPr>
          <a:xfrm>
            <a:off x="635794" y="3131530"/>
            <a:ext cx="1628775" cy="91440"/>
          </a:xfrm>
          <a:prstGeom prst="rect">
            <a:avLst/>
          </a:prstGeom>
          <a:noFill/>
          <a:ln/>
        </p:spPr>
        <p:txBody>
          <a:bodyPr wrap="none" lIns="0" tIns="0" rIns="0" bIns="0" rtlCol="0" anchor="t"/>
          <a:lstStyle/>
          <a:p>
            <a:pPr algn="l" indent="0" marL="0">
              <a:lnSpc>
                <a:spcPts val="804"/>
              </a:lnSpc>
              <a:buNone/>
            </a:pPr>
            <a:r>
              <a:rPr lang="en-US" sz="800" spc="37" kern="0" dirty="0">
                <a:solidFill>
                  <a:srgbClr val="94A3B8"/>
                </a:solidFill>
                <a:latin typeface="Carlito" pitchFamily="34" charset="0"/>
                <a:ea typeface="Carlito" pitchFamily="34" charset="-122"/>
                <a:cs typeface="Carlito" pitchFamily="34" charset="-120"/>
              </a:rPr>
              <a:t>FINLIT RATE (S&amp;P GLOBAL)</a:t>
            </a:r>
            <a:endParaRPr lang="en-US" sz="800" dirty="0"/>
          </a:p>
        </p:txBody>
      </p:sp>
      <p:sp>
        <p:nvSpPr>
          <p:cNvPr id="12" name="Text 8"/>
          <p:cNvSpPr/>
          <p:nvPr/>
        </p:nvSpPr>
        <p:spPr>
          <a:xfrm>
            <a:off x="2503884" y="2786063"/>
            <a:ext cx="1864519" cy="535781"/>
          </a:xfrm>
          <a:prstGeom prst="roundRect">
            <a:avLst>
              <a:gd name="adj" fmla="val 2488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3" name="Text 9"/>
          <p:cNvSpPr/>
          <p:nvPr/>
        </p:nvSpPr>
        <p:spPr>
          <a:xfrm>
            <a:off x="2621756" y="2823232"/>
            <a:ext cx="1628775"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FF5C5C"/>
                </a:solidFill>
                <a:latin typeface="Liberation Sans Narrow" pitchFamily="34" charset="0"/>
                <a:ea typeface="Liberation Sans Narrow" pitchFamily="34" charset="-122"/>
                <a:cs typeface="Liberation Sans Narrow" pitchFamily="34" charset="-120"/>
              </a:rPr>
              <a:t>80+ hrs</a:t>
            </a:r>
            <a:endParaRPr lang="en-US" sz="1575" dirty="0"/>
          </a:p>
        </p:txBody>
      </p:sp>
      <p:sp>
        <p:nvSpPr>
          <p:cNvPr id="14" name="Text 10"/>
          <p:cNvSpPr/>
          <p:nvPr/>
        </p:nvSpPr>
        <p:spPr>
          <a:xfrm>
            <a:off x="2621756" y="3080407"/>
            <a:ext cx="1628775" cy="123565"/>
          </a:xfrm>
          <a:prstGeom prst="rect">
            <a:avLst/>
          </a:prstGeom>
          <a:noFill/>
          <a:ln/>
        </p:spPr>
        <p:txBody>
          <a:bodyPr wrap="square" lIns="0" tIns="0" rIns="0" bIns="0" rtlCol="0" anchor="t"/>
          <a:lstStyle/>
          <a:p>
            <a:pPr algn="l" indent="0" marL="0">
              <a:lnSpc>
                <a:spcPts val="804"/>
              </a:lnSpc>
              <a:buNone/>
            </a:pPr>
            <a:r>
              <a:rPr lang="en-US" sz="800" spc="37" kern="0" dirty="0">
                <a:solidFill>
                  <a:srgbClr val="94A3B8"/>
                </a:solidFill>
                <a:latin typeface="Carlito" pitchFamily="34" charset="0"/>
                <a:ea typeface="Carlito" pitchFamily="34" charset="-122"/>
                <a:cs typeface="Carlito" pitchFamily="34" charset="-120"/>
              </a:rPr>
              <a:t>TO MANUALLY ANALYZE ONE KSE-100 STOCK</a:t>
            </a:r>
            <a:endParaRPr lang="en-US" sz="800" dirty="0"/>
          </a:p>
        </p:txBody>
      </p:sp>
      <p:sp>
        <p:nvSpPr>
          <p:cNvPr id="15" name="Text 11"/>
          <p:cNvSpPr/>
          <p:nvPr/>
        </p:nvSpPr>
        <p:spPr>
          <a:xfrm>
            <a:off x="517922" y="3443288"/>
            <a:ext cx="1864519" cy="535781"/>
          </a:xfrm>
          <a:prstGeom prst="roundRect">
            <a:avLst>
              <a:gd name="adj" fmla="val 2488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6" name="Text 12"/>
          <p:cNvSpPr/>
          <p:nvPr/>
        </p:nvSpPr>
        <p:spPr>
          <a:xfrm>
            <a:off x="635794" y="3480457"/>
            <a:ext cx="1628775"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FF5C5C"/>
                </a:solidFill>
                <a:latin typeface="Liberation Sans Narrow" pitchFamily="34" charset="0"/>
                <a:ea typeface="Liberation Sans Narrow" pitchFamily="34" charset="-122"/>
                <a:cs typeface="Liberation Sans Narrow" pitchFamily="34" charset="-120"/>
              </a:rPr>
              <a:t>0</a:t>
            </a:r>
            <a:endParaRPr lang="en-US" sz="1575" dirty="0"/>
          </a:p>
        </p:txBody>
      </p:sp>
      <p:sp>
        <p:nvSpPr>
          <p:cNvPr id="17" name="Text 13"/>
          <p:cNvSpPr/>
          <p:nvPr/>
        </p:nvSpPr>
        <p:spPr>
          <a:xfrm>
            <a:off x="635794" y="3737632"/>
            <a:ext cx="1628775" cy="123565"/>
          </a:xfrm>
          <a:prstGeom prst="rect">
            <a:avLst/>
          </a:prstGeom>
          <a:noFill/>
          <a:ln/>
        </p:spPr>
        <p:txBody>
          <a:bodyPr wrap="square" lIns="0" tIns="0" rIns="0" bIns="0" rtlCol="0" anchor="t"/>
          <a:lstStyle/>
          <a:p>
            <a:pPr algn="l" indent="0" marL="0">
              <a:lnSpc>
                <a:spcPts val="804"/>
              </a:lnSpc>
              <a:buNone/>
            </a:pPr>
            <a:r>
              <a:rPr lang="en-US" sz="800" spc="37" kern="0" dirty="0">
                <a:solidFill>
                  <a:srgbClr val="94A3B8"/>
                </a:solidFill>
                <a:latin typeface="Carlito" pitchFamily="34" charset="0"/>
                <a:ea typeface="Carlito" pitchFamily="34" charset="-122"/>
                <a:cs typeface="Carlito" pitchFamily="34" charset="-120"/>
              </a:rPr>
              <a:t>LICENSED ROBO-ADVISORS IN PAKISTAN</a:t>
            </a:r>
            <a:endParaRPr lang="en-US" sz="800" dirty="0"/>
          </a:p>
        </p:txBody>
      </p:sp>
      <p:sp>
        <p:nvSpPr>
          <p:cNvPr id="18" name="Text 14"/>
          <p:cNvSpPr/>
          <p:nvPr/>
        </p:nvSpPr>
        <p:spPr>
          <a:xfrm>
            <a:off x="2503884" y="3443288"/>
            <a:ext cx="1864519" cy="535781"/>
          </a:xfrm>
          <a:prstGeom prst="roundRect">
            <a:avLst>
              <a:gd name="adj" fmla="val 2488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9" name="Text 15"/>
          <p:cNvSpPr/>
          <p:nvPr/>
        </p:nvSpPr>
        <p:spPr>
          <a:xfrm>
            <a:off x="2621756" y="3480457"/>
            <a:ext cx="1628775"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FF5C5C"/>
                </a:solidFill>
                <a:latin typeface="Liberation Sans Narrow" pitchFamily="34" charset="0"/>
                <a:ea typeface="Liberation Sans Narrow" pitchFamily="34" charset="-122"/>
                <a:cs typeface="Liberation Sans Narrow" pitchFamily="34" charset="-120"/>
              </a:rPr>
              <a:t>6.5%</a:t>
            </a:r>
            <a:endParaRPr lang="en-US" sz="1575" dirty="0"/>
          </a:p>
        </p:txBody>
      </p:sp>
      <p:sp>
        <p:nvSpPr>
          <p:cNvPr id="20" name="Text 16"/>
          <p:cNvSpPr/>
          <p:nvPr/>
        </p:nvSpPr>
        <p:spPr>
          <a:xfrm>
            <a:off x="2621756" y="3737632"/>
            <a:ext cx="1628775" cy="123565"/>
          </a:xfrm>
          <a:prstGeom prst="rect">
            <a:avLst/>
          </a:prstGeom>
          <a:noFill/>
          <a:ln/>
        </p:spPr>
        <p:txBody>
          <a:bodyPr wrap="square" lIns="0" tIns="0" rIns="0" bIns="0" rtlCol="0" anchor="t"/>
          <a:lstStyle/>
          <a:p>
            <a:pPr algn="l" indent="0" marL="0">
              <a:lnSpc>
                <a:spcPts val="804"/>
              </a:lnSpc>
              <a:buNone/>
            </a:pPr>
            <a:r>
              <a:rPr lang="en-US" sz="800" spc="37" kern="0" dirty="0">
                <a:solidFill>
                  <a:srgbClr val="94A3B8"/>
                </a:solidFill>
                <a:latin typeface="Carlito" pitchFamily="34" charset="0"/>
                <a:ea typeface="Carlito" pitchFamily="34" charset="-122"/>
                <a:cs typeface="Carlito" pitchFamily="34" charset="-120"/>
              </a:rPr>
              <a:t>BANK DEPOSIT RATE — BARELY BEATS INFLATION</a:t>
            </a:r>
            <a:endParaRPr lang="en-US" sz="800" dirty="0"/>
          </a:p>
        </p:txBody>
      </p:sp>
      <p:pic>
        <p:nvPicPr>
          <p:cNvPr id="21" name="Image 2" descr="preencoded.png">    </p:cNvPr>
          <p:cNvPicPr>
            <a:picLocks noChangeAspect="1"/>
          </p:cNvPicPr>
          <p:nvPr/>
        </p:nvPicPr>
        <p:blipFill>
          <a:blip r:embed="rId3"/>
          <a:stretch>
            <a:fillRect/>
          </a:stretch>
        </p:blipFill>
        <p:spPr>
          <a:xfrm>
            <a:off x="5429250" y="1448395"/>
            <a:ext cx="3200400" cy="271463"/>
          </a:xfrm>
          <a:prstGeom prst="rect">
            <a:avLst/>
          </a:prstGeom>
        </p:spPr>
      </p:pic>
      <p:sp>
        <p:nvSpPr>
          <p:cNvPr id="22" name="Text 17"/>
          <p:cNvSpPr/>
          <p:nvPr/>
        </p:nvSpPr>
        <p:spPr>
          <a:xfrm>
            <a:off x="5529263" y="1537692"/>
            <a:ext cx="3000375" cy="109728"/>
          </a:xfrm>
          <a:prstGeom prst="rect">
            <a:avLst/>
          </a:prstGeom>
          <a:noFill/>
          <a:ln/>
        </p:spPr>
        <p:txBody>
          <a:bodyPr wrap="none" lIns="0" tIns="0" rIns="0" bIns="0" rtlCol="0" anchor="t"/>
          <a:lstStyle/>
          <a:p>
            <a:pPr algn="l" indent="0" marL="0">
              <a:lnSpc>
                <a:spcPts val="731"/>
              </a:lnSpc>
              <a:buNone/>
            </a:pPr>
            <a:r>
              <a:rPr lang="en-US" sz="800" dirty="0">
                <a:solidFill>
                  <a:srgbClr val="0A0E1A"/>
                </a:solidFill>
                <a:latin typeface="Carlito" pitchFamily="34" charset="0"/>
                <a:ea typeface="Carlito" pitchFamily="34" charset="-122"/>
                <a:cs typeface="Carlito" pitchFamily="34" charset="-120"/>
              </a:rPr>
              <a:t>Company filings</a:t>
            </a:r>
            <a:endParaRPr lang="en-US" sz="800" dirty="0"/>
          </a:p>
        </p:txBody>
      </p:sp>
      <p:sp>
        <p:nvSpPr>
          <p:cNvPr id="23" name="Text 18"/>
          <p:cNvSpPr/>
          <p:nvPr/>
        </p:nvSpPr>
        <p:spPr>
          <a:xfrm>
            <a:off x="5429250" y="1762720"/>
            <a:ext cx="2944341" cy="271463"/>
          </a:xfrm>
          <a:prstGeom prst="roundRect">
            <a:avLst>
              <a:gd name="adj" fmla="val 21053"/>
            </a:avLst>
          </a:prstGeom>
          <a:solidFill>
            <a:srgbClr val="00E676">
              <a:alpha val="75000"/>
            </a:srgbClr>
          </a:solidFill>
          <a:ln/>
        </p:spPr>
        <p:txBody>
          <a:bodyPr wrap="square" rtlCol="0" anchor="ctr"/>
          <a:lstStyle/>
          <a:p>
            <a:pPr indent="0" marL="0">
              <a:buNone/>
            </a:pPr>
            <a:endParaRPr lang="en-US" dirty="0"/>
          </a:p>
        </p:txBody>
      </p:sp>
      <p:sp>
        <p:nvSpPr>
          <p:cNvPr id="24" name="Text 19"/>
          <p:cNvSpPr/>
          <p:nvPr/>
        </p:nvSpPr>
        <p:spPr>
          <a:xfrm>
            <a:off x="5529263" y="1852017"/>
            <a:ext cx="2744316" cy="109728"/>
          </a:xfrm>
          <a:prstGeom prst="rect">
            <a:avLst/>
          </a:prstGeom>
          <a:noFill/>
          <a:ln/>
        </p:spPr>
        <p:txBody>
          <a:bodyPr wrap="none" lIns="0" tIns="0" rIns="0" bIns="0" rtlCol="0" anchor="t"/>
          <a:lstStyle/>
          <a:p>
            <a:pPr algn="l" indent="0" marL="0">
              <a:lnSpc>
                <a:spcPts val="731"/>
              </a:lnSpc>
              <a:buNone/>
            </a:pPr>
            <a:r>
              <a:rPr lang="en-US" sz="800" dirty="0">
                <a:solidFill>
                  <a:srgbClr val="0A0E1A"/>
                </a:solidFill>
                <a:latin typeface="Carlito" pitchFamily="34" charset="0"/>
                <a:ea typeface="Carlito" pitchFamily="34" charset="-122"/>
                <a:cs typeface="Carlito" pitchFamily="34" charset="-120"/>
              </a:rPr>
              <a:t>Technical indicators</a:t>
            </a:r>
            <a:endParaRPr lang="en-US" sz="800" dirty="0"/>
          </a:p>
        </p:txBody>
      </p:sp>
      <p:sp>
        <p:nvSpPr>
          <p:cNvPr id="25" name="Text 20"/>
          <p:cNvSpPr/>
          <p:nvPr/>
        </p:nvSpPr>
        <p:spPr>
          <a:xfrm>
            <a:off x="5429250" y="2077045"/>
            <a:ext cx="2688282" cy="271463"/>
          </a:xfrm>
          <a:prstGeom prst="roundRect">
            <a:avLst>
              <a:gd name="adj" fmla="val 21053"/>
            </a:avLst>
          </a:prstGeom>
          <a:solidFill>
            <a:srgbClr val="00E676">
              <a:alpha val="55000"/>
            </a:srgbClr>
          </a:solidFill>
          <a:ln/>
        </p:spPr>
        <p:txBody>
          <a:bodyPr wrap="square" rtlCol="0" anchor="ctr"/>
          <a:lstStyle/>
          <a:p>
            <a:pPr indent="0" marL="0">
              <a:buNone/>
            </a:pPr>
            <a:endParaRPr lang="en-US" dirty="0"/>
          </a:p>
        </p:txBody>
      </p:sp>
      <p:sp>
        <p:nvSpPr>
          <p:cNvPr id="26" name="Text 21"/>
          <p:cNvSpPr/>
          <p:nvPr/>
        </p:nvSpPr>
        <p:spPr>
          <a:xfrm>
            <a:off x="5529263" y="2166342"/>
            <a:ext cx="2488257" cy="109728"/>
          </a:xfrm>
          <a:prstGeom prst="rect">
            <a:avLst/>
          </a:prstGeom>
          <a:noFill/>
          <a:ln/>
        </p:spPr>
        <p:txBody>
          <a:bodyPr wrap="none" lIns="0" tIns="0" rIns="0" bIns="0" rtlCol="0" anchor="t"/>
          <a:lstStyle/>
          <a:p>
            <a:pPr algn="l" indent="0" marL="0">
              <a:lnSpc>
                <a:spcPts val="731"/>
              </a:lnSpc>
              <a:buNone/>
            </a:pPr>
            <a:r>
              <a:rPr lang="en-US" sz="800" dirty="0">
                <a:solidFill>
                  <a:srgbClr val="F4F7FB"/>
                </a:solidFill>
                <a:latin typeface="Carlito" pitchFamily="34" charset="0"/>
                <a:ea typeface="Carlito" pitchFamily="34" charset="-122"/>
                <a:cs typeface="Carlito" pitchFamily="34" charset="-120"/>
              </a:rPr>
              <a:t>Macro data</a:t>
            </a:r>
            <a:endParaRPr lang="en-US" sz="800" dirty="0"/>
          </a:p>
        </p:txBody>
      </p:sp>
      <p:sp>
        <p:nvSpPr>
          <p:cNvPr id="27" name="Text 22"/>
          <p:cNvSpPr/>
          <p:nvPr/>
        </p:nvSpPr>
        <p:spPr>
          <a:xfrm>
            <a:off x="5429250" y="2391370"/>
            <a:ext cx="2240235" cy="271463"/>
          </a:xfrm>
          <a:prstGeom prst="roundRect">
            <a:avLst>
              <a:gd name="adj" fmla="val 21053"/>
            </a:avLst>
          </a:prstGeom>
          <a:solidFill>
            <a:srgbClr val="FFFFFF">
              <a:alpha val="18000"/>
            </a:srgbClr>
          </a:solidFill>
          <a:ln/>
        </p:spPr>
        <p:txBody>
          <a:bodyPr wrap="square" rtlCol="0" anchor="ctr"/>
          <a:lstStyle/>
          <a:p>
            <a:pPr indent="0" marL="0">
              <a:buNone/>
            </a:pPr>
            <a:endParaRPr lang="en-US" dirty="0"/>
          </a:p>
        </p:txBody>
      </p:sp>
      <p:sp>
        <p:nvSpPr>
          <p:cNvPr id="28" name="Text 23"/>
          <p:cNvSpPr/>
          <p:nvPr/>
        </p:nvSpPr>
        <p:spPr>
          <a:xfrm>
            <a:off x="5529263" y="2480667"/>
            <a:ext cx="2040210" cy="109728"/>
          </a:xfrm>
          <a:prstGeom prst="rect">
            <a:avLst/>
          </a:prstGeom>
          <a:noFill/>
          <a:ln/>
        </p:spPr>
        <p:txBody>
          <a:bodyPr wrap="none" lIns="0" tIns="0" rIns="0" bIns="0" rtlCol="0" anchor="t"/>
          <a:lstStyle/>
          <a:p>
            <a:pPr algn="l" indent="0" marL="0">
              <a:lnSpc>
                <a:spcPts val="731"/>
              </a:lnSpc>
              <a:buNone/>
            </a:pPr>
            <a:r>
              <a:rPr lang="en-US" sz="800" dirty="0">
                <a:solidFill>
                  <a:srgbClr val="F4F7FB"/>
                </a:solidFill>
                <a:latin typeface="Carlito" pitchFamily="34" charset="0"/>
                <a:ea typeface="Carlito" pitchFamily="34" charset="-122"/>
                <a:cs typeface="Carlito" pitchFamily="34" charset="-120"/>
              </a:rPr>
              <a:t>Broker research</a:t>
            </a:r>
            <a:endParaRPr lang="en-US" sz="800" dirty="0"/>
          </a:p>
        </p:txBody>
      </p:sp>
      <p:sp>
        <p:nvSpPr>
          <p:cNvPr id="29" name="Text 24"/>
          <p:cNvSpPr/>
          <p:nvPr/>
        </p:nvSpPr>
        <p:spPr>
          <a:xfrm>
            <a:off x="5406390" y="2692894"/>
            <a:ext cx="1901867" cy="297066"/>
          </a:xfrm>
          <a:prstGeom prst="roundRect">
            <a:avLst>
              <a:gd name="adj" fmla="val 19238"/>
            </a:avLst>
          </a:prstGeom>
          <a:solidFill>
            <a:srgbClr val="FFFFFF">
              <a:alpha val="12000"/>
            </a:srgbClr>
          </a:solidFill>
          <a:ln/>
        </p:spPr>
        <p:txBody>
          <a:bodyPr wrap="square" rtlCol="0" anchor="ctr"/>
          <a:lstStyle/>
          <a:p>
            <a:pPr indent="0" marL="0">
              <a:buNone/>
            </a:pPr>
            <a:endParaRPr lang="en-US" dirty="0"/>
          </a:p>
        </p:txBody>
      </p:sp>
      <p:sp>
        <p:nvSpPr>
          <p:cNvPr id="30" name="Text 25"/>
          <p:cNvSpPr/>
          <p:nvPr/>
        </p:nvSpPr>
        <p:spPr>
          <a:xfrm>
            <a:off x="5529263" y="2794992"/>
            <a:ext cx="1656122" cy="109728"/>
          </a:xfrm>
          <a:prstGeom prst="rect">
            <a:avLst/>
          </a:prstGeom>
          <a:noFill/>
          <a:ln/>
        </p:spPr>
        <p:txBody>
          <a:bodyPr wrap="none" lIns="0" tIns="0" rIns="0" bIns="0" rtlCol="0" anchor="t"/>
          <a:lstStyle/>
          <a:p>
            <a:pPr algn="l" indent="0" marL="0">
              <a:lnSpc>
                <a:spcPts val="731"/>
              </a:lnSpc>
              <a:buNone/>
            </a:pPr>
            <a:r>
              <a:rPr lang="en-US" sz="800" dirty="0">
                <a:solidFill>
                  <a:srgbClr val="F4F7FB"/>
                </a:solidFill>
                <a:latin typeface="Carlito" pitchFamily="34" charset="0"/>
                <a:ea typeface="Carlito" pitchFamily="34" charset="-122"/>
                <a:cs typeface="Carlito" pitchFamily="34" charset="-120"/>
              </a:rPr>
              <a:t>Twitter/X chatter</a:t>
            </a:r>
            <a:endParaRPr lang="en-US" sz="800" dirty="0"/>
          </a:p>
        </p:txBody>
      </p:sp>
      <p:sp>
        <p:nvSpPr>
          <p:cNvPr id="31" name="Text 26"/>
          <p:cNvSpPr/>
          <p:nvPr/>
        </p:nvSpPr>
        <p:spPr>
          <a:xfrm>
            <a:off x="5406390" y="3007219"/>
            <a:ext cx="1485855" cy="297066"/>
          </a:xfrm>
          <a:prstGeom prst="roundRect">
            <a:avLst>
              <a:gd name="adj" fmla="val 19238"/>
            </a:avLst>
          </a:prstGeom>
          <a:solidFill>
            <a:srgbClr val="FF5C5C">
              <a:alpha val="35000"/>
            </a:srgbClr>
          </a:solidFill>
          <a:ln/>
        </p:spPr>
        <p:txBody>
          <a:bodyPr wrap="square" rtlCol="0" anchor="ctr"/>
          <a:lstStyle/>
          <a:p>
            <a:pPr indent="0" marL="0">
              <a:buNone/>
            </a:pPr>
            <a:endParaRPr lang="en-US" dirty="0"/>
          </a:p>
        </p:txBody>
      </p:sp>
      <p:sp>
        <p:nvSpPr>
          <p:cNvPr id="32" name="Text 27"/>
          <p:cNvSpPr/>
          <p:nvPr/>
        </p:nvSpPr>
        <p:spPr>
          <a:xfrm>
            <a:off x="5529263" y="3109317"/>
            <a:ext cx="1240110" cy="109728"/>
          </a:xfrm>
          <a:prstGeom prst="rect">
            <a:avLst/>
          </a:prstGeom>
          <a:noFill/>
          <a:ln/>
        </p:spPr>
        <p:txBody>
          <a:bodyPr wrap="none" lIns="0" tIns="0" rIns="0" bIns="0" rtlCol="0" anchor="t"/>
          <a:lstStyle/>
          <a:p>
            <a:pPr algn="l" indent="0" marL="0">
              <a:lnSpc>
                <a:spcPts val="731"/>
              </a:lnSpc>
              <a:buNone/>
            </a:pPr>
            <a:r>
              <a:rPr lang="en-US" sz="800" dirty="0">
                <a:solidFill>
                  <a:srgbClr val="F4F7FB"/>
                </a:solidFill>
                <a:latin typeface="Carlito" pitchFamily="34" charset="0"/>
                <a:ea typeface="Carlito" pitchFamily="34" charset="-122"/>
                <a:cs typeface="Carlito" pitchFamily="34" charset="-120"/>
              </a:rPr>
              <a:t>WhatsApp tip groups</a:t>
            </a:r>
            <a:endParaRPr lang="en-US" sz="800" dirty="0"/>
          </a:p>
        </p:txBody>
      </p:sp>
      <p:sp>
        <p:nvSpPr>
          <p:cNvPr id="33" name="Text 28"/>
          <p:cNvSpPr/>
          <p:nvPr/>
        </p:nvSpPr>
        <p:spPr>
          <a:xfrm>
            <a:off x="5301234" y="3405783"/>
            <a:ext cx="3456432" cy="144018"/>
          </a:xfrm>
          <a:prstGeom prst="rect">
            <a:avLst/>
          </a:prstGeom>
          <a:noFill/>
          <a:ln/>
        </p:spPr>
        <p:txBody>
          <a:bodyPr wrap="square" lIns="0" tIns="0" rIns="0" bIns="0" rtlCol="0" anchor="t">
            <a:normAutofit/>
          </a:bodyPr>
          <a:lstStyle/>
          <a:p>
            <a:pPr algn="ctr" indent="0" marL="0">
              <a:lnSpc>
                <a:spcPts val="1013"/>
              </a:lnSpc>
              <a:buNone/>
            </a:pPr>
            <a:r>
              <a:rPr lang="en-US" sz="800" spc="34" kern="0" dirty="0">
                <a:solidFill>
                  <a:srgbClr val="64748B"/>
                </a:solidFill>
                <a:latin typeface="Carlito" pitchFamily="34" charset="0"/>
                <a:ea typeface="Carlito" pitchFamily="34" charset="-122"/>
                <a:cs typeface="Carlito" pitchFamily="34" charset="-120"/>
              </a:rPr>
              <a:t>INFORMATION HIERARCHY → FROM SIGNAL TO NOISE</a:t>
            </a:r>
            <a:endParaRPr lang="en-US" sz="800" dirty="0"/>
          </a:p>
        </p:txBody>
      </p:sp>
      <p:sp>
        <p:nvSpPr>
          <p:cNvPr id="34" name="Text 29"/>
          <p:cNvSpPr/>
          <p:nvPr/>
        </p:nvSpPr>
        <p:spPr>
          <a:xfrm>
            <a:off x="5429250" y="3577233"/>
            <a:ext cx="3200400" cy="164592"/>
          </a:xfrm>
          <a:prstGeom prst="rect">
            <a:avLst/>
          </a:prstGeom>
          <a:noFill/>
          <a:ln/>
        </p:spPr>
        <p:txBody>
          <a:bodyPr wrap="square" lIns="0" tIns="0" rIns="0" bIns="0" rtlCol="0" anchor="t"/>
          <a:lstStyle/>
          <a:p>
            <a:pPr algn="ctr" indent="0" marL="0">
              <a:lnSpc>
                <a:spcPts val="928"/>
              </a:lnSpc>
              <a:buNone/>
            </a:pPr>
            <a:r>
              <a:rPr lang="en-US" sz="619" dirty="0">
                <a:solidFill>
                  <a:srgbClr val="64748B"/>
                </a:solidFill>
                <a:latin typeface="Carlito" pitchFamily="34" charset="0"/>
                <a:ea typeface="Carlito" pitchFamily="34" charset="-122"/>
                <a:cs typeface="Carlito" pitchFamily="34" charset="-120"/>
              </a:rPr>
              <a:t>Latent filters the bottom 4 layers. Investors only see the top.</a:t>
            </a:r>
            <a:endParaRPr lang="en-US" sz="619" dirty="0"/>
          </a:p>
        </p:txBody>
      </p:sp>
      <p:sp>
        <p:nvSpPr>
          <p:cNvPr id="35" name="Text 30"/>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Liberation Sans Narrow" pitchFamily="34" charset="0"/>
                <a:ea typeface="Liberation Sans Narrow" pitchFamily="34" charset="-122"/>
                <a:cs typeface="Liberation Sans Narrow" pitchFamily="34" charset="-120"/>
              </a:rPr>
              <a:t>LATENT.PK · PROBLEM 02</a:t>
            </a:r>
            <a:endParaRPr lang="en-US" sz="800" dirty="0"/>
          </a:p>
        </p:txBody>
      </p:sp>
      <p:sp>
        <p:nvSpPr>
          <p:cNvPr id="36" name="Text 31"/>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04 / 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40000"/>
          </a:blip>
          <a:stretch>
            <a:fillRect/>
          </a:stretch>
        </p:blipFill>
        <p:spPr>
          <a:xfrm>
            <a:off x="7000875" y="3143250"/>
            <a:ext cx="3000375" cy="3000375"/>
          </a:xfrm>
          <a:prstGeom prst="rect">
            <a:avLst/>
          </a:prstGeom>
        </p:spPr>
      </p:pic>
      <p:sp>
        <p:nvSpPr>
          <p:cNvPr id="4" name="Text 0"/>
          <p:cNvSpPr/>
          <p:nvPr/>
        </p:nvSpPr>
        <p:spPr>
          <a:xfrm>
            <a:off x="7000875" y="3143250"/>
            <a:ext cx="3000375" cy="3000375"/>
          </a:xfrm>
          <a:prstGeom prst="ellipse">
            <a:avLst/>
          </a:prstGeom>
          <a:solidFill>
            <a:srgbClr val="FF5C5C">
              <a:alpha val="0"/>
            </a:srgbClr>
          </a:solidFill>
          <a:ln/>
        </p:spPr>
        <p:txBody>
          <a:bodyPr wrap="square" rtlCol="0" anchor="ctr"/>
          <a:lstStyle/>
          <a:p>
            <a:pPr indent="0" marL="0">
              <a:buNone/>
            </a:pPr>
            <a:endParaRPr lang="en-US" dirty="0"/>
          </a:p>
        </p:txBody>
      </p:sp>
      <p:sp>
        <p:nvSpPr>
          <p:cNvPr id="5" name="Shape 1"/>
          <p:cNvSpPr/>
          <p:nvPr/>
        </p:nvSpPr>
        <p:spPr>
          <a:xfrm>
            <a:off x="721519" y="2660935"/>
            <a:ext cx="2176388" cy="0"/>
          </a:xfrm>
          <a:prstGeom prst="line">
            <a:avLst/>
          </a:prstGeom>
          <a:noFill/>
          <a:ln w="7144">
            <a:solidFill>
              <a:srgbClr val="F4F7FB"/>
            </a:solidFill>
            <a:prstDash val="solid"/>
          </a:ln>
        </p:spPr>
      </p:sp>
      <p:sp>
        <p:nvSpPr>
          <p:cNvPr id="6" name="Shape 2"/>
          <p:cNvSpPr/>
          <p:nvPr/>
        </p:nvSpPr>
        <p:spPr>
          <a:xfrm>
            <a:off x="3483694" y="2838078"/>
            <a:ext cx="2176500" cy="0"/>
          </a:xfrm>
          <a:prstGeom prst="line">
            <a:avLst/>
          </a:prstGeom>
          <a:noFill/>
          <a:ln w="7144">
            <a:solidFill>
              <a:srgbClr val="F4F7FB"/>
            </a:solidFill>
            <a:prstDash val="solid"/>
          </a:ln>
        </p:spPr>
      </p:sp>
      <p:sp>
        <p:nvSpPr>
          <p:cNvPr id="7" name="Shape 3"/>
          <p:cNvSpPr/>
          <p:nvPr/>
        </p:nvSpPr>
        <p:spPr>
          <a:xfrm>
            <a:off x="6245982" y="2790862"/>
            <a:ext cx="2176388" cy="0"/>
          </a:xfrm>
          <a:prstGeom prst="line">
            <a:avLst/>
          </a:prstGeom>
          <a:noFill/>
          <a:ln w="7144">
            <a:solidFill>
              <a:srgbClr val="F4F7FB"/>
            </a:solidFill>
            <a:prstDash val="solid"/>
          </a:ln>
        </p:spPr>
      </p:sp>
      <p:sp>
        <p:nvSpPr>
          <p:cNvPr id="8" name="Text 4"/>
          <p:cNvSpPr/>
          <p:nvPr/>
        </p:nvSpPr>
        <p:spPr>
          <a:xfrm>
            <a:off x="514350" y="4411266"/>
            <a:ext cx="8115300" cy="194328"/>
          </a:xfrm>
          <a:prstGeom prst="rect">
            <a:avLst/>
          </a:prstGeom>
          <a:noFill/>
          <a:ln/>
        </p:spPr>
        <p:txBody>
          <a:bodyPr wrap="square" lIns="0" tIns="0" rIns="0" bIns="0" rtlCol="0" anchor="t"/>
          <a:lstStyle/>
          <a:p>
            <a:pPr algn="ctr" indent="0" marL="0">
              <a:lnSpc>
                <a:spcPts val="1418"/>
              </a:lnSpc>
              <a:buNone/>
            </a:pPr>
            <a:r>
              <a:rPr lang="en-US" sz="1013" dirty="0">
                <a:solidFill>
                  <a:srgbClr val="00E676"/>
                </a:solidFill>
                <a:latin typeface="Carlito" pitchFamily="34" charset="0"/>
                <a:ea typeface="Carlito" pitchFamily="34" charset="-122"/>
                <a:cs typeface="Carlito" pitchFamily="34" charset="-120"/>
              </a:rPr>
              <a:t>None of them turn “what stock should I buy?” into “here's the plan to reach your goal.”</a:t>
            </a:r>
            <a:endParaRPr lang="en-US" sz="1013" dirty="0"/>
          </a:p>
        </p:txBody>
      </p:sp>
      <p:sp>
        <p:nvSpPr>
          <p:cNvPr id="9" name="Text 5"/>
          <p:cNvSpPr/>
          <p:nvPr/>
        </p:nvSpPr>
        <p:spPr>
          <a:xfrm>
            <a:off x="491490" y="387248"/>
            <a:ext cx="1209482" cy="264919"/>
          </a:xfrm>
          <a:prstGeom prst="roundRect">
            <a:avLst>
              <a:gd name="adj" fmla="val 3591843"/>
            </a:avLst>
          </a:prstGeom>
          <a:solidFill>
            <a:srgbClr val="FF5C5C">
              <a:alpha val="12000"/>
            </a:srgbClr>
          </a:solidFill>
          <a:ln w="7144">
            <a:solidFill>
              <a:srgbClr val="FF5C5C"/>
            </a:solidFill>
            <a:prstDash val="solid"/>
          </a:ln>
        </p:spPr>
        <p:txBody>
          <a:bodyPr wrap="square" rtlCol="0" anchor="ctr"/>
          <a:lstStyle/>
          <a:p>
            <a:pPr indent="0" marL="0">
              <a:buNone/>
            </a:pPr>
            <a:endParaRPr lang="en-US" dirty="0"/>
          </a:p>
        </p:txBody>
      </p:sp>
      <p:sp>
        <p:nvSpPr>
          <p:cNvPr id="10" name="Text 6"/>
          <p:cNvSpPr/>
          <p:nvPr/>
        </p:nvSpPr>
        <p:spPr>
          <a:xfrm>
            <a:off x="514350" y="400050"/>
            <a:ext cx="1163762"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FF5C5C"/>
                </a:solidFill>
                <a:latin typeface="Liberation Sans Narrow" pitchFamily="34" charset="0"/>
                <a:ea typeface="Liberation Sans Narrow" pitchFamily="34" charset="-122"/>
                <a:cs typeface="Liberation Sans Narrow" pitchFamily="34" charset="-120"/>
              </a:rPr>
              <a:t>PROBLEM 03 / 03</a:t>
            </a:r>
            <a:endParaRPr lang="en-US" sz="800" dirty="0"/>
          </a:p>
        </p:txBody>
      </p:sp>
      <p:sp>
        <p:nvSpPr>
          <p:cNvPr id="11" name="Text 7"/>
          <p:cNvSpPr/>
          <p:nvPr/>
        </p:nvSpPr>
        <p:spPr>
          <a:xfrm>
            <a:off x="514350" y="753666"/>
            <a:ext cx="8629650" cy="709803"/>
          </a:xfrm>
          <a:prstGeom prst="rect">
            <a:avLst/>
          </a:prstGeom>
          <a:noFill/>
          <a:ln/>
        </p:spPr>
        <p:txBody>
          <a:bodyPr wrap="square" lIns="0" tIns="0" rIns="0" bIns="0" rtlCol="0" anchor="t"/>
          <a:lstStyle/>
          <a:p>
            <a:pPr algn="l" indent="0" marL="0">
              <a:lnSpc>
                <a:spcPts val="2588"/>
              </a:lnSpc>
              <a:buNone/>
            </a:pPr>
            <a:r>
              <a:rPr lang="en-US" sz="2250" b="1" spc="-45" kern="0" dirty="0">
                <a:solidFill>
                  <a:srgbClr val="F4F7FB"/>
                </a:solidFill>
                <a:latin typeface="Carlito" pitchFamily="34" charset="0"/>
                <a:ea typeface="Carlito" pitchFamily="34" charset="-122"/>
                <a:cs typeface="Carlito" pitchFamily="34" charset="-120"/>
              </a:rPr>
              <a:t>Three places Pakistanis go for stock ideas. All three fail them.</a:t>
            </a:r>
            <a:endParaRPr lang="en-US" sz="2250" dirty="0"/>
          </a:p>
        </p:txBody>
      </p:sp>
      <p:sp>
        <p:nvSpPr>
          <p:cNvPr id="12" name="Text 8"/>
          <p:cNvSpPr/>
          <p:nvPr/>
        </p:nvSpPr>
        <p:spPr>
          <a:xfrm>
            <a:off x="517922" y="1671638"/>
            <a:ext cx="2583582" cy="2564606"/>
          </a:xfrm>
          <a:prstGeom prst="roundRect">
            <a:avLst>
              <a:gd name="adj" fmla="val 5200"/>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3" name="Text 9"/>
          <p:cNvSpPr/>
          <p:nvPr/>
        </p:nvSpPr>
        <p:spPr>
          <a:xfrm>
            <a:off x="721519" y="1875234"/>
            <a:ext cx="200025" cy="200025"/>
          </a:xfrm>
          <a:prstGeom prst="rect">
            <a:avLst/>
          </a:prstGeom>
          <a:noFill/>
          <a:ln/>
        </p:spPr>
        <p:txBody>
          <a:bodyPr wrap="none" lIns="0" tIns="0" rIns="0" bIns="0" rtlCol="0" anchor="ctr"/>
          <a:lstStyle/>
          <a:p>
            <a:pPr algn="ctr" indent="0" marL="0">
              <a:buNone/>
            </a:pPr>
            <a:r>
              <a:rPr lang="en-US" sz="1969" dirty="0">
                <a:solidFill>
                  <a:srgbClr val="FF5C5C"/>
                </a:solidFill>
                <a:latin typeface="Segoe UI Symbol" pitchFamily="34" charset="0"/>
                <a:ea typeface="Segoe UI Symbol" pitchFamily="34" charset="-122"/>
                <a:cs typeface="Segoe UI Symbol" pitchFamily="34" charset="-120"/>
              </a:rPr>
              <a:t>◌</a:t>
            </a:r>
            <a:endParaRPr lang="en-US" sz="1969" dirty="0"/>
          </a:p>
        </p:txBody>
      </p:sp>
      <p:sp>
        <p:nvSpPr>
          <p:cNvPr id="14" name="Text 10"/>
          <p:cNvSpPr/>
          <p:nvPr/>
        </p:nvSpPr>
        <p:spPr>
          <a:xfrm>
            <a:off x="721519" y="2160984"/>
            <a:ext cx="2176388" cy="195172"/>
          </a:xfrm>
          <a:prstGeom prst="rect">
            <a:avLst/>
          </a:prstGeom>
          <a:noFill/>
          <a:ln/>
        </p:spPr>
        <p:txBody>
          <a:bodyPr wrap="none" lIns="0" tIns="0" rIns="0" bIns="0" rtlCol="0" anchor="t"/>
          <a:lstStyle/>
          <a:p>
            <a:pPr algn="l" indent="0" marL="0">
              <a:lnSpc>
                <a:spcPts val="1423"/>
              </a:lnSpc>
              <a:buNone/>
            </a:pPr>
            <a:r>
              <a:rPr lang="en-US" sz="1238" b="1" dirty="0">
                <a:solidFill>
                  <a:srgbClr val="F4F7FB"/>
                </a:solidFill>
                <a:latin typeface="Carlito" pitchFamily="34" charset="0"/>
                <a:ea typeface="Carlito" pitchFamily="34" charset="-122"/>
                <a:cs typeface="Carlito" pitchFamily="34" charset="-120"/>
              </a:rPr>
              <a:t>WhatsApp tip groups</a:t>
            </a:r>
            <a:endParaRPr lang="en-US" sz="1238" dirty="0"/>
          </a:p>
        </p:txBody>
      </p:sp>
      <p:sp>
        <p:nvSpPr>
          <p:cNvPr id="15" name="Text 11"/>
          <p:cNvSpPr/>
          <p:nvPr/>
        </p:nvSpPr>
        <p:spPr>
          <a:xfrm>
            <a:off x="721519" y="2384561"/>
            <a:ext cx="2286116" cy="153514"/>
          </a:xfrm>
          <a:prstGeom prst="rect">
            <a:avLst/>
          </a:prstGeom>
          <a:noFill/>
          <a:ln/>
        </p:spPr>
        <p:txBody>
          <a:bodyPr wrap="square" lIns="0" tIns="0" rIns="0" bIns="0" rtlCol="0" anchor="t"/>
          <a:lstStyle/>
          <a:p>
            <a:pPr algn="l" indent="0" marL="0">
              <a:lnSpc>
                <a:spcPts val="1024"/>
              </a:lnSpc>
              <a:buNone/>
            </a:pPr>
            <a:r>
              <a:rPr lang="en-US" sz="800" dirty="0">
                <a:solidFill>
                  <a:srgbClr val="94A3B8"/>
                </a:solidFill>
                <a:latin typeface="Carlito" pitchFamily="34" charset="0"/>
                <a:ea typeface="Carlito" pitchFamily="34" charset="-122"/>
                <a:cs typeface="Carlito" pitchFamily="34" charset="-120"/>
              </a:rPr>
              <a:t>Herd-sourced tips. No accountability.</a:t>
            </a:r>
            <a:endParaRPr lang="en-US" sz="800" dirty="0"/>
          </a:p>
        </p:txBody>
      </p:sp>
      <p:sp>
        <p:nvSpPr>
          <p:cNvPr id="16" name="Text 12"/>
          <p:cNvSpPr/>
          <p:nvPr/>
        </p:nvSpPr>
        <p:spPr>
          <a:xfrm>
            <a:off x="721519" y="2843101"/>
            <a:ext cx="57150" cy="57150"/>
          </a:xfrm>
          <a:prstGeom prst="ellipse">
            <a:avLst/>
          </a:prstGeom>
          <a:solidFill>
            <a:srgbClr val="FF5C5C"/>
          </a:solidFill>
          <a:ln/>
        </p:spPr>
        <p:txBody>
          <a:bodyPr wrap="square" rtlCol="0" anchor="ctr"/>
          <a:lstStyle/>
          <a:p>
            <a:pPr indent="0" marL="0">
              <a:buNone/>
            </a:pPr>
            <a:endParaRPr lang="en-US" dirty="0"/>
          </a:p>
        </p:txBody>
      </p:sp>
      <p:sp>
        <p:nvSpPr>
          <p:cNvPr id="17" name="Text 13"/>
          <p:cNvSpPr/>
          <p:nvPr/>
        </p:nvSpPr>
        <p:spPr>
          <a:xfrm>
            <a:off x="850106" y="2793095"/>
            <a:ext cx="2047801" cy="164592"/>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Pump-and-dump risk is structural</a:t>
            </a:r>
            <a:endParaRPr lang="en-US" sz="800" dirty="0"/>
          </a:p>
        </p:txBody>
      </p:sp>
      <p:sp>
        <p:nvSpPr>
          <p:cNvPr id="18" name="Text 14"/>
          <p:cNvSpPr/>
          <p:nvPr/>
        </p:nvSpPr>
        <p:spPr>
          <a:xfrm>
            <a:off x="721519" y="3059199"/>
            <a:ext cx="57150" cy="57150"/>
          </a:xfrm>
          <a:prstGeom prst="ellipse">
            <a:avLst/>
          </a:prstGeom>
          <a:solidFill>
            <a:srgbClr val="FF5C5C"/>
          </a:solidFill>
          <a:ln/>
        </p:spPr>
        <p:txBody>
          <a:bodyPr wrap="square" rtlCol="0" anchor="ctr"/>
          <a:lstStyle/>
          <a:p>
            <a:pPr indent="0" marL="0">
              <a:buNone/>
            </a:pPr>
            <a:endParaRPr lang="en-US" dirty="0"/>
          </a:p>
        </p:txBody>
      </p:sp>
      <p:sp>
        <p:nvSpPr>
          <p:cNvPr id="19" name="Text 15"/>
          <p:cNvSpPr/>
          <p:nvPr/>
        </p:nvSpPr>
        <p:spPr>
          <a:xfrm>
            <a:off x="850106" y="3009193"/>
            <a:ext cx="2047801" cy="164592"/>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No risk profiling or suitability</a:t>
            </a:r>
            <a:endParaRPr lang="en-US" sz="800" dirty="0"/>
          </a:p>
        </p:txBody>
      </p:sp>
      <p:sp>
        <p:nvSpPr>
          <p:cNvPr id="20" name="Text 16"/>
          <p:cNvSpPr/>
          <p:nvPr/>
        </p:nvSpPr>
        <p:spPr>
          <a:xfrm>
            <a:off x="721519" y="3275298"/>
            <a:ext cx="57150" cy="57150"/>
          </a:xfrm>
          <a:prstGeom prst="ellipse">
            <a:avLst/>
          </a:prstGeom>
          <a:solidFill>
            <a:srgbClr val="FF5C5C"/>
          </a:solidFill>
          <a:ln/>
        </p:spPr>
        <p:txBody>
          <a:bodyPr wrap="square" rtlCol="0" anchor="ctr"/>
          <a:lstStyle/>
          <a:p>
            <a:pPr indent="0" marL="0">
              <a:buNone/>
            </a:pPr>
            <a:endParaRPr lang="en-US" dirty="0"/>
          </a:p>
        </p:txBody>
      </p:sp>
      <p:sp>
        <p:nvSpPr>
          <p:cNvPr id="21" name="Text 17"/>
          <p:cNvSpPr/>
          <p:nvPr/>
        </p:nvSpPr>
        <p:spPr>
          <a:xfrm>
            <a:off x="850106" y="3225292"/>
            <a:ext cx="2047801" cy="164592"/>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No plan, no exit, no accountability</a:t>
            </a:r>
            <a:endParaRPr lang="en-US" sz="800" dirty="0"/>
          </a:p>
        </p:txBody>
      </p:sp>
      <p:sp>
        <p:nvSpPr>
          <p:cNvPr id="22" name="Text 18"/>
          <p:cNvSpPr/>
          <p:nvPr/>
        </p:nvSpPr>
        <p:spPr>
          <a:xfrm>
            <a:off x="721519" y="3491396"/>
            <a:ext cx="57150" cy="57150"/>
          </a:xfrm>
          <a:prstGeom prst="ellipse">
            <a:avLst/>
          </a:prstGeom>
          <a:solidFill>
            <a:srgbClr val="FF5C5C"/>
          </a:solidFill>
          <a:ln/>
        </p:spPr>
        <p:txBody>
          <a:bodyPr wrap="square" rtlCol="0" anchor="ctr"/>
          <a:lstStyle/>
          <a:p>
            <a:pPr indent="0" marL="0">
              <a:buNone/>
            </a:pPr>
            <a:endParaRPr lang="en-US" dirty="0"/>
          </a:p>
        </p:txBody>
      </p:sp>
      <p:sp>
        <p:nvSpPr>
          <p:cNvPr id="23" name="Text 19"/>
          <p:cNvSpPr/>
          <p:nvPr/>
        </p:nvSpPr>
        <p:spPr>
          <a:xfrm>
            <a:off x="850106" y="3441390"/>
            <a:ext cx="2047801" cy="329184"/>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Often illegal under SECP unlicensed advice rules</a:t>
            </a:r>
            <a:endParaRPr lang="en-US" sz="800" dirty="0"/>
          </a:p>
        </p:txBody>
      </p:sp>
      <p:sp>
        <p:nvSpPr>
          <p:cNvPr id="24" name="Text 20"/>
          <p:cNvSpPr/>
          <p:nvPr/>
        </p:nvSpPr>
        <p:spPr>
          <a:xfrm>
            <a:off x="3280097" y="1671638"/>
            <a:ext cx="2583693" cy="2564606"/>
          </a:xfrm>
          <a:prstGeom prst="roundRect">
            <a:avLst>
              <a:gd name="adj" fmla="val 5200"/>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5" name="Text 21"/>
          <p:cNvSpPr/>
          <p:nvPr/>
        </p:nvSpPr>
        <p:spPr>
          <a:xfrm>
            <a:off x="3483694" y="1875234"/>
            <a:ext cx="200025" cy="200025"/>
          </a:xfrm>
          <a:prstGeom prst="rect">
            <a:avLst/>
          </a:prstGeom>
          <a:noFill/>
          <a:ln/>
        </p:spPr>
        <p:txBody>
          <a:bodyPr wrap="none" lIns="0" tIns="0" rIns="0" bIns="0" rtlCol="0" anchor="ctr"/>
          <a:lstStyle/>
          <a:p>
            <a:pPr algn="ctr" indent="0" marL="0">
              <a:buNone/>
            </a:pPr>
            <a:r>
              <a:rPr lang="en-US" sz="1969" dirty="0">
                <a:solidFill>
                  <a:srgbClr val="FBBF24"/>
                </a:solidFill>
                <a:latin typeface="Segoe UI Symbol" pitchFamily="34" charset="0"/>
                <a:ea typeface="Segoe UI Symbol" pitchFamily="34" charset="-122"/>
                <a:cs typeface="Segoe UI Symbol" pitchFamily="34" charset="-120"/>
              </a:rPr>
              <a:t>⌇</a:t>
            </a:r>
            <a:endParaRPr lang="en-US" sz="1969" dirty="0"/>
          </a:p>
        </p:txBody>
      </p:sp>
      <p:sp>
        <p:nvSpPr>
          <p:cNvPr id="26" name="Text 22"/>
          <p:cNvSpPr/>
          <p:nvPr/>
        </p:nvSpPr>
        <p:spPr>
          <a:xfrm>
            <a:off x="3483694" y="2160984"/>
            <a:ext cx="2176500" cy="376860"/>
          </a:xfrm>
          <a:prstGeom prst="rect">
            <a:avLst/>
          </a:prstGeom>
          <a:noFill/>
          <a:ln/>
        </p:spPr>
        <p:txBody>
          <a:bodyPr wrap="none" lIns="0" tIns="0" rIns="0" bIns="0" rtlCol="0" anchor="t">
            <a:normAutofit/>
          </a:bodyPr>
          <a:lstStyle/>
          <a:p>
            <a:pPr algn="l" indent="0" marL="0">
              <a:lnSpc>
                <a:spcPts val="1423"/>
              </a:lnSpc>
              <a:buNone/>
            </a:pPr>
            <a:r>
              <a:rPr lang="en-US" sz="1238" b="1" dirty="0">
                <a:solidFill>
                  <a:srgbClr val="F4F7FB"/>
                </a:solidFill>
                <a:latin typeface="Carlito" pitchFamily="34" charset="0"/>
                <a:ea typeface="Carlito" pitchFamily="34" charset="-122"/>
                <a:cs typeface="Carlito" pitchFamily="34" charset="-120"/>
              </a:rPr>
              <a:t>TradingView + raw charts</a:t>
            </a:r>
            <a:endParaRPr lang="en-US" sz="1238" dirty="0"/>
          </a:p>
        </p:txBody>
      </p:sp>
      <p:sp>
        <p:nvSpPr>
          <p:cNvPr id="27" name="Text 23"/>
          <p:cNvSpPr/>
          <p:nvPr/>
        </p:nvSpPr>
        <p:spPr>
          <a:xfrm>
            <a:off x="3483694" y="2565276"/>
            <a:ext cx="2286228" cy="153514"/>
          </a:xfrm>
          <a:prstGeom prst="rect">
            <a:avLst/>
          </a:prstGeom>
          <a:noFill/>
          <a:ln/>
        </p:spPr>
        <p:txBody>
          <a:bodyPr wrap="square" lIns="0" tIns="0" rIns="0" bIns="0" rtlCol="0" anchor="t"/>
          <a:lstStyle/>
          <a:p>
            <a:pPr algn="l" indent="0" marL="0">
              <a:lnSpc>
                <a:spcPts val="1024"/>
              </a:lnSpc>
              <a:buNone/>
            </a:pPr>
            <a:r>
              <a:rPr lang="en-US" sz="731" dirty="0">
                <a:solidFill>
                  <a:srgbClr val="94A3B8"/>
                </a:solidFill>
                <a:latin typeface="Carlito" pitchFamily="34" charset="0"/>
                <a:ea typeface="Carlito" pitchFamily="34" charset="-122"/>
                <a:cs typeface="Carlito" pitchFamily="34" charset="-120"/>
              </a:rPr>
              <a:t>Pro tools. Built for traders who already know.</a:t>
            </a:r>
            <a:endParaRPr lang="en-US" sz="731" dirty="0"/>
          </a:p>
        </p:txBody>
      </p:sp>
      <p:sp>
        <p:nvSpPr>
          <p:cNvPr id="28" name="Text 24"/>
          <p:cNvSpPr/>
          <p:nvPr/>
        </p:nvSpPr>
        <p:spPr>
          <a:xfrm>
            <a:off x="3483694" y="3016672"/>
            <a:ext cx="57150" cy="57150"/>
          </a:xfrm>
          <a:prstGeom prst="ellipse">
            <a:avLst/>
          </a:prstGeom>
          <a:solidFill>
            <a:srgbClr val="FF5C5C"/>
          </a:solidFill>
          <a:ln/>
        </p:spPr>
        <p:txBody>
          <a:bodyPr wrap="square" rtlCol="0" anchor="ctr"/>
          <a:lstStyle/>
          <a:p>
            <a:pPr indent="0" marL="0">
              <a:buNone/>
            </a:pPr>
            <a:endParaRPr lang="en-US" dirty="0"/>
          </a:p>
        </p:txBody>
      </p:sp>
      <p:sp>
        <p:nvSpPr>
          <p:cNvPr id="29" name="Text 25"/>
          <p:cNvSpPr/>
          <p:nvPr/>
        </p:nvSpPr>
        <p:spPr>
          <a:xfrm>
            <a:off x="3612282" y="2966665"/>
            <a:ext cx="2047912" cy="164592"/>
          </a:xfrm>
          <a:prstGeom prst="rect">
            <a:avLst/>
          </a:prstGeom>
          <a:noFill/>
          <a:ln/>
        </p:spPr>
        <p:txBody>
          <a:bodyPr wrap="non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Dumps data, not decisions</a:t>
            </a:r>
            <a:endParaRPr lang="en-US" sz="800" dirty="0"/>
          </a:p>
        </p:txBody>
      </p:sp>
      <p:sp>
        <p:nvSpPr>
          <p:cNvPr id="30" name="Text 26"/>
          <p:cNvSpPr/>
          <p:nvPr/>
        </p:nvSpPr>
        <p:spPr>
          <a:xfrm>
            <a:off x="3483694" y="3232770"/>
            <a:ext cx="57150" cy="57150"/>
          </a:xfrm>
          <a:prstGeom prst="ellipse">
            <a:avLst/>
          </a:prstGeom>
          <a:solidFill>
            <a:srgbClr val="FF5C5C"/>
          </a:solidFill>
          <a:ln/>
        </p:spPr>
        <p:txBody>
          <a:bodyPr wrap="square" rtlCol="0" anchor="ctr"/>
          <a:lstStyle/>
          <a:p>
            <a:pPr indent="0" marL="0">
              <a:buNone/>
            </a:pPr>
            <a:endParaRPr lang="en-US" dirty="0"/>
          </a:p>
        </p:txBody>
      </p:sp>
      <p:sp>
        <p:nvSpPr>
          <p:cNvPr id="31" name="Text 27"/>
          <p:cNvSpPr/>
          <p:nvPr/>
        </p:nvSpPr>
        <p:spPr>
          <a:xfrm>
            <a:off x="3612282" y="3182764"/>
            <a:ext cx="2047912" cy="164592"/>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70+ indicators with zero synthesis</a:t>
            </a:r>
            <a:endParaRPr lang="en-US" sz="800" dirty="0"/>
          </a:p>
        </p:txBody>
      </p:sp>
      <p:sp>
        <p:nvSpPr>
          <p:cNvPr id="32" name="Text 28"/>
          <p:cNvSpPr/>
          <p:nvPr/>
        </p:nvSpPr>
        <p:spPr>
          <a:xfrm>
            <a:off x="3483694" y="3448869"/>
            <a:ext cx="57150" cy="57150"/>
          </a:xfrm>
          <a:prstGeom prst="ellipse">
            <a:avLst/>
          </a:prstGeom>
          <a:solidFill>
            <a:srgbClr val="FF5C5C"/>
          </a:solidFill>
          <a:ln/>
        </p:spPr>
        <p:txBody>
          <a:bodyPr wrap="square" rtlCol="0" anchor="ctr"/>
          <a:lstStyle/>
          <a:p>
            <a:pPr indent="0" marL="0">
              <a:buNone/>
            </a:pPr>
            <a:endParaRPr lang="en-US" dirty="0"/>
          </a:p>
        </p:txBody>
      </p:sp>
      <p:sp>
        <p:nvSpPr>
          <p:cNvPr id="33" name="Text 29"/>
          <p:cNvSpPr/>
          <p:nvPr/>
        </p:nvSpPr>
        <p:spPr>
          <a:xfrm>
            <a:off x="3612282" y="3398862"/>
            <a:ext cx="2047912" cy="329184"/>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No Pakistan-specific context (corp actions, tax)</a:t>
            </a:r>
            <a:endParaRPr lang="en-US" sz="800" dirty="0"/>
          </a:p>
        </p:txBody>
      </p:sp>
      <p:sp>
        <p:nvSpPr>
          <p:cNvPr id="34" name="Text 30"/>
          <p:cNvSpPr/>
          <p:nvPr/>
        </p:nvSpPr>
        <p:spPr>
          <a:xfrm>
            <a:off x="3483694" y="3809628"/>
            <a:ext cx="57150" cy="57150"/>
          </a:xfrm>
          <a:prstGeom prst="ellipse">
            <a:avLst/>
          </a:prstGeom>
          <a:solidFill>
            <a:srgbClr val="FF5C5C"/>
          </a:solidFill>
          <a:ln/>
        </p:spPr>
        <p:txBody>
          <a:bodyPr wrap="square" rtlCol="0" anchor="ctr"/>
          <a:lstStyle/>
          <a:p>
            <a:pPr indent="0" marL="0">
              <a:buNone/>
            </a:pPr>
            <a:endParaRPr lang="en-US" dirty="0"/>
          </a:p>
        </p:txBody>
      </p:sp>
      <p:sp>
        <p:nvSpPr>
          <p:cNvPr id="35" name="Text 31"/>
          <p:cNvSpPr/>
          <p:nvPr/>
        </p:nvSpPr>
        <p:spPr>
          <a:xfrm>
            <a:off x="3612282" y="3759622"/>
            <a:ext cx="2047912" cy="273025"/>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Requires 100+ hours of training to use well</a:t>
            </a:r>
            <a:endParaRPr lang="en-US" sz="800" dirty="0"/>
          </a:p>
        </p:txBody>
      </p:sp>
      <p:sp>
        <p:nvSpPr>
          <p:cNvPr id="36" name="Text 32"/>
          <p:cNvSpPr/>
          <p:nvPr/>
        </p:nvSpPr>
        <p:spPr>
          <a:xfrm>
            <a:off x="6042385" y="1671638"/>
            <a:ext cx="2583582" cy="2564606"/>
          </a:xfrm>
          <a:prstGeom prst="roundRect">
            <a:avLst>
              <a:gd name="adj" fmla="val 5200"/>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37" name="Text 33"/>
          <p:cNvSpPr/>
          <p:nvPr/>
        </p:nvSpPr>
        <p:spPr>
          <a:xfrm>
            <a:off x="6245982" y="1875234"/>
            <a:ext cx="200025" cy="200025"/>
          </a:xfrm>
          <a:prstGeom prst="rect">
            <a:avLst/>
          </a:prstGeom>
          <a:noFill/>
          <a:ln/>
        </p:spPr>
        <p:txBody>
          <a:bodyPr wrap="none" lIns="0" tIns="0" rIns="0" bIns="0" rtlCol="0" anchor="ctr"/>
          <a:lstStyle/>
          <a:p>
            <a:pPr algn="ctr" indent="0" marL="0">
              <a:buNone/>
            </a:pPr>
            <a:r>
              <a:rPr lang="en-US" sz="1969" dirty="0">
                <a:solidFill>
                  <a:srgbClr val="00E676"/>
                </a:solidFill>
                <a:latin typeface="Segoe UI Symbol" pitchFamily="34" charset="0"/>
                <a:ea typeface="Segoe UI Symbol" pitchFamily="34" charset="-122"/>
                <a:cs typeface="Segoe UI Symbol" pitchFamily="34" charset="-120"/>
              </a:rPr>
              <a:t>🏛</a:t>
            </a:r>
            <a:endParaRPr lang="en-US" sz="1969" dirty="0"/>
          </a:p>
        </p:txBody>
      </p:sp>
      <p:sp>
        <p:nvSpPr>
          <p:cNvPr id="38" name="Text 34"/>
          <p:cNvSpPr/>
          <p:nvPr/>
        </p:nvSpPr>
        <p:spPr>
          <a:xfrm>
            <a:off x="6245982" y="2160984"/>
            <a:ext cx="2176388" cy="195172"/>
          </a:xfrm>
          <a:prstGeom prst="rect">
            <a:avLst/>
          </a:prstGeom>
          <a:noFill/>
          <a:ln/>
        </p:spPr>
        <p:txBody>
          <a:bodyPr wrap="none" lIns="0" tIns="0" rIns="0" bIns="0" rtlCol="0" anchor="t"/>
          <a:lstStyle/>
          <a:p>
            <a:pPr algn="l" indent="0" marL="0">
              <a:lnSpc>
                <a:spcPts val="1423"/>
              </a:lnSpc>
              <a:buNone/>
            </a:pPr>
            <a:r>
              <a:rPr lang="en-US" sz="1238" b="1" dirty="0">
                <a:solidFill>
                  <a:srgbClr val="F4F7FB"/>
                </a:solidFill>
                <a:latin typeface="Carlito" pitchFamily="34" charset="0"/>
                <a:ea typeface="Carlito" pitchFamily="34" charset="-122"/>
                <a:cs typeface="Carlito" pitchFamily="34" charset="-120"/>
              </a:rPr>
              <a:t>Broker apps</a:t>
            </a:r>
            <a:endParaRPr lang="en-US" sz="1238" dirty="0"/>
          </a:p>
        </p:txBody>
      </p:sp>
      <p:sp>
        <p:nvSpPr>
          <p:cNvPr id="39" name="Text 35"/>
          <p:cNvSpPr/>
          <p:nvPr/>
        </p:nvSpPr>
        <p:spPr>
          <a:xfrm>
            <a:off x="6245982" y="2384561"/>
            <a:ext cx="2176388" cy="307027"/>
          </a:xfrm>
          <a:prstGeom prst="rect">
            <a:avLst/>
          </a:prstGeom>
          <a:noFill/>
          <a:ln/>
        </p:spPr>
        <p:txBody>
          <a:bodyPr wrap="square" lIns="0" tIns="0" rIns="0" bIns="0" rtlCol="0" anchor="t"/>
          <a:lstStyle/>
          <a:p>
            <a:pPr algn="l" indent="0" marL="0">
              <a:lnSpc>
                <a:spcPts val="1024"/>
              </a:lnSpc>
              <a:buNone/>
            </a:pPr>
            <a:r>
              <a:rPr lang="en-US" sz="800" dirty="0">
                <a:solidFill>
                  <a:srgbClr val="94A3B8"/>
                </a:solidFill>
                <a:latin typeface="Carlito" pitchFamily="34" charset="0"/>
                <a:ea typeface="Carlito" pitchFamily="34" charset="-122"/>
                <a:cs typeface="Carlito" pitchFamily="34" charset="-120"/>
              </a:rPr>
              <a:t>Arif Habib, AKD, Foundation — execution venues.</a:t>
            </a:r>
            <a:endParaRPr lang="en-US" sz="800" dirty="0"/>
          </a:p>
        </p:txBody>
      </p:sp>
      <p:sp>
        <p:nvSpPr>
          <p:cNvPr id="40" name="Text 36"/>
          <p:cNvSpPr/>
          <p:nvPr/>
        </p:nvSpPr>
        <p:spPr>
          <a:xfrm>
            <a:off x="6245982" y="2973028"/>
            <a:ext cx="57150" cy="57150"/>
          </a:xfrm>
          <a:prstGeom prst="ellipse">
            <a:avLst/>
          </a:prstGeom>
          <a:solidFill>
            <a:srgbClr val="FF5C5C"/>
          </a:solidFill>
          <a:ln/>
        </p:spPr>
        <p:txBody>
          <a:bodyPr wrap="square" rtlCol="0" anchor="ctr"/>
          <a:lstStyle/>
          <a:p>
            <a:pPr indent="0" marL="0">
              <a:buNone/>
            </a:pPr>
            <a:endParaRPr lang="en-US" dirty="0"/>
          </a:p>
        </p:txBody>
      </p:sp>
      <p:sp>
        <p:nvSpPr>
          <p:cNvPr id="41" name="Text 37"/>
          <p:cNvSpPr/>
          <p:nvPr/>
        </p:nvSpPr>
        <p:spPr>
          <a:xfrm>
            <a:off x="6374569" y="2923022"/>
            <a:ext cx="2047801" cy="164592"/>
          </a:xfrm>
          <a:prstGeom prst="rect">
            <a:avLst/>
          </a:prstGeom>
          <a:noFill/>
          <a:ln/>
        </p:spPr>
        <p:txBody>
          <a:bodyPr wrap="square" lIns="0" tIns="0" rIns="0" bIns="0" rtlCol="0" anchor="t"/>
          <a:lstStyle/>
          <a:p>
            <a:pPr algn="l" indent="0" marL="0">
              <a:lnSpc>
                <a:spcPts val="1139"/>
              </a:lnSpc>
              <a:buNone/>
            </a:pPr>
            <a:r>
              <a:rPr lang="en-US" sz="759" dirty="0">
                <a:solidFill>
                  <a:srgbClr val="94A3B8"/>
                </a:solidFill>
                <a:latin typeface="Carlito" pitchFamily="34" charset="0"/>
                <a:ea typeface="Carlito" pitchFamily="34" charset="-122"/>
                <a:cs typeface="Carlito" pitchFamily="34" charset="-120"/>
              </a:rPr>
              <a:t>Built for order placement, not advice</a:t>
            </a:r>
            <a:endParaRPr lang="en-US" sz="759" dirty="0"/>
          </a:p>
        </p:txBody>
      </p:sp>
      <p:sp>
        <p:nvSpPr>
          <p:cNvPr id="42" name="Text 38"/>
          <p:cNvSpPr/>
          <p:nvPr/>
        </p:nvSpPr>
        <p:spPr>
          <a:xfrm>
            <a:off x="6245982" y="3189126"/>
            <a:ext cx="57150" cy="57150"/>
          </a:xfrm>
          <a:prstGeom prst="ellipse">
            <a:avLst/>
          </a:prstGeom>
          <a:solidFill>
            <a:srgbClr val="FF5C5C"/>
          </a:solidFill>
          <a:ln/>
        </p:spPr>
        <p:txBody>
          <a:bodyPr wrap="square" rtlCol="0" anchor="ctr"/>
          <a:lstStyle/>
          <a:p>
            <a:pPr indent="0" marL="0">
              <a:buNone/>
            </a:pPr>
            <a:endParaRPr lang="en-US" dirty="0"/>
          </a:p>
        </p:txBody>
      </p:sp>
      <p:sp>
        <p:nvSpPr>
          <p:cNvPr id="43" name="Text 39"/>
          <p:cNvSpPr/>
          <p:nvPr/>
        </p:nvSpPr>
        <p:spPr>
          <a:xfrm>
            <a:off x="6374569" y="3139120"/>
            <a:ext cx="2047801" cy="164592"/>
          </a:xfrm>
          <a:prstGeom prst="rect">
            <a:avLst/>
          </a:prstGeom>
          <a:noFill/>
          <a:ln/>
        </p:spPr>
        <p:txBody>
          <a:bodyPr wrap="non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No goal-based planning</a:t>
            </a:r>
            <a:endParaRPr lang="en-US" sz="800" dirty="0"/>
          </a:p>
        </p:txBody>
      </p:sp>
      <p:sp>
        <p:nvSpPr>
          <p:cNvPr id="44" name="Text 40"/>
          <p:cNvSpPr/>
          <p:nvPr/>
        </p:nvSpPr>
        <p:spPr>
          <a:xfrm>
            <a:off x="6245982" y="3405225"/>
            <a:ext cx="57150" cy="57150"/>
          </a:xfrm>
          <a:prstGeom prst="ellipse">
            <a:avLst/>
          </a:prstGeom>
          <a:solidFill>
            <a:srgbClr val="FF5C5C"/>
          </a:solidFill>
          <a:ln/>
        </p:spPr>
        <p:txBody>
          <a:bodyPr wrap="square" rtlCol="0" anchor="ctr"/>
          <a:lstStyle/>
          <a:p>
            <a:pPr indent="0" marL="0">
              <a:buNone/>
            </a:pPr>
            <a:endParaRPr lang="en-US" dirty="0"/>
          </a:p>
        </p:txBody>
      </p:sp>
      <p:sp>
        <p:nvSpPr>
          <p:cNvPr id="45" name="Text 41"/>
          <p:cNvSpPr/>
          <p:nvPr/>
        </p:nvSpPr>
        <p:spPr>
          <a:xfrm>
            <a:off x="6374569" y="3355218"/>
            <a:ext cx="2047801" cy="164592"/>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No risk-calibrated recommendations</a:t>
            </a:r>
            <a:endParaRPr lang="en-US" sz="800" dirty="0"/>
          </a:p>
        </p:txBody>
      </p:sp>
      <p:sp>
        <p:nvSpPr>
          <p:cNvPr id="46" name="Text 42"/>
          <p:cNvSpPr/>
          <p:nvPr/>
        </p:nvSpPr>
        <p:spPr>
          <a:xfrm>
            <a:off x="6245982" y="3621323"/>
            <a:ext cx="57150" cy="57150"/>
          </a:xfrm>
          <a:prstGeom prst="ellipse">
            <a:avLst/>
          </a:prstGeom>
          <a:solidFill>
            <a:srgbClr val="FF5C5C"/>
          </a:solidFill>
          <a:ln/>
        </p:spPr>
        <p:txBody>
          <a:bodyPr wrap="square" rtlCol="0" anchor="ctr"/>
          <a:lstStyle/>
          <a:p>
            <a:pPr indent="0" marL="0">
              <a:buNone/>
            </a:pPr>
            <a:endParaRPr lang="en-US" dirty="0"/>
          </a:p>
        </p:txBody>
      </p:sp>
      <p:sp>
        <p:nvSpPr>
          <p:cNvPr id="47" name="Text 43"/>
          <p:cNvSpPr/>
          <p:nvPr/>
        </p:nvSpPr>
        <p:spPr>
          <a:xfrm>
            <a:off x="6374569" y="3571317"/>
            <a:ext cx="2047801" cy="329184"/>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UX optimized for traders, not first-time investors</a:t>
            </a:r>
            <a:endParaRPr lang="en-US" sz="800" dirty="0"/>
          </a:p>
        </p:txBody>
      </p:sp>
      <p:sp>
        <p:nvSpPr>
          <p:cNvPr id="48" name="Text 44"/>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Liberation Sans Narrow" pitchFamily="34" charset="0"/>
                <a:ea typeface="Liberation Sans Narrow" pitchFamily="34" charset="-122"/>
                <a:cs typeface="Liberation Sans Narrow" pitchFamily="34" charset="-120"/>
              </a:rPr>
              <a:t>LATENT.PK · PROBLEM 03</a:t>
            </a:r>
            <a:endParaRPr lang="en-US" sz="800" dirty="0"/>
          </a:p>
        </p:txBody>
      </p:sp>
      <p:sp>
        <p:nvSpPr>
          <p:cNvPr id="49" name="Text 45"/>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05 / 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50000"/>
          </a:blip>
          <a:stretch>
            <a:fillRect/>
          </a:stretch>
        </p:blipFill>
        <p:spPr>
          <a:xfrm>
            <a:off x="6429375" y="-1285875"/>
            <a:ext cx="3857625" cy="3857625"/>
          </a:xfrm>
          <a:prstGeom prst="rect">
            <a:avLst/>
          </a:prstGeom>
        </p:spPr>
      </p:pic>
      <p:sp>
        <p:nvSpPr>
          <p:cNvPr id="4" name="Text 0"/>
          <p:cNvSpPr/>
          <p:nvPr/>
        </p:nvSpPr>
        <p:spPr>
          <a:xfrm>
            <a:off x="6429375" y="-1285875"/>
            <a:ext cx="3857625" cy="3857625"/>
          </a:xfrm>
          <a:prstGeom prst="ellipse">
            <a:avLst/>
          </a:prstGeom>
          <a:solidFill>
            <a:srgbClr val="00E676">
              <a:alpha val="0"/>
            </a:srgbClr>
          </a:solidFill>
          <a:ln/>
        </p:spPr>
        <p:txBody>
          <a:bodyPr wrap="square" rtlCol="0" anchor="ctr"/>
          <a:lstStyle/>
          <a:p>
            <a:pPr indent="0" marL="0">
              <a:buNone/>
            </a:pPr>
            <a:endParaRPr lang="en-US" dirty="0"/>
          </a:p>
        </p:txBody>
      </p:sp>
      <p:sp>
        <p:nvSpPr>
          <p:cNvPr id="5" name="Shape 1"/>
          <p:cNvSpPr/>
          <p:nvPr/>
        </p:nvSpPr>
        <p:spPr>
          <a:xfrm>
            <a:off x="514350" y="2852589"/>
            <a:ext cx="4048497" cy="0"/>
          </a:xfrm>
          <a:prstGeom prst="line">
            <a:avLst/>
          </a:prstGeom>
          <a:noFill/>
          <a:ln w="7144">
            <a:solidFill>
              <a:srgbClr val="FFFFFF"/>
            </a:solidFill>
            <a:prstDash val="solid"/>
          </a:ln>
        </p:spPr>
      </p:sp>
      <p:sp>
        <p:nvSpPr>
          <p:cNvPr id="6" name="Shape 2"/>
          <p:cNvSpPr/>
          <p:nvPr/>
        </p:nvSpPr>
        <p:spPr>
          <a:xfrm>
            <a:off x="4559275" y="2849017"/>
            <a:ext cx="0" cy="832247"/>
          </a:xfrm>
          <a:prstGeom prst="line">
            <a:avLst/>
          </a:prstGeom>
          <a:noFill/>
          <a:ln w="7144">
            <a:solidFill>
              <a:srgbClr val="FFFFFF"/>
            </a:solidFill>
            <a:prstDash val="solid"/>
          </a:ln>
        </p:spPr>
      </p:sp>
      <p:sp>
        <p:nvSpPr>
          <p:cNvPr id="7" name="Shape 3"/>
          <p:cNvSpPr/>
          <p:nvPr/>
        </p:nvSpPr>
        <p:spPr>
          <a:xfrm>
            <a:off x="514350" y="3677692"/>
            <a:ext cx="4048497" cy="0"/>
          </a:xfrm>
          <a:prstGeom prst="line">
            <a:avLst/>
          </a:prstGeom>
          <a:noFill/>
          <a:ln w="7144">
            <a:solidFill>
              <a:srgbClr val="FFFFFF"/>
            </a:solidFill>
            <a:prstDash val="solid"/>
          </a:ln>
        </p:spPr>
      </p:sp>
      <p:sp>
        <p:nvSpPr>
          <p:cNvPr id="8" name="Shape 4"/>
          <p:cNvSpPr/>
          <p:nvPr/>
        </p:nvSpPr>
        <p:spPr>
          <a:xfrm>
            <a:off x="528638" y="2849017"/>
            <a:ext cx="0" cy="832247"/>
          </a:xfrm>
          <a:prstGeom prst="line">
            <a:avLst/>
          </a:prstGeom>
          <a:noFill/>
          <a:ln w="28575">
            <a:solidFill>
              <a:srgbClr val="00E676"/>
            </a:solidFill>
            <a:prstDash val="solid"/>
          </a:ln>
        </p:spPr>
      </p:sp>
      <p:sp>
        <p:nvSpPr>
          <p:cNvPr id="9" name="Shape 5"/>
          <p:cNvSpPr/>
          <p:nvPr/>
        </p:nvSpPr>
        <p:spPr>
          <a:xfrm>
            <a:off x="514350" y="3770561"/>
            <a:ext cx="4048497" cy="0"/>
          </a:xfrm>
          <a:prstGeom prst="line">
            <a:avLst/>
          </a:prstGeom>
          <a:noFill/>
          <a:ln w="7144">
            <a:solidFill>
              <a:srgbClr val="FFFFFF"/>
            </a:solidFill>
            <a:prstDash val="solid"/>
          </a:ln>
        </p:spPr>
      </p:sp>
      <p:sp>
        <p:nvSpPr>
          <p:cNvPr id="10" name="Shape 6"/>
          <p:cNvSpPr/>
          <p:nvPr/>
        </p:nvSpPr>
        <p:spPr>
          <a:xfrm>
            <a:off x="4559275" y="3766989"/>
            <a:ext cx="0" cy="832247"/>
          </a:xfrm>
          <a:prstGeom prst="line">
            <a:avLst/>
          </a:prstGeom>
          <a:noFill/>
          <a:ln w="7144">
            <a:solidFill>
              <a:srgbClr val="FFFFFF"/>
            </a:solidFill>
            <a:prstDash val="solid"/>
          </a:ln>
        </p:spPr>
      </p:sp>
      <p:sp>
        <p:nvSpPr>
          <p:cNvPr id="11" name="Shape 7"/>
          <p:cNvSpPr/>
          <p:nvPr/>
        </p:nvSpPr>
        <p:spPr>
          <a:xfrm>
            <a:off x="514350" y="4595664"/>
            <a:ext cx="4048497" cy="0"/>
          </a:xfrm>
          <a:prstGeom prst="line">
            <a:avLst/>
          </a:prstGeom>
          <a:noFill/>
          <a:ln w="7144">
            <a:solidFill>
              <a:srgbClr val="FFFFFF"/>
            </a:solidFill>
            <a:prstDash val="solid"/>
          </a:ln>
        </p:spPr>
      </p:sp>
      <p:sp>
        <p:nvSpPr>
          <p:cNvPr id="12" name="Shape 8"/>
          <p:cNvSpPr/>
          <p:nvPr/>
        </p:nvSpPr>
        <p:spPr>
          <a:xfrm>
            <a:off x="528638" y="3766989"/>
            <a:ext cx="0" cy="832247"/>
          </a:xfrm>
          <a:prstGeom prst="line">
            <a:avLst/>
          </a:prstGeom>
          <a:noFill/>
          <a:ln w="28575">
            <a:solidFill>
              <a:srgbClr val="22E881"/>
            </a:solidFill>
            <a:prstDash val="solid"/>
          </a:ln>
        </p:spPr>
      </p:sp>
      <p:sp>
        <p:nvSpPr>
          <p:cNvPr id="13" name="Shape 9"/>
          <p:cNvSpPr/>
          <p:nvPr/>
        </p:nvSpPr>
        <p:spPr>
          <a:xfrm>
            <a:off x="514350" y="4688532"/>
            <a:ext cx="4048497" cy="0"/>
          </a:xfrm>
          <a:prstGeom prst="line">
            <a:avLst/>
          </a:prstGeom>
          <a:noFill/>
          <a:ln w="7144">
            <a:solidFill>
              <a:srgbClr val="FFFFFF"/>
            </a:solidFill>
            <a:prstDash val="solid"/>
          </a:ln>
        </p:spPr>
      </p:sp>
      <p:sp>
        <p:nvSpPr>
          <p:cNvPr id="14" name="Shape 10"/>
          <p:cNvSpPr/>
          <p:nvPr/>
        </p:nvSpPr>
        <p:spPr>
          <a:xfrm>
            <a:off x="4559275" y="4684961"/>
            <a:ext cx="0" cy="832247"/>
          </a:xfrm>
          <a:prstGeom prst="line">
            <a:avLst/>
          </a:prstGeom>
          <a:noFill/>
          <a:ln w="7144">
            <a:solidFill>
              <a:srgbClr val="FFFFFF"/>
            </a:solidFill>
            <a:prstDash val="solid"/>
          </a:ln>
        </p:spPr>
      </p:sp>
      <p:sp>
        <p:nvSpPr>
          <p:cNvPr id="15" name="Shape 11"/>
          <p:cNvSpPr/>
          <p:nvPr/>
        </p:nvSpPr>
        <p:spPr>
          <a:xfrm>
            <a:off x="514350" y="5513636"/>
            <a:ext cx="4048497" cy="0"/>
          </a:xfrm>
          <a:prstGeom prst="line">
            <a:avLst/>
          </a:prstGeom>
          <a:noFill/>
          <a:ln w="7144">
            <a:solidFill>
              <a:srgbClr val="FFFFFF"/>
            </a:solidFill>
            <a:prstDash val="solid"/>
          </a:ln>
        </p:spPr>
      </p:sp>
      <p:sp>
        <p:nvSpPr>
          <p:cNvPr id="16" name="Shape 12"/>
          <p:cNvSpPr/>
          <p:nvPr/>
        </p:nvSpPr>
        <p:spPr>
          <a:xfrm>
            <a:off x="528638" y="4684961"/>
            <a:ext cx="0" cy="832247"/>
          </a:xfrm>
          <a:prstGeom prst="line">
            <a:avLst/>
          </a:prstGeom>
          <a:noFill/>
          <a:ln w="28575">
            <a:solidFill>
              <a:srgbClr val="FBBF24"/>
            </a:solidFill>
            <a:prstDash val="solid"/>
          </a:ln>
        </p:spPr>
      </p:sp>
      <p:sp>
        <p:nvSpPr>
          <p:cNvPr id="17" name="Text 13"/>
          <p:cNvSpPr/>
          <p:nvPr/>
        </p:nvSpPr>
        <p:spPr>
          <a:xfrm>
            <a:off x="514350" y="439341"/>
            <a:ext cx="71438" cy="71438"/>
          </a:xfrm>
          <a:prstGeom prst="ellipse">
            <a:avLst/>
          </a:prstGeom>
          <a:solidFill>
            <a:srgbClr val="00E676"/>
          </a:solidFill>
          <a:ln/>
        </p:spPr>
        <p:txBody>
          <a:bodyPr wrap="square" rtlCol="0" anchor="ctr"/>
          <a:lstStyle/>
          <a:p>
            <a:pPr indent="0" marL="0">
              <a:buNone/>
            </a:pPr>
            <a:endParaRPr lang="en-US" dirty="0"/>
          </a:p>
        </p:txBody>
      </p:sp>
      <p:sp>
        <p:nvSpPr>
          <p:cNvPr id="18" name="Text 14"/>
          <p:cNvSpPr/>
          <p:nvPr/>
        </p:nvSpPr>
        <p:spPr>
          <a:xfrm>
            <a:off x="642938" y="400050"/>
            <a:ext cx="682228" cy="164592"/>
          </a:xfrm>
          <a:prstGeom prst="rect">
            <a:avLst/>
          </a:prstGeom>
          <a:noFill/>
          <a:ln/>
        </p:spPr>
        <p:txBody>
          <a:bodyPr wrap="none" lIns="0" tIns="0" rIns="0" bIns="0" rtlCol="0" anchor="t"/>
          <a:lstStyle/>
          <a:p>
            <a:pPr algn="l" indent="0" marL="0">
              <a:lnSpc>
                <a:spcPts val="1181"/>
              </a:lnSpc>
              <a:buNone/>
            </a:pPr>
            <a:r>
              <a:rPr lang="en-US" sz="800" b="1" spc="-8" kern="0" dirty="0">
                <a:solidFill>
                  <a:srgbClr val="F4F7FB"/>
                </a:solidFill>
                <a:latin typeface="Carlito" pitchFamily="34" charset="0"/>
                <a:ea typeface="Carlito" pitchFamily="34" charset="-122"/>
                <a:cs typeface="Carlito" pitchFamily="34" charset="-120"/>
              </a:rPr>
              <a:t>Latent.pk</a:t>
            </a:r>
            <a:endParaRPr lang="en-US" sz="800" dirty="0"/>
          </a:p>
        </p:txBody>
      </p:sp>
      <p:sp>
        <p:nvSpPr>
          <p:cNvPr id="19" name="Text 15"/>
          <p:cNvSpPr/>
          <p:nvPr/>
        </p:nvSpPr>
        <p:spPr>
          <a:xfrm>
            <a:off x="7425928" y="416123"/>
            <a:ext cx="1522482"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64748B"/>
                </a:solidFill>
                <a:latin typeface="Liberation Sans Narrow" pitchFamily="34" charset="0"/>
                <a:ea typeface="Liberation Sans Narrow" pitchFamily="34" charset="-122"/>
                <a:cs typeface="Liberation Sans Narrow" pitchFamily="34" charset="-120"/>
              </a:rPr>
              <a:t>INVESTOR DECK · 2026</a:t>
            </a:r>
            <a:endParaRPr lang="en-US" sz="800" dirty="0"/>
          </a:p>
        </p:txBody>
      </p:sp>
      <p:sp>
        <p:nvSpPr>
          <p:cNvPr id="20" name="Text 16"/>
          <p:cNvSpPr/>
          <p:nvPr/>
        </p:nvSpPr>
        <p:spPr>
          <a:xfrm>
            <a:off x="517922" y="682228"/>
            <a:ext cx="4041353" cy="232172"/>
          </a:xfrm>
          <a:prstGeom prst="roundRect">
            <a:avLst>
              <a:gd name="adj" fmla="val 4098459"/>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21" name="Text 17"/>
          <p:cNvSpPr/>
          <p:nvPr/>
        </p:nvSpPr>
        <p:spPr>
          <a:xfrm>
            <a:off x="514350" y="678656"/>
            <a:ext cx="4048497"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MARKET SIZE</a:t>
            </a:r>
            <a:endParaRPr lang="en-US" sz="800" dirty="0"/>
          </a:p>
        </p:txBody>
      </p:sp>
      <p:sp>
        <p:nvSpPr>
          <p:cNvPr id="22" name="Text 18"/>
          <p:cNvSpPr/>
          <p:nvPr/>
        </p:nvSpPr>
        <p:spPr>
          <a:xfrm>
            <a:off x="514350" y="1032272"/>
            <a:ext cx="4048497" cy="1069044"/>
          </a:xfrm>
          <a:prstGeom prst="rect">
            <a:avLst/>
          </a:prstGeom>
          <a:noFill/>
          <a:ln/>
        </p:spPr>
        <p:txBody>
          <a:bodyPr wrap="square" lIns="0" tIns="0" rIns="0" bIns="0" rtlCol="0" anchor="t"/>
          <a:lstStyle/>
          <a:p>
            <a:pPr algn="l" indent="0" marL="0">
              <a:lnSpc>
                <a:spcPts val="2599"/>
              </a:lnSpc>
              <a:buNone/>
            </a:pPr>
            <a:r>
              <a:rPr lang="en-US" sz="2363" b="1" spc="-47" kern="0" dirty="0">
                <a:solidFill>
                  <a:srgbClr val="F4F7FB"/>
                </a:solidFill>
                <a:latin typeface="Carlito" pitchFamily="34" charset="0"/>
                <a:ea typeface="Carlito" pitchFamily="34" charset="-122"/>
                <a:cs typeface="Carlito" pitchFamily="34" charset="-120"/>
              </a:rPr>
              <a:t>A $60B+ addressable retail wealth pool by 2030.</a:t>
            </a:r>
            <a:endParaRPr lang="en-US" sz="2363" dirty="0"/>
          </a:p>
        </p:txBody>
      </p:sp>
      <p:sp>
        <p:nvSpPr>
          <p:cNvPr id="23" name="Text 19"/>
          <p:cNvSpPr/>
          <p:nvPr/>
        </p:nvSpPr>
        <p:spPr>
          <a:xfrm>
            <a:off x="514350" y="2150715"/>
            <a:ext cx="4048497" cy="538139"/>
          </a:xfrm>
          <a:prstGeom prst="rect">
            <a:avLst/>
          </a:prstGeom>
          <a:noFill/>
          <a:ln/>
        </p:spPr>
        <p:txBody>
          <a:bodyPr wrap="square" lIns="0" tIns="0" rIns="0" bIns="0" rtlCol="0" anchor="t"/>
          <a:lstStyle/>
          <a:p>
            <a:pPr algn="l" indent="0" marL="0">
              <a:lnSpc>
                <a:spcPts val="1308"/>
              </a:lnSpc>
              <a:buNone/>
            </a:pPr>
            <a:r>
              <a:rPr lang="en-US" sz="844" dirty="0">
                <a:solidFill>
                  <a:srgbClr val="94A3B8"/>
                </a:solidFill>
                <a:latin typeface="Carlito" pitchFamily="34" charset="0"/>
                <a:ea typeface="Carlito" pitchFamily="34" charset="-122"/>
                <a:cs typeface="Carlito" pitchFamily="34" charset="-120"/>
              </a:rPr>
              <a:t>If Pakistan's retail participation rate converges to even half of India's current level, the addressable retail capital on PSX grows by an order of magnitude in the next five years.</a:t>
            </a:r>
            <a:endParaRPr lang="en-US" sz="844" dirty="0"/>
          </a:p>
        </p:txBody>
      </p:sp>
      <p:sp>
        <p:nvSpPr>
          <p:cNvPr id="24" name="Text 20"/>
          <p:cNvSpPr/>
          <p:nvPr/>
        </p:nvSpPr>
        <p:spPr>
          <a:xfrm>
            <a:off x="514350" y="2849017"/>
            <a:ext cx="4048497" cy="832247"/>
          </a:xfrm>
          <a:prstGeom prst="roundRect">
            <a:avLst>
              <a:gd name="adj" fmla="val 13734"/>
            </a:avLst>
          </a:prstGeom>
          <a:solidFill>
            <a:srgbClr val="131829"/>
          </a:solidFill>
          <a:ln/>
        </p:spPr>
        <p:txBody>
          <a:bodyPr wrap="square" rtlCol="0" anchor="ctr"/>
          <a:lstStyle/>
          <a:p>
            <a:pPr indent="0" marL="0">
              <a:buNone/>
            </a:pPr>
            <a:endParaRPr lang="en-US" dirty="0"/>
          </a:p>
        </p:txBody>
      </p:sp>
      <p:sp>
        <p:nvSpPr>
          <p:cNvPr id="25" name="Text 21"/>
          <p:cNvSpPr/>
          <p:nvPr/>
        </p:nvSpPr>
        <p:spPr>
          <a:xfrm>
            <a:off x="700088" y="3077617"/>
            <a:ext cx="3134320" cy="164592"/>
          </a:xfrm>
          <a:prstGeom prst="rect">
            <a:avLst/>
          </a:prstGeom>
          <a:noFill/>
          <a:ln/>
        </p:spPr>
        <p:txBody>
          <a:bodyPr wrap="none" lIns="0" tIns="0" rIns="0" bIns="0" rtlCol="0" anchor="t"/>
          <a:lstStyle/>
          <a:p>
            <a:pPr algn="l" indent="0" marL="0">
              <a:lnSpc>
                <a:spcPts val="1013"/>
              </a:lnSpc>
              <a:buNone/>
            </a:pPr>
            <a:r>
              <a:rPr lang="en-US" sz="800" b="1" spc="81" kern="0" dirty="0">
                <a:solidFill>
                  <a:srgbClr val="00E676"/>
                </a:solidFill>
                <a:latin typeface="Carlito" pitchFamily="34" charset="0"/>
                <a:ea typeface="Carlito" pitchFamily="34" charset="-122"/>
                <a:cs typeface="Carlito" pitchFamily="34" charset="-120"/>
              </a:rPr>
              <a:t>TAM</a:t>
            </a:r>
            <a:endParaRPr lang="en-US" sz="800" dirty="0"/>
          </a:p>
        </p:txBody>
      </p:sp>
      <p:sp>
        <p:nvSpPr>
          <p:cNvPr id="26" name="Text 22"/>
          <p:cNvSpPr/>
          <p:nvPr/>
        </p:nvSpPr>
        <p:spPr>
          <a:xfrm>
            <a:off x="3788659" y="2970461"/>
            <a:ext cx="669918" cy="300895"/>
          </a:xfrm>
          <a:prstGeom prst="rect">
            <a:avLst/>
          </a:prstGeom>
          <a:noFill/>
          <a:ln/>
        </p:spPr>
        <p:txBody>
          <a:bodyPr wrap="none" lIns="0" tIns="0" rIns="0" bIns="0" rtlCol="0" anchor="t"/>
          <a:lstStyle/>
          <a:p>
            <a:pPr algn="l" indent="0" marL="0">
              <a:lnSpc>
                <a:spcPts val="2194"/>
              </a:lnSpc>
              <a:buNone/>
            </a:pPr>
            <a:r>
              <a:rPr lang="en-US" sz="1463" b="1" spc="-15" kern="0" dirty="0">
                <a:solidFill>
                  <a:srgbClr val="F4F7FB"/>
                </a:solidFill>
                <a:latin typeface="Liberation Sans Narrow" pitchFamily="34" charset="0"/>
                <a:ea typeface="Liberation Sans Narrow" pitchFamily="34" charset="-122"/>
                <a:cs typeface="Liberation Sans Narrow" pitchFamily="34" charset="-120"/>
              </a:rPr>
              <a:t>$60B+</a:t>
            </a:r>
            <a:endParaRPr lang="en-US" sz="1463" dirty="0"/>
          </a:p>
        </p:txBody>
      </p:sp>
      <p:sp>
        <p:nvSpPr>
          <p:cNvPr id="27" name="Text 23"/>
          <p:cNvSpPr/>
          <p:nvPr/>
        </p:nvSpPr>
        <p:spPr>
          <a:xfrm>
            <a:off x="700088" y="3291929"/>
            <a:ext cx="3698453" cy="267891"/>
          </a:xfrm>
          <a:prstGeom prst="rect">
            <a:avLst/>
          </a:prstGeom>
          <a:noFill/>
          <a:ln/>
        </p:spPr>
        <p:txBody>
          <a:bodyPr wrap="square" lIns="0" tIns="0" rIns="0" bIns="0" rtlCol="0" anchor="t"/>
          <a:lstStyle/>
          <a:p>
            <a:pPr algn="l" indent="0" marL="0">
              <a:lnSpc>
                <a:spcPts val="1055"/>
              </a:lnSpc>
              <a:buNone/>
            </a:pPr>
            <a:r>
              <a:rPr lang="en-US" sz="800" dirty="0">
                <a:solidFill>
                  <a:srgbClr val="94A3B8"/>
                </a:solidFill>
                <a:latin typeface="Carlito" pitchFamily="34" charset="0"/>
                <a:ea typeface="Carlito" pitchFamily="34" charset="-122"/>
                <a:cs typeface="Carlito" pitchFamily="34" charset="-120"/>
              </a:rPr>
              <a:t>Projected retail investable wealth in Pakistan by 2030. Assumes participation rate converges toward 50% of India's current level.</a:t>
            </a:r>
            <a:endParaRPr lang="en-US" sz="800" dirty="0"/>
          </a:p>
        </p:txBody>
      </p:sp>
      <p:sp>
        <p:nvSpPr>
          <p:cNvPr id="28" name="Text 24"/>
          <p:cNvSpPr/>
          <p:nvPr/>
        </p:nvSpPr>
        <p:spPr>
          <a:xfrm>
            <a:off x="514350" y="3766989"/>
            <a:ext cx="4048497" cy="832247"/>
          </a:xfrm>
          <a:prstGeom prst="roundRect">
            <a:avLst>
              <a:gd name="adj" fmla="val 13734"/>
            </a:avLst>
          </a:prstGeom>
          <a:solidFill>
            <a:srgbClr val="131829"/>
          </a:solidFill>
          <a:ln/>
        </p:spPr>
        <p:txBody>
          <a:bodyPr wrap="square" rtlCol="0" anchor="ctr"/>
          <a:lstStyle/>
          <a:p>
            <a:pPr indent="0" marL="0">
              <a:buNone/>
            </a:pPr>
            <a:endParaRPr lang="en-US" dirty="0"/>
          </a:p>
        </p:txBody>
      </p:sp>
      <p:sp>
        <p:nvSpPr>
          <p:cNvPr id="29" name="Text 25"/>
          <p:cNvSpPr/>
          <p:nvPr/>
        </p:nvSpPr>
        <p:spPr>
          <a:xfrm>
            <a:off x="700088" y="3995589"/>
            <a:ext cx="3244267" cy="164592"/>
          </a:xfrm>
          <a:prstGeom prst="rect">
            <a:avLst/>
          </a:prstGeom>
          <a:noFill/>
          <a:ln/>
        </p:spPr>
        <p:txBody>
          <a:bodyPr wrap="none" lIns="0" tIns="0" rIns="0" bIns="0" rtlCol="0" anchor="t"/>
          <a:lstStyle/>
          <a:p>
            <a:pPr algn="l" indent="0" marL="0">
              <a:lnSpc>
                <a:spcPts val="1013"/>
              </a:lnSpc>
              <a:buNone/>
            </a:pPr>
            <a:r>
              <a:rPr lang="en-US" sz="800" b="1" spc="81" kern="0" dirty="0">
                <a:solidFill>
                  <a:srgbClr val="22E881"/>
                </a:solidFill>
                <a:latin typeface="Carlito" pitchFamily="34" charset="0"/>
                <a:ea typeface="Carlito" pitchFamily="34" charset="-122"/>
                <a:cs typeface="Carlito" pitchFamily="34" charset="-120"/>
              </a:rPr>
              <a:t>SAM</a:t>
            </a:r>
            <a:endParaRPr lang="en-US" sz="800" dirty="0"/>
          </a:p>
        </p:txBody>
      </p:sp>
      <p:sp>
        <p:nvSpPr>
          <p:cNvPr id="30" name="Text 26"/>
          <p:cNvSpPr/>
          <p:nvPr/>
        </p:nvSpPr>
        <p:spPr>
          <a:xfrm>
            <a:off x="3892946" y="3888432"/>
            <a:ext cx="571291" cy="300895"/>
          </a:xfrm>
          <a:prstGeom prst="rect">
            <a:avLst/>
          </a:prstGeom>
          <a:noFill/>
          <a:ln/>
        </p:spPr>
        <p:txBody>
          <a:bodyPr wrap="none" lIns="0" tIns="0" rIns="0" bIns="0" rtlCol="0" anchor="t"/>
          <a:lstStyle/>
          <a:p>
            <a:pPr algn="l" indent="0" marL="0">
              <a:lnSpc>
                <a:spcPts val="2194"/>
              </a:lnSpc>
              <a:buNone/>
            </a:pPr>
            <a:r>
              <a:rPr lang="en-US" sz="1463" b="1" spc="-15" kern="0" dirty="0">
                <a:solidFill>
                  <a:srgbClr val="F4F7FB"/>
                </a:solidFill>
                <a:latin typeface="Liberation Sans Narrow" pitchFamily="34" charset="0"/>
                <a:ea typeface="Liberation Sans Narrow" pitchFamily="34" charset="-122"/>
                <a:cs typeface="Liberation Sans Narrow" pitchFamily="34" charset="-120"/>
              </a:rPr>
              <a:t>$14B</a:t>
            </a:r>
            <a:endParaRPr lang="en-US" sz="1463" dirty="0"/>
          </a:p>
        </p:txBody>
      </p:sp>
      <p:sp>
        <p:nvSpPr>
          <p:cNvPr id="31" name="Text 27"/>
          <p:cNvSpPr/>
          <p:nvPr/>
        </p:nvSpPr>
        <p:spPr>
          <a:xfrm>
            <a:off x="700088" y="4209901"/>
            <a:ext cx="3698453" cy="267891"/>
          </a:xfrm>
          <a:prstGeom prst="rect">
            <a:avLst/>
          </a:prstGeom>
          <a:noFill/>
          <a:ln/>
        </p:spPr>
        <p:txBody>
          <a:bodyPr wrap="square" lIns="0" tIns="0" rIns="0" bIns="0" rtlCol="0" anchor="t"/>
          <a:lstStyle/>
          <a:p>
            <a:pPr algn="l" indent="0" marL="0">
              <a:lnSpc>
                <a:spcPts val="1055"/>
              </a:lnSpc>
              <a:buNone/>
            </a:pPr>
            <a:r>
              <a:rPr lang="en-US" sz="800" dirty="0">
                <a:solidFill>
                  <a:srgbClr val="94A3B8"/>
                </a:solidFill>
                <a:latin typeface="Carlito" pitchFamily="34" charset="0"/>
                <a:ea typeface="Carlito" pitchFamily="34" charset="-122"/>
                <a:cs typeface="Carlito" pitchFamily="34" charset="-120"/>
              </a:rPr>
              <a:t>Digital-reachable: 8–10M Pakistanis with smartphones, bank accounts, and disposable income above PKR 100K/month.</a:t>
            </a:r>
            <a:endParaRPr lang="en-US" sz="800" dirty="0"/>
          </a:p>
        </p:txBody>
      </p:sp>
      <p:sp>
        <p:nvSpPr>
          <p:cNvPr id="32" name="Text 28"/>
          <p:cNvSpPr/>
          <p:nvPr/>
        </p:nvSpPr>
        <p:spPr>
          <a:xfrm>
            <a:off x="514350" y="4684961"/>
            <a:ext cx="4048497" cy="832247"/>
          </a:xfrm>
          <a:prstGeom prst="roundRect">
            <a:avLst>
              <a:gd name="adj" fmla="val 13734"/>
            </a:avLst>
          </a:prstGeom>
          <a:solidFill>
            <a:srgbClr val="131829"/>
          </a:solidFill>
          <a:ln/>
        </p:spPr>
        <p:txBody>
          <a:bodyPr wrap="square" rtlCol="0" anchor="ctr"/>
          <a:lstStyle/>
          <a:p>
            <a:pPr indent="0" marL="0">
              <a:buNone/>
            </a:pPr>
            <a:endParaRPr lang="en-US" dirty="0"/>
          </a:p>
        </p:txBody>
      </p:sp>
      <p:sp>
        <p:nvSpPr>
          <p:cNvPr id="33" name="Text 29"/>
          <p:cNvSpPr/>
          <p:nvPr/>
        </p:nvSpPr>
        <p:spPr>
          <a:xfrm>
            <a:off x="700088" y="4913561"/>
            <a:ext cx="2694422" cy="164592"/>
          </a:xfrm>
          <a:prstGeom prst="rect">
            <a:avLst/>
          </a:prstGeom>
          <a:noFill/>
          <a:ln/>
        </p:spPr>
        <p:txBody>
          <a:bodyPr wrap="none" lIns="0" tIns="0" rIns="0" bIns="0" rtlCol="0" anchor="t"/>
          <a:lstStyle/>
          <a:p>
            <a:pPr algn="l" indent="0" marL="0">
              <a:lnSpc>
                <a:spcPts val="1013"/>
              </a:lnSpc>
              <a:buNone/>
            </a:pPr>
            <a:r>
              <a:rPr lang="en-US" sz="800" b="1" spc="81" kern="0" dirty="0">
                <a:solidFill>
                  <a:srgbClr val="FBBF24"/>
                </a:solidFill>
                <a:latin typeface="Liberation Sans Narrow" pitchFamily="34" charset="0"/>
                <a:ea typeface="Liberation Sans Narrow" pitchFamily="34" charset="-122"/>
                <a:cs typeface="Liberation Sans Narrow" pitchFamily="34" charset="-120"/>
              </a:rPr>
              <a:t>SOM (36 MONTHS)</a:t>
            </a:r>
            <a:endParaRPr lang="en-US" sz="800" dirty="0"/>
          </a:p>
        </p:txBody>
      </p:sp>
      <p:sp>
        <p:nvSpPr>
          <p:cNvPr id="34" name="Text 30"/>
          <p:cNvSpPr/>
          <p:nvPr/>
        </p:nvSpPr>
        <p:spPr>
          <a:xfrm>
            <a:off x="3315568" y="4806404"/>
            <a:ext cx="1176201" cy="300895"/>
          </a:xfrm>
          <a:prstGeom prst="rect">
            <a:avLst/>
          </a:prstGeom>
          <a:noFill/>
          <a:ln/>
        </p:spPr>
        <p:txBody>
          <a:bodyPr wrap="none" lIns="0" tIns="0" rIns="0" bIns="0" rtlCol="0" anchor="t"/>
          <a:lstStyle/>
          <a:p>
            <a:pPr algn="l" indent="0" marL="0">
              <a:lnSpc>
                <a:spcPts val="2194"/>
              </a:lnSpc>
              <a:buNone/>
            </a:pPr>
            <a:r>
              <a:rPr lang="en-US" sz="1463" b="1" spc="-15" kern="0" dirty="0">
                <a:solidFill>
                  <a:srgbClr val="F4F7FB"/>
                </a:solidFill>
                <a:latin typeface="Liberation Sans Narrow" pitchFamily="34" charset="0"/>
                <a:ea typeface="Liberation Sans Narrow" pitchFamily="34" charset="-122"/>
                <a:cs typeface="Liberation Sans Narrow" pitchFamily="34" charset="-120"/>
              </a:rPr>
              <a:t>$420M AUM</a:t>
            </a:r>
            <a:endParaRPr lang="en-US" sz="1463" dirty="0"/>
          </a:p>
        </p:txBody>
      </p:sp>
      <p:sp>
        <p:nvSpPr>
          <p:cNvPr id="35" name="Text 31"/>
          <p:cNvSpPr/>
          <p:nvPr/>
        </p:nvSpPr>
        <p:spPr>
          <a:xfrm>
            <a:off x="700088" y="5127873"/>
            <a:ext cx="3698453" cy="91440"/>
          </a:xfrm>
          <a:prstGeom prst="rect">
            <a:avLst/>
          </a:prstGeom>
          <a:noFill/>
          <a:ln/>
        </p:spPr>
        <p:txBody>
          <a:bodyPr wrap="square" lIns="0" tIns="0" rIns="0" bIns="0" rtlCol="0" anchor="t"/>
          <a:lstStyle/>
          <a:p>
            <a:pPr algn="l" indent="0" marL="0">
              <a:lnSpc>
                <a:spcPts val="1055"/>
              </a:lnSpc>
              <a:buNone/>
            </a:pPr>
            <a:r>
              <a:rPr lang="en-US" sz="800" dirty="0">
                <a:solidFill>
                  <a:srgbClr val="94A3B8"/>
                </a:solidFill>
                <a:latin typeface="Carlito" pitchFamily="34" charset="0"/>
                <a:ea typeface="Carlito" pitchFamily="34" charset="-122"/>
                <a:cs typeface="Carlito" pitchFamily="34" charset="-120"/>
              </a:rPr>
              <a:t>Capturing 0.5% of SAM via subscription + tiered AUM fees by Q4 2028. Conservative; assumes 12.5% free→paid conversion.</a:t>
            </a:r>
            <a:endParaRPr lang="en-US" sz="800" dirty="0"/>
          </a:p>
        </p:txBody>
      </p:sp>
      <p:pic>
        <p:nvPicPr>
          <p:cNvPr id="36" name="Image 2" descr="preencoded.png">    </p:cNvPr>
          <p:cNvPicPr>
            <a:picLocks noChangeAspect="1"/>
          </p:cNvPicPr>
          <p:nvPr/>
        </p:nvPicPr>
        <p:blipFill>
          <a:blip r:embed="rId3"/>
          <a:stretch>
            <a:fillRect/>
          </a:stretch>
        </p:blipFill>
        <p:spPr>
          <a:xfrm>
            <a:off x="5110237" y="2201391"/>
            <a:ext cx="3143250" cy="642938"/>
          </a:xfrm>
          <a:prstGeom prst="rect">
            <a:avLst/>
          </a:prstGeom>
        </p:spPr>
      </p:pic>
      <p:sp>
        <p:nvSpPr>
          <p:cNvPr id="37" name="Text 32"/>
          <p:cNvSpPr/>
          <p:nvPr/>
        </p:nvSpPr>
        <p:spPr>
          <a:xfrm>
            <a:off x="5113809" y="2204963"/>
            <a:ext cx="3136106" cy="635794"/>
          </a:xfrm>
          <a:prstGeom prst="roundRect">
            <a:avLst>
              <a:gd name="adj" fmla="val 20974"/>
            </a:avLst>
          </a:prstGeom>
          <a:noFill/>
          <a:ln w="7144">
            <a:solidFill>
              <a:srgbClr val="00E676"/>
            </a:solidFill>
            <a:prstDash val="solid"/>
          </a:ln>
        </p:spPr>
        <p:txBody>
          <a:bodyPr wrap="square" rtlCol="0" anchor="ctr"/>
          <a:lstStyle/>
          <a:p>
            <a:pPr indent="0" marL="0">
              <a:buNone/>
            </a:pPr>
            <a:endParaRPr lang="en-US" dirty="0"/>
          </a:p>
        </p:txBody>
      </p:sp>
      <p:sp>
        <p:nvSpPr>
          <p:cNvPr id="38" name="Text 33"/>
          <p:cNvSpPr/>
          <p:nvPr/>
        </p:nvSpPr>
        <p:spPr>
          <a:xfrm>
            <a:off x="6243972" y="2331765"/>
            <a:ext cx="1120854" cy="236887"/>
          </a:xfrm>
          <a:prstGeom prst="rect">
            <a:avLst/>
          </a:prstGeom>
          <a:noFill/>
          <a:ln/>
        </p:spPr>
        <p:txBody>
          <a:bodyPr wrap="none" lIns="0" tIns="0" rIns="0" bIns="0" rtlCol="0" anchor="t">
            <a:normAutofit/>
          </a:bodyPr>
          <a:lstStyle/>
          <a:p>
            <a:pPr algn="l" indent="0" marL="0">
              <a:lnSpc>
                <a:spcPts val="1856"/>
              </a:lnSpc>
              <a:buNone/>
            </a:pPr>
            <a:r>
              <a:rPr lang="en-US" sz="1238" b="1" dirty="0">
                <a:solidFill>
                  <a:srgbClr val="00E676"/>
                </a:solidFill>
                <a:latin typeface="Liberation Sans Narrow" pitchFamily="34" charset="0"/>
                <a:ea typeface="Liberation Sans Narrow" pitchFamily="34" charset="-122"/>
                <a:cs typeface="Liberation Sans Narrow" pitchFamily="34" charset="-120"/>
              </a:rPr>
              <a:t>$60B TAM</a:t>
            </a:r>
            <a:endParaRPr lang="en-US" sz="1238" dirty="0"/>
          </a:p>
        </p:txBody>
      </p:sp>
      <p:sp>
        <p:nvSpPr>
          <p:cNvPr id="39" name="Text 34"/>
          <p:cNvSpPr/>
          <p:nvPr/>
        </p:nvSpPr>
        <p:spPr>
          <a:xfrm>
            <a:off x="5959450" y="2596083"/>
            <a:ext cx="1560289" cy="164592"/>
          </a:xfrm>
          <a:prstGeom prst="rect">
            <a:avLst/>
          </a:prstGeom>
          <a:noFill/>
          <a:ln/>
        </p:spPr>
        <p:txBody>
          <a:bodyPr wrap="square" lIns="0" tIns="0" rIns="0" bIns="0" rtlCol="0" anchor="t"/>
          <a:lstStyle/>
          <a:p>
            <a:pPr algn="l" indent="0" marL="0">
              <a:lnSpc>
                <a:spcPts val="928"/>
              </a:lnSpc>
              <a:buNone/>
            </a:pPr>
            <a:r>
              <a:rPr lang="en-US" sz="619" spc="37" kern="0" dirty="0">
                <a:solidFill>
                  <a:srgbClr val="94A3B8"/>
                </a:solidFill>
                <a:latin typeface="Liberation Sans Narrow" pitchFamily="34" charset="0"/>
                <a:ea typeface="Liberation Sans Narrow" pitchFamily="34" charset="-122"/>
                <a:cs typeface="Liberation Sans Narrow" pitchFamily="34" charset="-120"/>
              </a:rPr>
              <a:t>PROJECTED RETAIL WEALTH 2030</a:t>
            </a:r>
            <a:endParaRPr lang="en-US" sz="619" dirty="0"/>
          </a:p>
        </p:txBody>
      </p:sp>
      <p:sp>
        <p:nvSpPr>
          <p:cNvPr id="40" name="Text 35"/>
          <p:cNvSpPr/>
          <p:nvPr/>
        </p:nvSpPr>
        <p:spPr>
          <a:xfrm>
            <a:off x="5542434" y="2876476"/>
            <a:ext cx="2278856" cy="550069"/>
          </a:xfrm>
          <a:prstGeom prst="roundRect">
            <a:avLst>
              <a:gd name="adj" fmla="val 24242"/>
            </a:avLst>
          </a:prstGeom>
          <a:solidFill>
            <a:srgbClr val="00E676">
              <a:alpha val="8000"/>
            </a:srgbClr>
          </a:solidFill>
          <a:ln w="7144">
            <a:solidFill>
              <a:srgbClr val="00E676"/>
            </a:solidFill>
            <a:prstDash val="solid"/>
          </a:ln>
        </p:spPr>
        <p:txBody>
          <a:bodyPr wrap="square" rtlCol="0" anchor="ctr"/>
          <a:lstStyle/>
          <a:p>
            <a:pPr indent="0" marL="0">
              <a:buNone/>
            </a:pPr>
            <a:endParaRPr lang="en-US" dirty="0"/>
          </a:p>
        </p:txBody>
      </p:sp>
      <p:sp>
        <p:nvSpPr>
          <p:cNvPr id="41" name="Text 36"/>
          <p:cNvSpPr/>
          <p:nvPr/>
        </p:nvSpPr>
        <p:spPr>
          <a:xfrm>
            <a:off x="6316191" y="2981846"/>
            <a:ext cx="936117" cy="194024"/>
          </a:xfrm>
          <a:prstGeom prst="rect">
            <a:avLst/>
          </a:prstGeom>
          <a:noFill/>
          <a:ln/>
        </p:spPr>
        <p:txBody>
          <a:bodyPr wrap="none" lIns="0" tIns="0" rIns="0" bIns="0" rtlCol="0" anchor="t">
            <a:normAutofit/>
          </a:bodyPr>
          <a:lstStyle/>
          <a:p>
            <a:pPr algn="l" indent="0" marL="0">
              <a:lnSpc>
                <a:spcPts val="1519"/>
              </a:lnSpc>
              <a:buNone/>
            </a:pPr>
            <a:r>
              <a:rPr lang="en-US" sz="1013" b="1" dirty="0">
                <a:solidFill>
                  <a:srgbClr val="22E881"/>
                </a:solidFill>
                <a:latin typeface="Liberation Sans Narrow" pitchFamily="34" charset="0"/>
                <a:ea typeface="Liberation Sans Narrow" pitchFamily="34" charset="-122"/>
                <a:cs typeface="Liberation Sans Narrow" pitchFamily="34" charset="-120"/>
              </a:rPr>
              <a:t>$14B SAM</a:t>
            </a:r>
            <a:endParaRPr lang="en-US" sz="1013" dirty="0"/>
          </a:p>
        </p:txBody>
      </p:sp>
      <p:sp>
        <p:nvSpPr>
          <p:cNvPr id="42" name="Text 37"/>
          <p:cNvSpPr/>
          <p:nvPr/>
        </p:nvSpPr>
        <p:spPr>
          <a:xfrm>
            <a:off x="6079889" y="3203302"/>
            <a:ext cx="1380210" cy="164592"/>
          </a:xfrm>
          <a:prstGeom prst="rect">
            <a:avLst/>
          </a:prstGeom>
          <a:noFill/>
          <a:ln/>
        </p:spPr>
        <p:txBody>
          <a:bodyPr wrap="none" lIns="0" tIns="0" rIns="0" bIns="0" rtlCol="0" anchor="t"/>
          <a:lstStyle/>
          <a:p>
            <a:pPr algn="l" indent="0" marL="0">
              <a:lnSpc>
                <a:spcPts val="928"/>
              </a:lnSpc>
              <a:buNone/>
            </a:pPr>
            <a:r>
              <a:rPr lang="en-US" sz="619" spc="37" kern="0" dirty="0">
                <a:solidFill>
                  <a:srgbClr val="94A3B8"/>
                </a:solidFill>
                <a:latin typeface="Carlito" pitchFamily="34" charset="0"/>
                <a:ea typeface="Carlito" pitchFamily="34" charset="-122"/>
                <a:cs typeface="Carlito" pitchFamily="34" charset="-120"/>
              </a:rPr>
              <a:t>DIGITAL-REACHABLE TODAY</a:t>
            </a:r>
            <a:endParaRPr lang="en-US" sz="619" dirty="0"/>
          </a:p>
        </p:txBody>
      </p:sp>
      <p:sp>
        <p:nvSpPr>
          <p:cNvPr id="43" name="Text 38"/>
          <p:cNvSpPr/>
          <p:nvPr/>
        </p:nvSpPr>
        <p:spPr>
          <a:xfrm>
            <a:off x="5971059" y="3462263"/>
            <a:ext cx="1421606" cy="492919"/>
          </a:xfrm>
          <a:prstGeom prst="roundRect">
            <a:avLst>
              <a:gd name="adj" fmla="val 27053"/>
            </a:avLst>
          </a:prstGeom>
          <a:solidFill>
            <a:srgbClr val="FBBF24">
              <a:alpha val="10000"/>
            </a:srgbClr>
          </a:solidFill>
          <a:ln w="7144">
            <a:solidFill>
              <a:srgbClr val="FBBF24"/>
            </a:solidFill>
            <a:prstDash val="solid"/>
          </a:ln>
        </p:spPr>
        <p:txBody>
          <a:bodyPr wrap="square" rtlCol="0" anchor="ctr"/>
          <a:lstStyle/>
          <a:p>
            <a:pPr indent="0" marL="0">
              <a:buNone/>
            </a:pPr>
            <a:endParaRPr lang="en-US" dirty="0"/>
          </a:p>
        </p:txBody>
      </p:sp>
      <p:sp>
        <p:nvSpPr>
          <p:cNvPr id="44" name="Text 39"/>
          <p:cNvSpPr/>
          <p:nvPr/>
        </p:nvSpPr>
        <p:spPr>
          <a:xfrm>
            <a:off x="6299336" y="3558704"/>
            <a:ext cx="979122" cy="165449"/>
          </a:xfrm>
          <a:prstGeom prst="rect">
            <a:avLst/>
          </a:prstGeom>
          <a:noFill/>
          <a:ln/>
        </p:spPr>
        <p:txBody>
          <a:bodyPr wrap="none" lIns="0" tIns="0" rIns="0" bIns="0" rtlCol="0" anchor="t">
            <a:normAutofit/>
          </a:bodyPr>
          <a:lstStyle/>
          <a:p>
            <a:pPr algn="l" indent="0" marL="0">
              <a:lnSpc>
                <a:spcPts val="1350"/>
              </a:lnSpc>
              <a:buNone/>
            </a:pPr>
            <a:r>
              <a:rPr lang="en-US" sz="900" b="1" dirty="0">
                <a:solidFill>
                  <a:srgbClr val="FBBF24"/>
                </a:solidFill>
                <a:latin typeface="Liberation Sans Narrow" pitchFamily="34" charset="0"/>
                <a:ea typeface="Liberation Sans Narrow" pitchFamily="34" charset="-122"/>
                <a:cs typeface="Liberation Sans Narrow" pitchFamily="34" charset="-120"/>
              </a:rPr>
              <a:t>$420M SOM</a:t>
            </a:r>
            <a:endParaRPr lang="en-US" sz="900" dirty="0"/>
          </a:p>
        </p:txBody>
      </p:sp>
      <p:sp>
        <p:nvSpPr>
          <p:cNvPr id="45" name="Text 40"/>
          <p:cNvSpPr/>
          <p:nvPr/>
        </p:nvSpPr>
        <p:spPr>
          <a:xfrm>
            <a:off x="6305252" y="3751585"/>
            <a:ext cx="914414" cy="164592"/>
          </a:xfrm>
          <a:prstGeom prst="rect">
            <a:avLst/>
          </a:prstGeom>
          <a:noFill/>
          <a:ln/>
        </p:spPr>
        <p:txBody>
          <a:bodyPr wrap="none" lIns="0" tIns="0" rIns="0" bIns="0" rtlCol="0" anchor="t"/>
          <a:lstStyle/>
          <a:p>
            <a:pPr algn="l" indent="0" marL="0">
              <a:lnSpc>
                <a:spcPts val="844"/>
              </a:lnSpc>
              <a:buNone/>
            </a:pPr>
            <a:r>
              <a:rPr lang="en-US" sz="600" spc="34" kern="0" dirty="0">
                <a:solidFill>
                  <a:srgbClr val="94A3B8"/>
                </a:solidFill>
                <a:latin typeface="Liberation Sans Narrow" pitchFamily="34" charset="0"/>
                <a:ea typeface="Liberation Sans Narrow" pitchFamily="34" charset="-122"/>
                <a:cs typeface="Liberation Sans Narrow" pitchFamily="34" charset="-120"/>
              </a:rPr>
              <a:t>36-MONTH TARGET</a:t>
            </a:r>
            <a:endParaRPr lang="en-US" sz="600" dirty="0"/>
          </a:p>
        </p:txBody>
      </p:sp>
      <p:sp>
        <p:nvSpPr>
          <p:cNvPr id="46" name="Text 41"/>
          <p:cNvSpPr/>
          <p:nvPr/>
        </p:nvSpPr>
        <p:spPr>
          <a:xfrm>
            <a:off x="5110237" y="4187354"/>
            <a:ext cx="3143250" cy="329184"/>
          </a:xfrm>
          <a:prstGeom prst="rect">
            <a:avLst/>
          </a:prstGeom>
          <a:noFill/>
          <a:ln/>
        </p:spPr>
        <p:txBody>
          <a:bodyPr wrap="square" lIns="0" tIns="0" rIns="0" bIns="0" rtlCol="0" anchor="t"/>
          <a:lstStyle/>
          <a:p>
            <a:pPr algn="ctr" indent="0" marL="0">
              <a:lnSpc>
                <a:spcPts val="928"/>
              </a:lnSpc>
              <a:buNone/>
            </a:pPr>
            <a:r>
              <a:rPr lang="en-US" sz="800" spc="50" kern="0" dirty="0">
                <a:solidFill>
                  <a:srgbClr val="64748B"/>
                </a:solidFill>
                <a:latin typeface="Carlito" pitchFamily="34" charset="0"/>
                <a:ea typeface="Carlito" pitchFamily="34" charset="-122"/>
                <a:cs typeface="Carlito" pitchFamily="34" charset="-120"/>
              </a:rPr>
              <a:t>SOURCES: SECP ANNUAL REPORT · PSX FACTBOOK · SBP RDA STATISTICS · AUTHOR ESTIMATES</a:t>
            </a:r>
            <a:endParaRPr lang="en-US" sz="800" dirty="0"/>
          </a:p>
        </p:txBody>
      </p:sp>
      <p:sp>
        <p:nvSpPr>
          <p:cNvPr id="47" name="Text 42"/>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MARKET</a:t>
            </a:r>
            <a:endParaRPr lang="en-US" sz="800" dirty="0"/>
          </a:p>
        </p:txBody>
      </p:sp>
      <p:sp>
        <p:nvSpPr>
          <p:cNvPr id="48" name="Text 43"/>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06 / 14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50000"/>
          </a:blip>
          <a:stretch>
            <a:fillRect/>
          </a:stretch>
        </p:blipFill>
        <p:spPr>
          <a:xfrm>
            <a:off x="6715125" y="-1143000"/>
            <a:ext cx="3429000" cy="3429000"/>
          </a:xfrm>
          <a:prstGeom prst="rect">
            <a:avLst/>
          </a:prstGeom>
        </p:spPr>
      </p:pic>
      <p:sp>
        <p:nvSpPr>
          <p:cNvPr id="4" name="Text 0"/>
          <p:cNvSpPr/>
          <p:nvPr/>
        </p:nvSpPr>
        <p:spPr>
          <a:xfrm>
            <a:off x="6715125" y="-1143000"/>
            <a:ext cx="3429000" cy="3429000"/>
          </a:xfrm>
          <a:prstGeom prst="ellipse">
            <a:avLst/>
          </a:prstGeom>
          <a:solidFill>
            <a:srgbClr val="00E676">
              <a:alpha val="0"/>
            </a:srgbClr>
          </a:solidFill>
          <a:ln/>
        </p:spPr>
        <p:txBody>
          <a:bodyPr wrap="square" rtlCol="0" anchor="ctr"/>
          <a:lstStyle/>
          <a:p>
            <a:pPr indent="0" marL="0">
              <a:buNone/>
            </a:pPr>
            <a:endParaRPr lang="en-US" dirty="0"/>
          </a:p>
        </p:txBody>
      </p:sp>
      <p:sp>
        <p:nvSpPr>
          <p:cNvPr id="5" name="Text 1"/>
          <p:cNvSpPr/>
          <p:nvPr/>
        </p:nvSpPr>
        <p:spPr>
          <a:xfrm>
            <a:off x="514350" y="439341"/>
            <a:ext cx="71438" cy="71438"/>
          </a:xfrm>
          <a:prstGeom prst="ellipse">
            <a:avLst/>
          </a:prstGeom>
          <a:solidFill>
            <a:srgbClr val="00E676"/>
          </a:solidFill>
          <a:ln/>
        </p:spPr>
        <p:txBody>
          <a:bodyPr wrap="square" rtlCol="0" anchor="ctr"/>
          <a:lstStyle/>
          <a:p>
            <a:pPr indent="0" marL="0">
              <a:buNone/>
            </a:pPr>
            <a:endParaRPr lang="en-US" dirty="0"/>
          </a:p>
        </p:txBody>
      </p:sp>
      <p:sp>
        <p:nvSpPr>
          <p:cNvPr id="6" name="Text 2"/>
          <p:cNvSpPr/>
          <p:nvPr/>
        </p:nvSpPr>
        <p:spPr>
          <a:xfrm>
            <a:off x="642938" y="400050"/>
            <a:ext cx="682228" cy="164592"/>
          </a:xfrm>
          <a:prstGeom prst="rect">
            <a:avLst/>
          </a:prstGeom>
          <a:noFill/>
          <a:ln/>
        </p:spPr>
        <p:txBody>
          <a:bodyPr wrap="none" lIns="0" tIns="0" rIns="0" bIns="0" rtlCol="0" anchor="t"/>
          <a:lstStyle/>
          <a:p>
            <a:pPr algn="l" indent="0" marL="0">
              <a:lnSpc>
                <a:spcPts val="1181"/>
              </a:lnSpc>
              <a:buNone/>
            </a:pPr>
            <a:r>
              <a:rPr lang="en-US" sz="800" b="1" spc="-8" kern="0" dirty="0">
                <a:solidFill>
                  <a:srgbClr val="F4F7FB"/>
                </a:solidFill>
                <a:latin typeface="Carlito" pitchFamily="34" charset="0"/>
                <a:ea typeface="Carlito" pitchFamily="34" charset="-122"/>
                <a:cs typeface="Carlito" pitchFamily="34" charset="-120"/>
              </a:rPr>
              <a:t>Latent.pk</a:t>
            </a:r>
            <a:endParaRPr lang="en-US" sz="800" dirty="0"/>
          </a:p>
        </p:txBody>
      </p:sp>
      <p:sp>
        <p:nvSpPr>
          <p:cNvPr id="7" name="Text 3"/>
          <p:cNvSpPr/>
          <p:nvPr/>
        </p:nvSpPr>
        <p:spPr>
          <a:xfrm>
            <a:off x="7425928" y="416123"/>
            <a:ext cx="1522482"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64748B"/>
                </a:solidFill>
                <a:latin typeface="Liberation Sans Narrow" pitchFamily="34" charset="0"/>
                <a:ea typeface="Liberation Sans Narrow" pitchFamily="34" charset="-122"/>
                <a:cs typeface="Liberation Sans Narrow" pitchFamily="34" charset="-120"/>
              </a:rPr>
              <a:t>INVESTOR DECK · 2026</a:t>
            </a:r>
            <a:endParaRPr lang="en-US" sz="800" dirty="0"/>
          </a:p>
        </p:txBody>
      </p:sp>
      <p:sp>
        <p:nvSpPr>
          <p:cNvPr id="8" name="Text 4"/>
          <p:cNvSpPr/>
          <p:nvPr/>
        </p:nvSpPr>
        <p:spPr>
          <a:xfrm>
            <a:off x="491490" y="665855"/>
            <a:ext cx="824947"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9" name="Text 5"/>
          <p:cNvSpPr/>
          <p:nvPr/>
        </p:nvSpPr>
        <p:spPr>
          <a:xfrm>
            <a:off x="514350" y="678656"/>
            <a:ext cx="779227"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WHY NOW</a:t>
            </a:r>
            <a:endParaRPr lang="en-US" sz="800" dirty="0"/>
          </a:p>
        </p:txBody>
      </p:sp>
      <p:sp>
        <p:nvSpPr>
          <p:cNvPr id="10" name="Text 6"/>
          <p:cNvSpPr/>
          <p:nvPr/>
        </p:nvSpPr>
        <p:spPr>
          <a:xfrm>
            <a:off x="514350" y="1017984"/>
            <a:ext cx="8629650" cy="339471"/>
          </a:xfrm>
          <a:prstGeom prst="rect">
            <a:avLst/>
          </a:prstGeom>
          <a:noFill/>
          <a:ln/>
        </p:spPr>
        <p:txBody>
          <a:bodyPr wrap="square" lIns="0" tIns="0" rIns="0" bIns="0" rtlCol="0" anchor="t"/>
          <a:lstStyle/>
          <a:p>
            <a:pPr algn="l" indent="0" marL="0">
              <a:lnSpc>
                <a:spcPts val="2475"/>
              </a:lnSpc>
              <a:buNone/>
            </a:pPr>
            <a:r>
              <a:rPr lang="en-US" sz="2250" b="1" spc="-45" kern="0" dirty="0">
                <a:solidFill>
                  <a:srgbClr val="F4F7FB"/>
                </a:solidFill>
                <a:latin typeface="Carlito" pitchFamily="34" charset="0"/>
                <a:ea typeface="Carlito" pitchFamily="34" charset="-122"/>
                <a:cs typeface="Carlito" pitchFamily="34" charset="-120"/>
              </a:rPr>
              <a:t>Five tailwinds converging for the first time.</a:t>
            </a:r>
            <a:endParaRPr lang="en-US" sz="2250" dirty="0"/>
          </a:p>
        </p:txBody>
      </p:sp>
      <p:sp>
        <p:nvSpPr>
          <p:cNvPr id="11" name="Text 7"/>
          <p:cNvSpPr/>
          <p:nvPr/>
        </p:nvSpPr>
        <p:spPr>
          <a:xfrm>
            <a:off x="514350" y="1418034"/>
            <a:ext cx="7000875" cy="358759"/>
          </a:xfrm>
          <a:prstGeom prst="rect">
            <a:avLst/>
          </a:prstGeom>
          <a:noFill/>
          <a:ln/>
        </p:spPr>
        <p:txBody>
          <a:bodyPr wrap="square" lIns="0" tIns="0" rIns="0" bIns="0" rtlCol="0" anchor="t"/>
          <a:lstStyle/>
          <a:p>
            <a:pPr algn="l" indent="0" marL="0">
              <a:lnSpc>
                <a:spcPts val="1308"/>
              </a:lnSpc>
              <a:buNone/>
            </a:pPr>
            <a:r>
              <a:rPr lang="en-US" sz="844" dirty="0">
                <a:solidFill>
                  <a:srgbClr val="94A3B8"/>
                </a:solidFill>
                <a:latin typeface="Carlito" pitchFamily="34" charset="0"/>
                <a:ea typeface="Carlito" pitchFamily="34" charset="-122"/>
                <a:cs typeface="Carlito" pitchFamily="34" charset="-120"/>
              </a:rPr>
              <a:t>The infrastructure for mass retail investing in Pakistan is now in place. The window to build the intelligence layer on top opens once.</a:t>
            </a:r>
            <a:endParaRPr lang="en-US" sz="844" dirty="0"/>
          </a:p>
        </p:txBody>
      </p:sp>
      <p:sp>
        <p:nvSpPr>
          <p:cNvPr id="12" name="Text 8"/>
          <p:cNvSpPr/>
          <p:nvPr/>
        </p:nvSpPr>
        <p:spPr>
          <a:xfrm>
            <a:off x="517922" y="1925241"/>
            <a:ext cx="2631244" cy="1523405"/>
          </a:xfrm>
          <a:prstGeom prst="roundRect">
            <a:avLst>
              <a:gd name="adj" fmla="val 875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3" name="Text 9"/>
          <p:cNvSpPr/>
          <p:nvPr/>
        </p:nvSpPr>
        <p:spPr>
          <a:xfrm>
            <a:off x="678656" y="2085975"/>
            <a:ext cx="200025" cy="200025"/>
          </a:xfrm>
          <a:prstGeom prst="rect">
            <a:avLst/>
          </a:prstGeom>
          <a:noFill/>
          <a:ln/>
        </p:spPr>
        <p:txBody>
          <a:bodyPr wrap="none" lIns="0" tIns="0" rIns="0" bIns="0" rtlCol="0" anchor="ctr"/>
          <a:lstStyle/>
          <a:p>
            <a:pPr algn="ctr" indent="0" marL="0">
              <a:buNone/>
            </a:pPr>
            <a:r>
              <a:rPr lang="en-US" sz="1969" dirty="0">
                <a:solidFill>
                  <a:srgbClr val="00E676"/>
                </a:solidFill>
                <a:latin typeface="Segoe UI Symbol" pitchFamily="34" charset="0"/>
                <a:ea typeface="Segoe UI Symbol" pitchFamily="34" charset="-122"/>
                <a:cs typeface="Segoe UI Symbol" pitchFamily="34" charset="-120"/>
              </a:rPr>
              <a:t>◯</a:t>
            </a:r>
            <a:endParaRPr lang="en-US" sz="1969" dirty="0"/>
          </a:p>
        </p:txBody>
      </p:sp>
      <p:sp>
        <p:nvSpPr>
          <p:cNvPr id="14" name="Text 10"/>
          <p:cNvSpPr/>
          <p:nvPr/>
        </p:nvSpPr>
        <p:spPr>
          <a:xfrm>
            <a:off x="678656" y="2357438"/>
            <a:ext cx="2309775" cy="208312"/>
          </a:xfrm>
          <a:prstGeom prst="rect">
            <a:avLst/>
          </a:prstGeom>
          <a:noFill/>
          <a:ln/>
        </p:spPr>
        <p:txBody>
          <a:bodyPr wrap="none" lIns="0" tIns="0" rIns="0" bIns="0" rtlCol="0" anchor="t"/>
          <a:lstStyle/>
          <a:p>
            <a:pPr algn="l" indent="0" marL="0">
              <a:lnSpc>
                <a:spcPts val="1519"/>
              </a:lnSpc>
              <a:buNone/>
            </a:pPr>
            <a:r>
              <a:rPr lang="en-US" sz="1013" b="1" dirty="0">
                <a:solidFill>
                  <a:srgbClr val="F4F7FB"/>
                </a:solidFill>
                <a:latin typeface="Carlito" pitchFamily="34" charset="0"/>
                <a:ea typeface="Carlito" pitchFamily="34" charset="-122"/>
                <a:cs typeface="Carlito" pitchFamily="34" charset="-120"/>
              </a:rPr>
              <a:t>Roshan Digital Account</a:t>
            </a:r>
            <a:endParaRPr lang="en-US" sz="1013" dirty="0"/>
          </a:p>
        </p:txBody>
      </p:sp>
      <p:sp>
        <p:nvSpPr>
          <p:cNvPr id="15" name="Text 11"/>
          <p:cNvSpPr/>
          <p:nvPr/>
        </p:nvSpPr>
        <p:spPr>
          <a:xfrm>
            <a:off x="678656" y="2593181"/>
            <a:ext cx="2309775"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00E676"/>
                </a:solidFill>
                <a:latin typeface="Liberation Sans Narrow" pitchFamily="34" charset="0"/>
                <a:ea typeface="Liberation Sans Narrow" pitchFamily="34" charset="-122"/>
                <a:cs typeface="Liberation Sans Narrow" pitchFamily="34" charset="-120"/>
              </a:rPr>
              <a:t>$7B+ inflows</a:t>
            </a:r>
            <a:endParaRPr lang="en-US" sz="1238" dirty="0"/>
          </a:p>
        </p:txBody>
      </p:sp>
      <p:sp>
        <p:nvSpPr>
          <p:cNvPr id="16" name="Text 12"/>
          <p:cNvSpPr/>
          <p:nvPr/>
        </p:nvSpPr>
        <p:spPr>
          <a:xfrm>
            <a:off x="678656" y="2886075"/>
            <a:ext cx="2309775" cy="329184"/>
          </a:xfrm>
          <a:prstGeom prst="rect">
            <a:avLst/>
          </a:prstGeom>
          <a:noFill/>
          <a:ln/>
        </p:spPr>
        <p:txBody>
          <a:bodyPr wrap="square" lIns="0" tIns="0" rIns="0" bIns="0" rtlCol="0" anchor="t"/>
          <a:lstStyle/>
          <a:p>
            <a:pPr algn="l" indent="0" marL="0">
              <a:lnSpc>
                <a:spcPts val="1055"/>
              </a:lnSpc>
              <a:buNone/>
            </a:pPr>
            <a:r>
              <a:rPr lang="en-US" sz="800" dirty="0">
                <a:solidFill>
                  <a:srgbClr val="94A3B8"/>
                </a:solidFill>
                <a:latin typeface="Carlito" pitchFamily="34" charset="0"/>
                <a:ea typeface="Carlito" pitchFamily="34" charset="-122"/>
                <a:cs typeface="Carlito" pitchFamily="34" charset="-120"/>
              </a:rPr>
              <a:t>Overseas Pakistanis have already proven they will invest digitally. The demand signal is banked.</a:t>
            </a:r>
            <a:endParaRPr lang="en-US" sz="800" dirty="0"/>
          </a:p>
        </p:txBody>
      </p:sp>
      <p:sp>
        <p:nvSpPr>
          <p:cNvPr id="17" name="Text 13"/>
          <p:cNvSpPr/>
          <p:nvPr/>
        </p:nvSpPr>
        <p:spPr>
          <a:xfrm>
            <a:off x="3256322" y="1925241"/>
            <a:ext cx="2631244" cy="1523405"/>
          </a:xfrm>
          <a:prstGeom prst="roundRect">
            <a:avLst>
              <a:gd name="adj" fmla="val 875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8" name="Text 14"/>
          <p:cNvSpPr/>
          <p:nvPr/>
        </p:nvSpPr>
        <p:spPr>
          <a:xfrm>
            <a:off x="3417057" y="2085975"/>
            <a:ext cx="200025" cy="200025"/>
          </a:xfrm>
          <a:prstGeom prst="rect">
            <a:avLst/>
          </a:prstGeom>
          <a:noFill/>
          <a:ln/>
        </p:spPr>
        <p:txBody>
          <a:bodyPr wrap="none" lIns="0" tIns="0" rIns="0" bIns="0" rtlCol="0" anchor="ctr"/>
          <a:lstStyle/>
          <a:p>
            <a:pPr algn="ctr" indent="0" marL="0">
              <a:buNone/>
            </a:pPr>
            <a:r>
              <a:rPr lang="en-US" sz="1969" dirty="0">
                <a:solidFill>
                  <a:srgbClr val="00E676"/>
                </a:solidFill>
                <a:latin typeface="Segoe UI Symbol" pitchFamily="34" charset="0"/>
                <a:ea typeface="Segoe UI Symbol" pitchFamily="34" charset="-122"/>
                <a:cs typeface="Segoe UI Symbol" pitchFamily="34" charset="-120"/>
              </a:rPr>
              <a:t>⚡</a:t>
            </a:r>
            <a:endParaRPr lang="en-US" sz="1969" dirty="0"/>
          </a:p>
        </p:txBody>
      </p:sp>
      <p:sp>
        <p:nvSpPr>
          <p:cNvPr id="19" name="Text 15"/>
          <p:cNvSpPr/>
          <p:nvPr/>
        </p:nvSpPr>
        <p:spPr>
          <a:xfrm>
            <a:off x="3417057" y="2357438"/>
            <a:ext cx="2309775" cy="208312"/>
          </a:xfrm>
          <a:prstGeom prst="rect">
            <a:avLst/>
          </a:prstGeom>
          <a:noFill/>
          <a:ln/>
        </p:spPr>
        <p:txBody>
          <a:bodyPr wrap="none" lIns="0" tIns="0" rIns="0" bIns="0" rtlCol="0" anchor="t"/>
          <a:lstStyle/>
          <a:p>
            <a:pPr algn="l" indent="0" marL="0">
              <a:lnSpc>
                <a:spcPts val="1519"/>
              </a:lnSpc>
              <a:buNone/>
            </a:pPr>
            <a:r>
              <a:rPr lang="en-US" sz="1013" b="1" dirty="0">
                <a:solidFill>
                  <a:srgbClr val="F4F7FB"/>
                </a:solidFill>
                <a:latin typeface="Carlito" pitchFamily="34" charset="0"/>
                <a:ea typeface="Carlito" pitchFamily="34" charset="-122"/>
                <a:cs typeface="Carlito" pitchFamily="34" charset="-120"/>
              </a:rPr>
              <a:t>Raast instant payments</a:t>
            </a:r>
            <a:endParaRPr lang="en-US" sz="1013" dirty="0"/>
          </a:p>
        </p:txBody>
      </p:sp>
      <p:sp>
        <p:nvSpPr>
          <p:cNvPr id="20" name="Text 16"/>
          <p:cNvSpPr/>
          <p:nvPr/>
        </p:nvSpPr>
        <p:spPr>
          <a:xfrm>
            <a:off x="3417057" y="2593181"/>
            <a:ext cx="2309775"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00E676"/>
                </a:solidFill>
                <a:latin typeface="Courier New" pitchFamily="34" charset="0"/>
                <a:ea typeface="Courier New" pitchFamily="34" charset="-122"/>
                <a:cs typeface="Courier New" pitchFamily="34" charset="-120"/>
              </a:rPr>
              <a:t>Live nationally</a:t>
            </a:r>
            <a:endParaRPr lang="en-US" sz="1238" dirty="0"/>
          </a:p>
        </p:txBody>
      </p:sp>
      <p:sp>
        <p:nvSpPr>
          <p:cNvPr id="21" name="Text 17"/>
          <p:cNvSpPr/>
          <p:nvPr/>
        </p:nvSpPr>
        <p:spPr>
          <a:xfrm>
            <a:off x="3417057" y="2886075"/>
            <a:ext cx="2309775" cy="329184"/>
          </a:xfrm>
          <a:prstGeom prst="rect">
            <a:avLst/>
          </a:prstGeom>
          <a:noFill/>
          <a:ln/>
        </p:spPr>
        <p:txBody>
          <a:bodyPr wrap="square" lIns="0" tIns="0" rIns="0" bIns="0" rtlCol="0" anchor="t"/>
          <a:lstStyle/>
          <a:p>
            <a:pPr algn="l" indent="0" marL="0">
              <a:lnSpc>
                <a:spcPts val="1055"/>
              </a:lnSpc>
              <a:buNone/>
            </a:pPr>
            <a:r>
              <a:rPr lang="en-US" sz="800" dirty="0">
                <a:solidFill>
                  <a:srgbClr val="94A3B8"/>
                </a:solidFill>
                <a:latin typeface="Carlito" pitchFamily="34" charset="0"/>
                <a:ea typeface="Carlito" pitchFamily="34" charset="-122"/>
                <a:cs typeface="Carlito" pitchFamily="34" charset="-120"/>
              </a:rPr>
              <a:t>Real-time settlement infrastructure for fund transfers and (soon) brokerage settlement.</a:t>
            </a:r>
            <a:endParaRPr lang="en-US" sz="800" dirty="0"/>
          </a:p>
        </p:txBody>
      </p:sp>
      <p:sp>
        <p:nvSpPr>
          <p:cNvPr id="22" name="Text 18"/>
          <p:cNvSpPr/>
          <p:nvPr/>
        </p:nvSpPr>
        <p:spPr>
          <a:xfrm>
            <a:off x="5994722" y="1925241"/>
            <a:ext cx="2631356" cy="1523405"/>
          </a:xfrm>
          <a:prstGeom prst="roundRect">
            <a:avLst>
              <a:gd name="adj" fmla="val 875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3" name="Text 19"/>
          <p:cNvSpPr/>
          <p:nvPr/>
        </p:nvSpPr>
        <p:spPr>
          <a:xfrm>
            <a:off x="6155457" y="2085975"/>
            <a:ext cx="200025" cy="200025"/>
          </a:xfrm>
          <a:prstGeom prst="rect">
            <a:avLst/>
          </a:prstGeom>
          <a:noFill/>
          <a:ln/>
        </p:spPr>
        <p:txBody>
          <a:bodyPr wrap="none" lIns="0" tIns="0" rIns="0" bIns="0" rtlCol="0" anchor="ctr"/>
          <a:lstStyle/>
          <a:p>
            <a:pPr algn="ctr" indent="0" marL="0">
              <a:buNone/>
            </a:pPr>
            <a:r>
              <a:rPr lang="en-US" sz="1969" dirty="0">
                <a:solidFill>
                  <a:srgbClr val="00E676"/>
                </a:solidFill>
                <a:latin typeface="Segoe UI Symbol" pitchFamily="34" charset="0"/>
                <a:ea typeface="Segoe UI Symbol" pitchFamily="34" charset="-122"/>
                <a:cs typeface="Segoe UI Symbol" pitchFamily="34" charset="-120"/>
              </a:rPr>
              <a:t>⛨</a:t>
            </a:r>
            <a:endParaRPr lang="en-US" sz="1969" dirty="0"/>
          </a:p>
        </p:txBody>
      </p:sp>
      <p:sp>
        <p:nvSpPr>
          <p:cNvPr id="24" name="Text 20"/>
          <p:cNvSpPr/>
          <p:nvPr/>
        </p:nvSpPr>
        <p:spPr>
          <a:xfrm>
            <a:off x="6155457" y="2357438"/>
            <a:ext cx="2309887" cy="208312"/>
          </a:xfrm>
          <a:prstGeom prst="rect">
            <a:avLst/>
          </a:prstGeom>
          <a:noFill/>
          <a:ln/>
        </p:spPr>
        <p:txBody>
          <a:bodyPr wrap="none" lIns="0" tIns="0" rIns="0" bIns="0" rtlCol="0" anchor="t"/>
          <a:lstStyle/>
          <a:p>
            <a:pPr algn="l" indent="0" marL="0">
              <a:lnSpc>
                <a:spcPts val="1519"/>
              </a:lnSpc>
              <a:buNone/>
            </a:pPr>
            <a:r>
              <a:rPr lang="en-US" sz="1013" b="1" dirty="0">
                <a:solidFill>
                  <a:srgbClr val="F4F7FB"/>
                </a:solidFill>
                <a:latin typeface="Carlito" pitchFamily="34" charset="0"/>
                <a:ea typeface="Carlito" pitchFamily="34" charset="-122"/>
                <a:cs typeface="Carlito" pitchFamily="34" charset="-120"/>
              </a:rPr>
              <a:t>SECP digital onboarding</a:t>
            </a:r>
            <a:endParaRPr lang="en-US" sz="1013" dirty="0"/>
          </a:p>
        </p:txBody>
      </p:sp>
      <p:sp>
        <p:nvSpPr>
          <p:cNvPr id="25" name="Text 21"/>
          <p:cNvSpPr/>
          <p:nvPr/>
        </p:nvSpPr>
        <p:spPr>
          <a:xfrm>
            <a:off x="6155457" y="2593181"/>
            <a:ext cx="2309887"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00E676"/>
                </a:solidFill>
                <a:latin typeface="Courier New" pitchFamily="34" charset="0"/>
                <a:ea typeface="Courier New" pitchFamily="34" charset="-122"/>
                <a:cs typeface="Courier New" pitchFamily="34" charset="-120"/>
              </a:rPr>
              <a:t>KYC APIs live</a:t>
            </a:r>
            <a:endParaRPr lang="en-US" sz="1238" dirty="0"/>
          </a:p>
        </p:txBody>
      </p:sp>
      <p:sp>
        <p:nvSpPr>
          <p:cNvPr id="26" name="Text 22"/>
          <p:cNvSpPr/>
          <p:nvPr/>
        </p:nvSpPr>
        <p:spPr>
          <a:xfrm>
            <a:off x="6155457" y="2886075"/>
            <a:ext cx="2309887" cy="401836"/>
          </a:xfrm>
          <a:prstGeom prst="rect">
            <a:avLst/>
          </a:prstGeom>
          <a:noFill/>
          <a:ln/>
        </p:spPr>
        <p:txBody>
          <a:bodyPr wrap="square" lIns="0" tIns="0" rIns="0" bIns="0" rtlCol="0" anchor="t"/>
          <a:lstStyle/>
          <a:p>
            <a:pPr algn="l" indent="0" marL="0">
              <a:lnSpc>
                <a:spcPts val="1055"/>
              </a:lnSpc>
              <a:buNone/>
            </a:pPr>
            <a:r>
              <a:rPr lang="en-US" sz="800" dirty="0">
                <a:solidFill>
                  <a:srgbClr val="94A3B8"/>
                </a:solidFill>
                <a:latin typeface="Carlito" pitchFamily="34" charset="0"/>
                <a:ea typeface="Carlito" pitchFamily="34" charset="-122"/>
                <a:cs typeface="Carlito" pitchFamily="34" charset="-120"/>
              </a:rPr>
              <a:t>e-Sahulat, digital account opening, and broker KYC APIs now mandated. Onboarding friction falling fast.</a:t>
            </a:r>
            <a:endParaRPr lang="en-US" sz="800" dirty="0"/>
          </a:p>
        </p:txBody>
      </p:sp>
      <p:sp>
        <p:nvSpPr>
          <p:cNvPr id="27" name="Text 23"/>
          <p:cNvSpPr/>
          <p:nvPr/>
        </p:nvSpPr>
        <p:spPr>
          <a:xfrm>
            <a:off x="517922" y="3555802"/>
            <a:ext cx="2631244" cy="1523405"/>
          </a:xfrm>
          <a:prstGeom prst="roundRect">
            <a:avLst>
              <a:gd name="adj" fmla="val 875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8" name="Text 24"/>
          <p:cNvSpPr/>
          <p:nvPr/>
        </p:nvSpPr>
        <p:spPr>
          <a:xfrm>
            <a:off x="678656" y="3716536"/>
            <a:ext cx="200025" cy="200025"/>
          </a:xfrm>
          <a:prstGeom prst="rect">
            <a:avLst/>
          </a:prstGeom>
          <a:noFill/>
          <a:ln/>
        </p:spPr>
        <p:txBody>
          <a:bodyPr wrap="none" lIns="0" tIns="0" rIns="0" bIns="0" rtlCol="0" anchor="ctr"/>
          <a:lstStyle/>
          <a:p>
            <a:pPr algn="ctr" indent="0" marL="0">
              <a:buNone/>
            </a:pPr>
            <a:r>
              <a:rPr lang="en-US" sz="1969" dirty="0">
                <a:solidFill>
                  <a:srgbClr val="00E676"/>
                </a:solidFill>
                <a:latin typeface="Segoe UI Symbol" pitchFamily="34" charset="0"/>
                <a:ea typeface="Segoe UI Symbol" pitchFamily="34" charset="-122"/>
                <a:cs typeface="Segoe UI Symbol" pitchFamily="34" charset="-120"/>
              </a:rPr>
              <a:t>▯</a:t>
            </a:r>
            <a:endParaRPr lang="en-US" sz="1969" dirty="0"/>
          </a:p>
        </p:txBody>
      </p:sp>
      <p:sp>
        <p:nvSpPr>
          <p:cNvPr id="29" name="Text 25"/>
          <p:cNvSpPr/>
          <p:nvPr/>
        </p:nvSpPr>
        <p:spPr>
          <a:xfrm>
            <a:off x="678656" y="3987998"/>
            <a:ext cx="2309775" cy="208312"/>
          </a:xfrm>
          <a:prstGeom prst="rect">
            <a:avLst/>
          </a:prstGeom>
          <a:noFill/>
          <a:ln/>
        </p:spPr>
        <p:txBody>
          <a:bodyPr wrap="none" lIns="0" tIns="0" rIns="0" bIns="0" rtlCol="0" anchor="t"/>
          <a:lstStyle/>
          <a:p>
            <a:pPr algn="l" indent="0" marL="0">
              <a:lnSpc>
                <a:spcPts val="1519"/>
              </a:lnSpc>
              <a:buNone/>
            </a:pPr>
            <a:r>
              <a:rPr lang="en-US" sz="1013" b="1" dirty="0">
                <a:solidFill>
                  <a:srgbClr val="F4F7FB"/>
                </a:solidFill>
                <a:latin typeface="Carlito" pitchFamily="34" charset="0"/>
                <a:ea typeface="Carlito" pitchFamily="34" charset="-122"/>
                <a:cs typeface="Carlito" pitchFamily="34" charset="-120"/>
              </a:rPr>
              <a:t>Smartphone saturation</a:t>
            </a:r>
            <a:endParaRPr lang="en-US" sz="1013" dirty="0"/>
          </a:p>
        </p:txBody>
      </p:sp>
      <p:sp>
        <p:nvSpPr>
          <p:cNvPr id="30" name="Text 26"/>
          <p:cNvSpPr/>
          <p:nvPr/>
        </p:nvSpPr>
        <p:spPr>
          <a:xfrm>
            <a:off x="678656" y="4223742"/>
            <a:ext cx="2309775"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00E676"/>
                </a:solidFill>
                <a:latin typeface="Liberation Sans Narrow" pitchFamily="34" charset="0"/>
                <a:ea typeface="Liberation Sans Narrow" pitchFamily="34" charset="-122"/>
                <a:cs typeface="Liberation Sans Narrow" pitchFamily="34" charset="-120"/>
              </a:rPr>
              <a:t>110M+ users</a:t>
            </a:r>
            <a:endParaRPr lang="en-US" sz="1238" dirty="0"/>
          </a:p>
        </p:txBody>
      </p:sp>
      <p:sp>
        <p:nvSpPr>
          <p:cNvPr id="31" name="Text 27"/>
          <p:cNvSpPr/>
          <p:nvPr/>
        </p:nvSpPr>
        <p:spPr>
          <a:xfrm>
            <a:off x="678656" y="4516636"/>
            <a:ext cx="2309775" cy="329184"/>
          </a:xfrm>
          <a:prstGeom prst="rect">
            <a:avLst/>
          </a:prstGeom>
          <a:noFill/>
          <a:ln/>
        </p:spPr>
        <p:txBody>
          <a:bodyPr wrap="square" lIns="0" tIns="0" rIns="0" bIns="0" rtlCol="0" anchor="t"/>
          <a:lstStyle/>
          <a:p>
            <a:pPr algn="l" indent="0" marL="0">
              <a:lnSpc>
                <a:spcPts val="1055"/>
              </a:lnSpc>
              <a:buNone/>
            </a:pPr>
            <a:r>
              <a:rPr lang="en-US" sz="800" dirty="0">
                <a:solidFill>
                  <a:srgbClr val="94A3B8"/>
                </a:solidFill>
                <a:latin typeface="Carlito" pitchFamily="34" charset="0"/>
                <a:ea typeface="Carlito" pitchFamily="34" charset="-122"/>
                <a:cs typeface="Carlito" pitchFamily="34" charset="-120"/>
              </a:rPr>
              <a:t>4G/5G coverage at 80%+ population penetration. Mobile-first distribution now viable.</a:t>
            </a:r>
            <a:endParaRPr lang="en-US" sz="800" dirty="0"/>
          </a:p>
        </p:txBody>
      </p:sp>
      <p:sp>
        <p:nvSpPr>
          <p:cNvPr id="32" name="Text 28"/>
          <p:cNvSpPr/>
          <p:nvPr/>
        </p:nvSpPr>
        <p:spPr>
          <a:xfrm>
            <a:off x="3256322" y="3555802"/>
            <a:ext cx="5369756" cy="1523405"/>
          </a:xfrm>
          <a:prstGeom prst="roundRect">
            <a:avLst>
              <a:gd name="adj" fmla="val 875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33" name="Text 29"/>
          <p:cNvSpPr/>
          <p:nvPr/>
        </p:nvSpPr>
        <p:spPr>
          <a:xfrm>
            <a:off x="3445632" y="3745111"/>
            <a:ext cx="200025" cy="200025"/>
          </a:xfrm>
          <a:prstGeom prst="rect">
            <a:avLst/>
          </a:prstGeom>
          <a:noFill/>
          <a:ln/>
        </p:spPr>
        <p:txBody>
          <a:bodyPr wrap="none" lIns="0" tIns="0" rIns="0" bIns="0" rtlCol="0" anchor="ctr"/>
          <a:lstStyle/>
          <a:p>
            <a:pPr algn="ctr" indent="0" marL="0">
              <a:buNone/>
            </a:pPr>
            <a:r>
              <a:rPr lang="en-US" sz="1969" dirty="0">
                <a:solidFill>
                  <a:srgbClr val="00E676"/>
                </a:solidFill>
                <a:latin typeface="Segoe UI Symbol" pitchFamily="34" charset="0"/>
                <a:ea typeface="Segoe UI Symbol" pitchFamily="34" charset="-122"/>
                <a:cs typeface="Segoe UI Symbol" pitchFamily="34" charset="-120"/>
              </a:rPr>
              <a:t>↗</a:t>
            </a:r>
            <a:endParaRPr lang="en-US" sz="1969" dirty="0"/>
          </a:p>
        </p:txBody>
      </p:sp>
      <p:sp>
        <p:nvSpPr>
          <p:cNvPr id="34" name="Text 30"/>
          <p:cNvSpPr/>
          <p:nvPr/>
        </p:nvSpPr>
        <p:spPr>
          <a:xfrm>
            <a:off x="3802819" y="3802261"/>
            <a:ext cx="4633950" cy="208312"/>
          </a:xfrm>
          <a:prstGeom prst="rect">
            <a:avLst/>
          </a:prstGeom>
          <a:noFill/>
          <a:ln/>
        </p:spPr>
        <p:txBody>
          <a:bodyPr wrap="none" lIns="0" tIns="0" rIns="0" bIns="0" rtlCol="0" anchor="t"/>
          <a:lstStyle/>
          <a:p>
            <a:pPr algn="l" indent="0" marL="0">
              <a:lnSpc>
                <a:spcPts val="1519"/>
              </a:lnSpc>
              <a:buNone/>
            </a:pPr>
            <a:r>
              <a:rPr lang="en-US" sz="1013" b="1" dirty="0">
                <a:solidFill>
                  <a:srgbClr val="F4F7FB"/>
                </a:solidFill>
                <a:latin typeface="Carlito" pitchFamily="34" charset="0"/>
                <a:ea typeface="Carlito" pitchFamily="34" charset="-122"/>
                <a:cs typeface="Carlito" pitchFamily="34" charset="-120"/>
              </a:rPr>
              <a:t>PSX digitization</a:t>
            </a:r>
            <a:endParaRPr lang="en-US" sz="1013" dirty="0"/>
          </a:p>
        </p:txBody>
      </p:sp>
      <p:sp>
        <p:nvSpPr>
          <p:cNvPr id="35" name="Text 31"/>
          <p:cNvSpPr/>
          <p:nvPr/>
        </p:nvSpPr>
        <p:spPr>
          <a:xfrm>
            <a:off x="3802819" y="4038005"/>
            <a:ext cx="4633950" cy="208312"/>
          </a:xfrm>
          <a:prstGeom prst="rect">
            <a:avLst/>
          </a:prstGeom>
          <a:noFill/>
          <a:ln/>
        </p:spPr>
        <p:txBody>
          <a:bodyPr wrap="square" lIns="0" tIns="0" rIns="0" bIns="0" rtlCol="0" anchor="t"/>
          <a:lstStyle/>
          <a:p>
            <a:pPr algn="l" indent="0" marL="0">
              <a:lnSpc>
                <a:spcPts val="1519"/>
              </a:lnSpc>
              <a:buNone/>
            </a:pPr>
            <a:r>
              <a:rPr lang="en-US" sz="1013" b="1" spc="-10" kern="0" dirty="0">
                <a:solidFill>
                  <a:srgbClr val="00E676"/>
                </a:solidFill>
                <a:latin typeface="Courier New" pitchFamily="34" charset="0"/>
                <a:ea typeface="Courier New" pitchFamily="34" charset="-122"/>
                <a:cs typeface="Courier New" pitchFamily="34" charset="-120"/>
              </a:rPr>
              <a:t>KSE-100 mobile-accessible · fractional shares in discussion</a:t>
            </a:r>
            <a:endParaRPr lang="en-US" sz="1013" dirty="0"/>
          </a:p>
        </p:txBody>
      </p:sp>
      <p:sp>
        <p:nvSpPr>
          <p:cNvPr id="36" name="Text 32"/>
          <p:cNvSpPr/>
          <p:nvPr/>
        </p:nvSpPr>
        <p:spPr>
          <a:xfrm>
            <a:off x="3802819" y="4288036"/>
            <a:ext cx="4633950" cy="493776"/>
          </a:xfrm>
          <a:prstGeom prst="rect">
            <a:avLst/>
          </a:prstGeom>
          <a:noFill/>
          <a:ln/>
        </p:spPr>
        <p:txBody>
          <a:bodyPr wrap="square" lIns="0" tIns="0" rIns="0" bIns="0" rtlCol="0" anchor="t"/>
          <a:lstStyle/>
          <a:p>
            <a:pPr algn="l" indent="0" marL="0">
              <a:lnSpc>
                <a:spcPts val="1055"/>
              </a:lnSpc>
              <a:buNone/>
            </a:pPr>
            <a:r>
              <a:rPr lang="en-US" sz="800" dirty="0">
                <a:solidFill>
                  <a:srgbClr val="94A3B8"/>
                </a:solidFill>
                <a:latin typeface="Carlito" pitchFamily="34" charset="0"/>
                <a:ea typeface="Carlito" pitchFamily="34" charset="-122"/>
                <a:cs typeface="Carlito" pitchFamily="34" charset="-120"/>
              </a:rPr>
              <a:t>The exchange itself is now accessible via mobile-first interfaces, with fractional share ownership under active regulatory review. The plumbing for mass retail is built — what is missing is the intelligence layer that turns raw PSX data into a plan.</a:t>
            </a:r>
            <a:endParaRPr lang="en-US" sz="800" dirty="0"/>
          </a:p>
        </p:txBody>
      </p:sp>
      <p:sp>
        <p:nvSpPr>
          <p:cNvPr id="37" name="Text 33"/>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WHY NOW</a:t>
            </a:r>
            <a:endParaRPr lang="en-US" sz="800" dirty="0"/>
          </a:p>
        </p:txBody>
      </p:sp>
      <p:sp>
        <p:nvSpPr>
          <p:cNvPr id="38" name="Text 34"/>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07 / 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55000"/>
          </a:blip>
          <a:stretch>
            <a:fillRect/>
          </a:stretch>
        </p:blipFill>
        <p:spPr>
          <a:xfrm>
            <a:off x="6286500" y="-1428750"/>
            <a:ext cx="4143375" cy="4143375"/>
          </a:xfrm>
          <a:prstGeom prst="rect">
            <a:avLst/>
          </a:prstGeom>
        </p:spPr>
      </p:pic>
      <p:sp>
        <p:nvSpPr>
          <p:cNvPr id="4" name="Text 0"/>
          <p:cNvSpPr/>
          <p:nvPr/>
        </p:nvSpPr>
        <p:spPr>
          <a:xfrm>
            <a:off x="6286500" y="-1428750"/>
            <a:ext cx="4143375" cy="4143375"/>
          </a:xfrm>
          <a:prstGeom prst="ellipse">
            <a:avLst/>
          </a:prstGeom>
          <a:solidFill>
            <a:srgbClr val="00E676">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35000"/>
          </a:blip>
          <a:stretch>
            <a:fillRect/>
          </a:stretch>
        </p:blipFill>
        <p:spPr>
          <a:xfrm>
            <a:off x="-571500" y="3286125"/>
            <a:ext cx="2714625" cy="2714625"/>
          </a:xfrm>
          <a:prstGeom prst="rect">
            <a:avLst/>
          </a:prstGeom>
        </p:spPr>
      </p:pic>
      <p:sp>
        <p:nvSpPr>
          <p:cNvPr id="6" name="Text 1"/>
          <p:cNvSpPr/>
          <p:nvPr/>
        </p:nvSpPr>
        <p:spPr>
          <a:xfrm>
            <a:off x="-571500" y="3286125"/>
            <a:ext cx="2714625" cy="2714625"/>
          </a:xfrm>
          <a:prstGeom prst="ellipse">
            <a:avLst/>
          </a:prstGeom>
          <a:solidFill>
            <a:srgbClr val="00E676">
              <a:alpha val="0"/>
            </a:srgbClr>
          </a:solidFill>
          <a:ln/>
        </p:spPr>
        <p:txBody>
          <a:bodyPr wrap="square" rtlCol="0" anchor="ctr"/>
          <a:lstStyle/>
          <a:p>
            <a:pPr indent="0" marL="0">
              <a:buNone/>
            </a:pPr>
            <a:endParaRPr lang="en-US" dirty="0"/>
          </a:p>
        </p:txBody>
      </p:sp>
      <p:sp>
        <p:nvSpPr>
          <p:cNvPr id="7" name="Text 2"/>
          <p:cNvSpPr/>
          <p:nvPr/>
        </p:nvSpPr>
        <p:spPr>
          <a:xfrm>
            <a:off x="514350" y="439341"/>
            <a:ext cx="71438" cy="71438"/>
          </a:xfrm>
          <a:prstGeom prst="ellipse">
            <a:avLst/>
          </a:prstGeom>
          <a:solidFill>
            <a:srgbClr val="00E676"/>
          </a:solidFill>
          <a:ln/>
        </p:spPr>
        <p:txBody>
          <a:bodyPr wrap="square" rtlCol="0" anchor="ctr"/>
          <a:lstStyle/>
          <a:p>
            <a:pPr indent="0" marL="0">
              <a:buNone/>
            </a:pPr>
            <a:endParaRPr lang="en-US" dirty="0"/>
          </a:p>
        </p:txBody>
      </p:sp>
      <p:sp>
        <p:nvSpPr>
          <p:cNvPr id="8" name="Text 3"/>
          <p:cNvSpPr/>
          <p:nvPr/>
        </p:nvSpPr>
        <p:spPr>
          <a:xfrm>
            <a:off x="642938" y="400050"/>
            <a:ext cx="682228" cy="164592"/>
          </a:xfrm>
          <a:prstGeom prst="rect">
            <a:avLst/>
          </a:prstGeom>
          <a:noFill/>
          <a:ln/>
        </p:spPr>
        <p:txBody>
          <a:bodyPr wrap="none" lIns="0" tIns="0" rIns="0" bIns="0" rtlCol="0" anchor="t"/>
          <a:lstStyle/>
          <a:p>
            <a:pPr algn="l" indent="0" marL="0">
              <a:lnSpc>
                <a:spcPts val="1181"/>
              </a:lnSpc>
              <a:buNone/>
            </a:pPr>
            <a:r>
              <a:rPr lang="en-US" sz="800" b="1" spc="-8" kern="0" dirty="0">
                <a:solidFill>
                  <a:srgbClr val="F4F7FB"/>
                </a:solidFill>
                <a:latin typeface="Carlito" pitchFamily="34" charset="0"/>
                <a:ea typeface="Carlito" pitchFamily="34" charset="-122"/>
                <a:cs typeface="Carlito" pitchFamily="34" charset="-120"/>
              </a:rPr>
              <a:t>Latent.pk</a:t>
            </a:r>
            <a:endParaRPr lang="en-US" sz="800" dirty="0"/>
          </a:p>
        </p:txBody>
      </p:sp>
      <p:sp>
        <p:nvSpPr>
          <p:cNvPr id="9" name="Text 4"/>
          <p:cNvSpPr/>
          <p:nvPr/>
        </p:nvSpPr>
        <p:spPr>
          <a:xfrm>
            <a:off x="7425928" y="416123"/>
            <a:ext cx="1522482"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64748B"/>
                </a:solidFill>
                <a:latin typeface="Liberation Sans Narrow" pitchFamily="34" charset="0"/>
                <a:ea typeface="Liberation Sans Narrow" pitchFamily="34" charset="-122"/>
                <a:cs typeface="Liberation Sans Narrow" pitchFamily="34" charset="-120"/>
              </a:rPr>
              <a:t>INVESTOR DECK · 2026</a:t>
            </a:r>
            <a:endParaRPr lang="en-US" sz="800" dirty="0"/>
          </a:p>
        </p:txBody>
      </p:sp>
      <p:sp>
        <p:nvSpPr>
          <p:cNvPr id="10" name="Text 5"/>
          <p:cNvSpPr/>
          <p:nvPr/>
        </p:nvSpPr>
        <p:spPr>
          <a:xfrm>
            <a:off x="491490" y="651567"/>
            <a:ext cx="1073192"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11" name="Text 6"/>
          <p:cNvSpPr/>
          <p:nvPr/>
        </p:nvSpPr>
        <p:spPr>
          <a:xfrm>
            <a:off x="514350" y="664369"/>
            <a:ext cx="1027472"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THE SOLUTION</a:t>
            </a:r>
            <a:endParaRPr lang="en-US" sz="800" dirty="0"/>
          </a:p>
        </p:txBody>
      </p:sp>
      <p:sp>
        <p:nvSpPr>
          <p:cNvPr id="12" name="Text 7"/>
          <p:cNvSpPr/>
          <p:nvPr/>
        </p:nvSpPr>
        <p:spPr>
          <a:xfrm>
            <a:off x="514350" y="1003697"/>
            <a:ext cx="8629650" cy="712696"/>
          </a:xfrm>
          <a:prstGeom prst="rect">
            <a:avLst/>
          </a:prstGeom>
          <a:noFill/>
          <a:ln/>
        </p:spPr>
        <p:txBody>
          <a:bodyPr wrap="square" lIns="0" tIns="0" rIns="0" bIns="0" rtlCol="0" anchor="t"/>
          <a:lstStyle/>
          <a:p>
            <a:pPr algn="l" indent="0" marL="0">
              <a:lnSpc>
                <a:spcPts val="2599"/>
              </a:lnSpc>
              <a:buNone/>
            </a:pPr>
            <a:r>
              <a:rPr lang="en-US" sz="2363" b="1" spc="-47" kern="0" dirty="0">
                <a:solidFill>
                  <a:srgbClr val="F4F7FB"/>
                </a:solidFill>
                <a:latin typeface="Carlito" pitchFamily="34" charset="0"/>
                <a:ea typeface="Carlito" pitchFamily="34" charset="-122"/>
                <a:cs typeface="Carlito" pitchFamily="34" charset="-120"/>
              </a:rPr>
              <a:t>Latent turns market noise into a plan you can follow.</a:t>
            </a:r>
            <a:endParaRPr lang="en-US" sz="2363" dirty="0"/>
          </a:p>
        </p:txBody>
      </p:sp>
      <p:sp>
        <p:nvSpPr>
          <p:cNvPr id="13" name="Text 8"/>
          <p:cNvSpPr/>
          <p:nvPr/>
        </p:nvSpPr>
        <p:spPr>
          <a:xfrm>
            <a:off x="514350" y="1763613"/>
            <a:ext cx="7143750" cy="358759"/>
          </a:xfrm>
          <a:prstGeom prst="rect">
            <a:avLst/>
          </a:prstGeom>
          <a:noFill/>
          <a:ln/>
        </p:spPr>
        <p:txBody>
          <a:bodyPr wrap="square" lIns="0" tIns="0" rIns="0" bIns="0" rtlCol="0" anchor="t"/>
          <a:lstStyle/>
          <a:p>
            <a:pPr algn="l" indent="0" marL="0">
              <a:lnSpc>
                <a:spcPts val="1308"/>
              </a:lnSpc>
              <a:buNone/>
            </a:pPr>
            <a:r>
              <a:rPr lang="en-US" sz="844" dirty="0">
                <a:solidFill>
                  <a:srgbClr val="94A3B8"/>
                </a:solidFill>
                <a:latin typeface="Carlito" pitchFamily="34" charset="0"/>
                <a:ea typeface="Carlito" pitchFamily="34" charset="-122"/>
                <a:cs typeface="Carlito" pitchFamily="34" charset="-120"/>
              </a:rPr>
              <a:t>Latent is not a brokerage. It is an intelligence layer that translates the complexity of the Pakistan Stock Exchange into a clear, personalized action plan — calibrated to each investor's risk profile, time horizon, and financial targets.</a:t>
            </a:r>
            <a:endParaRPr lang="en-US" sz="844" dirty="0"/>
          </a:p>
        </p:txBody>
      </p:sp>
      <p:sp>
        <p:nvSpPr>
          <p:cNvPr id="14" name="Text 9"/>
          <p:cNvSpPr/>
          <p:nvPr/>
        </p:nvSpPr>
        <p:spPr>
          <a:xfrm>
            <a:off x="517922" y="2299395"/>
            <a:ext cx="2602669" cy="1921669"/>
          </a:xfrm>
          <a:prstGeom prst="roundRect">
            <a:avLst>
              <a:gd name="adj" fmla="val 693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5" name="Text 10"/>
          <p:cNvSpPr/>
          <p:nvPr/>
        </p:nvSpPr>
        <p:spPr>
          <a:xfrm>
            <a:off x="692944" y="2488704"/>
            <a:ext cx="2252625"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00E676">
                    <a:alpha val="90000"/>
                  </a:srgbClr>
                </a:solidFill>
                <a:latin typeface="Liberation Sans Narrow" pitchFamily="34" charset="0"/>
                <a:ea typeface="Liberation Sans Narrow" pitchFamily="34" charset="-122"/>
                <a:cs typeface="Liberation Sans Narrow" pitchFamily="34" charset="-120"/>
              </a:rPr>
              <a:t>01</a:t>
            </a:r>
            <a:endParaRPr lang="en-US" sz="3600" dirty="0"/>
          </a:p>
        </p:txBody>
      </p:sp>
      <p:sp>
        <p:nvSpPr>
          <p:cNvPr id="16" name="Text 11"/>
          <p:cNvSpPr/>
          <p:nvPr/>
        </p:nvSpPr>
        <p:spPr>
          <a:xfrm>
            <a:off x="692944" y="3045916"/>
            <a:ext cx="2252625"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F4F7FB"/>
                </a:solidFill>
                <a:latin typeface="Carlito" pitchFamily="34" charset="0"/>
                <a:ea typeface="Carlito" pitchFamily="34" charset="-122"/>
                <a:cs typeface="Carlito" pitchFamily="34" charset="-120"/>
              </a:rPr>
              <a:t>Signal over noise</a:t>
            </a:r>
            <a:endParaRPr lang="en-US" sz="1238" dirty="0"/>
          </a:p>
        </p:txBody>
      </p:sp>
      <p:sp>
        <p:nvSpPr>
          <p:cNvPr id="17" name="Text 12"/>
          <p:cNvSpPr/>
          <p:nvPr/>
        </p:nvSpPr>
        <p:spPr>
          <a:xfrm>
            <a:off x="692944" y="3353098"/>
            <a:ext cx="2252625" cy="678656"/>
          </a:xfrm>
          <a:prstGeom prst="rect">
            <a:avLst/>
          </a:prstGeom>
          <a:noFill/>
          <a:ln/>
        </p:spPr>
        <p:txBody>
          <a:bodyPr wrap="square" lIns="0" tIns="0" rIns="0" bIns="0" rtlCol="0" anchor="t"/>
          <a:lstStyle/>
          <a:p>
            <a:pPr algn="l" indent="0" marL="0">
              <a:lnSpc>
                <a:spcPts val="1177"/>
              </a:lnSpc>
              <a:buNone/>
            </a:pPr>
            <a:r>
              <a:rPr lang="en-US" sz="800" dirty="0">
                <a:solidFill>
                  <a:srgbClr val="94A3B8"/>
                </a:solidFill>
                <a:latin typeface="Carlito" pitchFamily="34" charset="0"/>
                <a:ea typeface="Carlito" pitchFamily="34" charset="-122"/>
                <a:cs typeface="Carlito" pitchFamily="34" charset="-120"/>
              </a:rPr>
              <a:t>Predictive algorithms digest 200+ data sources per candidate stock — corporate filings, technical patterns, macro signals, sentiment, and on-the-ground broker research. Noise is filtered before the investor ever sees the output.</a:t>
            </a:r>
            <a:endParaRPr lang="en-US" sz="800" dirty="0"/>
          </a:p>
        </p:txBody>
      </p:sp>
      <p:sp>
        <p:nvSpPr>
          <p:cNvPr id="18" name="Text 13"/>
          <p:cNvSpPr/>
          <p:nvPr/>
        </p:nvSpPr>
        <p:spPr>
          <a:xfrm>
            <a:off x="3270610" y="2299395"/>
            <a:ext cx="2602669" cy="1921669"/>
          </a:xfrm>
          <a:prstGeom prst="roundRect">
            <a:avLst>
              <a:gd name="adj" fmla="val 693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9" name="Text 14"/>
          <p:cNvSpPr/>
          <p:nvPr/>
        </p:nvSpPr>
        <p:spPr>
          <a:xfrm>
            <a:off x="3445632" y="2488704"/>
            <a:ext cx="2252625"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00E676">
                    <a:alpha val="90000"/>
                  </a:srgbClr>
                </a:solidFill>
                <a:latin typeface="Liberation Sans Narrow" pitchFamily="34" charset="0"/>
                <a:ea typeface="Liberation Sans Narrow" pitchFamily="34" charset="-122"/>
                <a:cs typeface="Liberation Sans Narrow" pitchFamily="34" charset="-120"/>
              </a:rPr>
              <a:t>02</a:t>
            </a:r>
            <a:endParaRPr lang="en-US" sz="3600" dirty="0"/>
          </a:p>
        </p:txBody>
      </p:sp>
      <p:sp>
        <p:nvSpPr>
          <p:cNvPr id="20" name="Text 15"/>
          <p:cNvSpPr/>
          <p:nvPr/>
        </p:nvSpPr>
        <p:spPr>
          <a:xfrm>
            <a:off x="3445632" y="3045916"/>
            <a:ext cx="2252625"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F4F7FB"/>
                </a:solidFill>
                <a:latin typeface="Carlito" pitchFamily="34" charset="0"/>
                <a:ea typeface="Carlito" pitchFamily="34" charset="-122"/>
                <a:cs typeface="Carlito" pitchFamily="34" charset="-120"/>
              </a:rPr>
              <a:t>Plan over tip</a:t>
            </a:r>
            <a:endParaRPr lang="en-US" sz="1238" dirty="0"/>
          </a:p>
        </p:txBody>
      </p:sp>
      <p:sp>
        <p:nvSpPr>
          <p:cNvPr id="21" name="Text 16"/>
          <p:cNvSpPr/>
          <p:nvPr/>
        </p:nvSpPr>
        <p:spPr>
          <a:xfrm>
            <a:off x="3445632" y="3353098"/>
            <a:ext cx="2252625" cy="678656"/>
          </a:xfrm>
          <a:prstGeom prst="rect">
            <a:avLst/>
          </a:prstGeom>
          <a:noFill/>
          <a:ln/>
        </p:spPr>
        <p:txBody>
          <a:bodyPr wrap="square" lIns="0" tIns="0" rIns="0" bIns="0" rtlCol="0" anchor="t"/>
          <a:lstStyle/>
          <a:p>
            <a:pPr algn="l" indent="0" marL="0">
              <a:lnSpc>
                <a:spcPts val="1177"/>
              </a:lnSpc>
              <a:buNone/>
            </a:pPr>
            <a:r>
              <a:rPr lang="en-US" sz="800" dirty="0">
                <a:solidFill>
                  <a:srgbClr val="94A3B8"/>
                </a:solidFill>
                <a:latin typeface="Carlito" pitchFamily="34" charset="0"/>
                <a:ea typeface="Carlito" pitchFamily="34" charset="-122"/>
                <a:cs typeface="Carlito" pitchFamily="34" charset="-120"/>
              </a:rPr>
              <a:t>Every output is a goal-based, time-bound, risk-calibrated plan — not a single-stock tip. Allocation sizing, entry strategy, review cadence, and exit triggers are all built in. The investor follows a plan, not a hunch.</a:t>
            </a:r>
            <a:endParaRPr lang="en-US" sz="800" dirty="0"/>
          </a:p>
        </p:txBody>
      </p:sp>
      <p:sp>
        <p:nvSpPr>
          <p:cNvPr id="22" name="Text 17"/>
          <p:cNvSpPr/>
          <p:nvPr/>
        </p:nvSpPr>
        <p:spPr>
          <a:xfrm>
            <a:off x="6023297" y="2299395"/>
            <a:ext cx="2602781" cy="1921669"/>
          </a:xfrm>
          <a:prstGeom prst="roundRect">
            <a:avLst>
              <a:gd name="adj" fmla="val 6939"/>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3" name="Text 18"/>
          <p:cNvSpPr/>
          <p:nvPr/>
        </p:nvSpPr>
        <p:spPr>
          <a:xfrm>
            <a:off x="6198319" y="2488704"/>
            <a:ext cx="2252737"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00E676">
                    <a:alpha val="90000"/>
                  </a:srgbClr>
                </a:solidFill>
                <a:latin typeface="Liberation Sans Narrow" pitchFamily="34" charset="0"/>
                <a:ea typeface="Liberation Sans Narrow" pitchFamily="34" charset="-122"/>
                <a:cs typeface="Liberation Sans Narrow" pitchFamily="34" charset="-120"/>
              </a:rPr>
              <a:t>03</a:t>
            </a:r>
            <a:endParaRPr lang="en-US" sz="3600" dirty="0"/>
          </a:p>
        </p:txBody>
      </p:sp>
      <p:sp>
        <p:nvSpPr>
          <p:cNvPr id="24" name="Text 19"/>
          <p:cNvSpPr/>
          <p:nvPr/>
        </p:nvSpPr>
        <p:spPr>
          <a:xfrm>
            <a:off x="6198319" y="3045916"/>
            <a:ext cx="2252737" cy="509207"/>
          </a:xfrm>
          <a:prstGeom prst="rect">
            <a:avLst/>
          </a:prstGeom>
          <a:noFill/>
          <a:ln/>
        </p:spPr>
        <p:txBody>
          <a:bodyPr wrap="square" lIns="0" tIns="0" rIns="0" bIns="0" rtlCol="0" anchor="t"/>
          <a:lstStyle/>
          <a:p>
            <a:pPr algn="l" indent="0" marL="0">
              <a:lnSpc>
                <a:spcPts val="1856"/>
              </a:lnSpc>
              <a:buNone/>
            </a:pPr>
            <a:r>
              <a:rPr lang="en-US" sz="1238" b="1" spc="-12" kern="0" dirty="0">
                <a:solidFill>
                  <a:srgbClr val="F4F7FB"/>
                </a:solidFill>
                <a:latin typeface="Carlito" pitchFamily="34" charset="0"/>
                <a:ea typeface="Carlito" pitchFamily="34" charset="-122"/>
                <a:cs typeface="Carlito" pitchFamily="34" charset="-120"/>
              </a:rPr>
              <a:t>Personalized over generic</a:t>
            </a:r>
            <a:endParaRPr lang="en-US" sz="1238" dirty="0"/>
          </a:p>
        </p:txBody>
      </p:sp>
      <p:sp>
        <p:nvSpPr>
          <p:cNvPr id="25" name="Text 20"/>
          <p:cNvSpPr/>
          <p:nvPr/>
        </p:nvSpPr>
        <p:spPr>
          <a:xfrm>
            <a:off x="6198319" y="3588841"/>
            <a:ext cx="2252737" cy="442913"/>
          </a:xfrm>
          <a:prstGeom prst="rect">
            <a:avLst/>
          </a:prstGeom>
          <a:noFill/>
          <a:ln/>
        </p:spPr>
        <p:txBody>
          <a:bodyPr wrap="square" lIns="0" tIns="0" rIns="0" bIns="0" rtlCol="0" anchor="t"/>
          <a:lstStyle/>
          <a:p>
            <a:pPr algn="l" indent="0" marL="0">
              <a:lnSpc>
                <a:spcPts val="1177"/>
              </a:lnSpc>
              <a:buNone/>
            </a:pPr>
            <a:r>
              <a:rPr lang="en-US" sz="800" dirty="0">
                <a:solidFill>
                  <a:srgbClr val="94A3B8"/>
                </a:solidFill>
                <a:latin typeface="Carlito" pitchFamily="34" charset="0"/>
                <a:ea typeface="Carlito" pitchFamily="34" charset="-122"/>
                <a:cs typeface="Carlito" pitchFamily="34" charset="-120"/>
              </a:rPr>
              <a:t>Risk tolerance, time horizon, financial targets, and liquidity constraints drive every recommendation. Two investors with the same capital can receive materially different plans because they have materially different lives.</a:t>
            </a:r>
            <a:endParaRPr lang="en-US" sz="800" dirty="0"/>
          </a:p>
        </p:txBody>
      </p:sp>
      <p:sp>
        <p:nvSpPr>
          <p:cNvPr id="26" name="Text 21"/>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SOLUTION</a:t>
            </a:r>
            <a:endParaRPr lang="en-US" sz="800" dirty="0"/>
          </a:p>
        </p:txBody>
      </p:sp>
      <p:sp>
        <p:nvSpPr>
          <p:cNvPr id="27" name="Text 22"/>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08 / 14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40000"/>
          </a:blip>
          <a:stretch>
            <a:fillRect/>
          </a:stretch>
        </p:blipFill>
        <p:spPr>
          <a:xfrm>
            <a:off x="2714625" y="2714625"/>
            <a:ext cx="3714750" cy="3714750"/>
          </a:xfrm>
          <a:prstGeom prst="rect">
            <a:avLst/>
          </a:prstGeom>
        </p:spPr>
      </p:pic>
      <p:sp>
        <p:nvSpPr>
          <p:cNvPr id="4" name="Text 0"/>
          <p:cNvSpPr/>
          <p:nvPr/>
        </p:nvSpPr>
        <p:spPr>
          <a:xfrm>
            <a:off x="2714625" y="2714625"/>
            <a:ext cx="3714750" cy="3714750"/>
          </a:xfrm>
          <a:prstGeom prst="ellipse">
            <a:avLst/>
          </a:prstGeom>
          <a:solidFill>
            <a:srgbClr val="00E676">
              <a:alpha val="0"/>
            </a:srgbClr>
          </a:solidFill>
          <a:ln/>
        </p:spPr>
        <p:txBody>
          <a:bodyPr wrap="square" rtlCol="0" anchor="ctr"/>
          <a:lstStyle/>
          <a:p>
            <a:pPr indent="0" marL="0">
              <a:buNone/>
            </a:pPr>
            <a:endParaRPr lang="en-US" dirty="0"/>
          </a:p>
        </p:txBody>
      </p:sp>
      <p:sp>
        <p:nvSpPr>
          <p:cNvPr id="5" name="Text 1"/>
          <p:cNvSpPr/>
          <p:nvPr/>
        </p:nvSpPr>
        <p:spPr>
          <a:xfrm>
            <a:off x="514350" y="439341"/>
            <a:ext cx="71438" cy="71438"/>
          </a:xfrm>
          <a:prstGeom prst="ellipse">
            <a:avLst/>
          </a:prstGeom>
          <a:solidFill>
            <a:srgbClr val="00E676"/>
          </a:solidFill>
          <a:ln/>
        </p:spPr>
        <p:txBody>
          <a:bodyPr wrap="square" rtlCol="0" anchor="ctr"/>
          <a:lstStyle/>
          <a:p>
            <a:pPr indent="0" marL="0">
              <a:buNone/>
            </a:pPr>
            <a:endParaRPr lang="en-US" dirty="0"/>
          </a:p>
        </p:txBody>
      </p:sp>
      <p:sp>
        <p:nvSpPr>
          <p:cNvPr id="6" name="Text 2"/>
          <p:cNvSpPr/>
          <p:nvPr/>
        </p:nvSpPr>
        <p:spPr>
          <a:xfrm>
            <a:off x="642938" y="400050"/>
            <a:ext cx="682228" cy="164592"/>
          </a:xfrm>
          <a:prstGeom prst="rect">
            <a:avLst/>
          </a:prstGeom>
          <a:noFill/>
          <a:ln/>
        </p:spPr>
        <p:txBody>
          <a:bodyPr wrap="none" lIns="0" tIns="0" rIns="0" bIns="0" rtlCol="0" anchor="t"/>
          <a:lstStyle/>
          <a:p>
            <a:pPr algn="l" indent="0" marL="0">
              <a:lnSpc>
                <a:spcPts val="1181"/>
              </a:lnSpc>
              <a:buNone/>
            </a:pPr>
            <a:r>
              <a:rPr lang="en-US" sz="800" b="1" spc="-8" kern="0" dirty="0">
                <a:solidFill>
                  <a:srgbClr val="F4F7FB"/>
                </a:solidFill>
                <a:latin typeface="Carlito" pitchFamily="34" charset="0"/>
                <a:ea typeface="Carlito" pitchFamily="34" charset="-122"/>
                <a:cs typeface="Carlito" pitchFamily="34" charset="-120"/>
              </a:rPr>
              <a:t>Latent.pk</a:t>
            </a:r>
            <a:endParaRPr lang="en-US" sz="800" dirty="0"/>
          </a:p>
        </p:txBody>
      </p:sp>
      <p:sp>
        <p:nvSpPr>
          <p:cNvPr id="7" name="Text 3"/>
          <p:cNvSpPr/>
          <p:nvPr/>
        </p:nvSpPr>
        <p:spPr>
          <a:xfrm>
            <a:off x="7425928" y="416123"/>
            <a:ext cx="1522482"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64748B"/>
                </a:solidFill>
                <a:latin typeface="Liberation Sans Narrow" pitchFamily="34" charset="0"/>
                <a:ea typeface="Liberation Sans Narrow" pitchFamily="34" charset="-122"/>
                <a:cs typeface="Liberation Sans Narrow" pitchFamily="34" charset="-120"/>
              </a:rPr>
              <a:t>INVESTOR DECK · 2026</a:t>
            </a:r>
            <a:endParaRPr lang="en-US" sz="800" dirty="0"/>
          </a:p>
        </p:txBody>
      </p:sp>
      <p:sp>
        <p:nvSpPr>
          <p:cNvPr id="8" name="Text 4"/>
          <p:cNvSpPr/>
          <p:nvPr/>
        </p:nvSpPr>
        <p:spPr>
          <a:xfrm>
            <a:off x="491490" y="665855"/>
            <a:ext cx="1140165"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9" name="Text 5"/>
          <p:cNvSpPr/>
          <p:nvPr/>
        </p:nvSpPr>
        <p:spPr>
          <a:xfrm>
            <a:off x="514350" y="678656"/>
            <a:ext cx="1094445"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PRODUCT FLOW</a:t>
            </a:r>
            <a:endParaRPr lang="en-US" sz="800" dirty="0"/>
          </a:p>
        </p:txBody>
      </p:sp>
      <p:sp>
        <p:nvSpPr>
          <p:cNvPr id="10" name="Text 6"/>
          <p:cNvSpPr/>
          <p:nvPr/>
        </p:nvSpPr>
        <p:spPr>
          <a:xfrm>
            <a:off x="514350" y="1017984"/>
            <a:ext cx="8629650" cy="678942"/>
          </a:xfrm>
          <a:prstGeom prst="rect">
            <a:avLst/>
          </a:prstGeom>
          <a:noFill/>
          <a:ln/>
        </p:spPr>
        <p:txBody>
          <a:bodyPr wrap="square" lIns="0" tIns="0" rIns="0" bIns="0" rtlCol="0" anchor="t"/>
          <a:lstStyle/>
          <a:p>
            <a:pPr algn="l" indent="0" marL="0">
              <a:lnSpc>
                <a:spcPts val="2475"/>
              </a:lnSpc>
              <a:buNone/>
            </a:pPr>
            <a:r>
              <a:rPr lang="en-US" sz="2250" b="1" spc="-45" kern="0" dirty="0">
                <a:solidFill>
                  <a:srgbClr val="F4F7FB"/>
                </a:solidFill>
                <a:latin typeface="Carlito" pitchFamily="34" charset="0"/>
                <a:ea typeface="Carlito" pitchFamily="34" charset="-122"/>
                <a:cs typeface="Carlito" pitchFamily="34" charset="-120"/>
              </a:rPr>
              <a:t>From signup to executing a goal-based plan in under four minutes.</a:t>
            </a:r>
            <a:endParaRPr lang="en-US" sz="2250" dirty="0"/>
          </a:p>
        </p:txBody>
      </p:sp>
      <p:sp>
        <p:nvSpPr>
          <p:cNvPr id="11" name="Text 7"/>
          <p:cNvSpPr/>
          <p:nvPr/>
        </p:nvSpPr>
        <p:spPr>
          <a:xfrm>
            <a:off x="514350" y="1732359"/>
            <a:ext cx="7143750" cy="164592"/>
          </a:xfrm>
          <a:prstGeom prst="rect">
            <a:avLst/>
          </a:prstGeom>
          <a:noFill/>
          <a:ln/>
        </p:spPr>
        <p:txBody>
          <a:bodyPr wrap="square" lIns="0" tIns="0" rIns="0" bIns="0" rtlCol="0" anchor="t"/>
          <a:lstStyle/>
          <a:p>
            <a:pPr algn="l" indent="0" marL="0">
              <a:lnSpc>
                <a:spcPts val="1181"/>
              </a:lnSpc>
              <a:buNone/>
            </a:pPr>
            <a:r>
              <a:rPr lang="en-US" sz="800" dirty="0">
                <a:solidFill>
                  <a:srgbClr val="94A3B8"/>
                </a:solidFill>
                <a:latin typeface="Carlito" pitchFamily="34" charset="0"/>
                <a:ea typeface="Carlito" pitchFamily="34" charset="-122"/>
                <a:cs typeface="Carlito" pitchFamily="34" charset="-120"/>
              </a:rPr>
              <a:t>The full loop, from first launch to a working plan with executable orders.</a:t>
            </a:r>
            <a:endParaRPr lang="en-US" sz="800" dirty="0"/>
          </a:p>
        </p:txBody>
      </p:sp>
      <p:sp>
        <p:nvSpPr>
          <p:cNvPr id="12" name="Text 8"/>
          <p:cNvSpPr/>
          <p:nvPr/>
        </p:nvSpPr>
        <p:spPr>
          <a:xfrm>
            <a:off x="1163538" y="2150269"/>
            <a:ext cx="6816923" cy="7144"/>
          </a:xfrm>
          <a:prstGeom prst="rect">
            <a:avLst/>
          </a:prstGeom>
          <a:solidFill>
            <a:srgbClr val="FFFFFF">
              <a:alpha val="14000"/>
            </a:srgbClr>
          </a:solidFill>
          <a:ln/>
        </p:spPr>
        <p:txBody>
          <a:bodyPr wrap="square" rtlCol="0" anchor="ctr"/>
          <a:lstStyle/>
          <a:p>
            <a:pPr indent="0" marL="0">
              <a:buNone/>
            </a:pPr>
            <a:endParaRPr lang="en-US" dirty="0"/>
          </a:p>
        </p:txBody>
      </p:sp>
      <p:sp>
        <p:nvSpPr>
          <p:cNvPr id="13" name="Text 9"/>
          <p:cNvSpPr/>
          <p:nvPr/>
        </p:nvSpPr>
        <p:spPr>
          <a:xfrm>
            <a:off x="1478756" y="2103834"/>
            <a:ext cx="100013" cy="100013"/>
          </a:xfrm>
          <a:prstGeom prst="ellipse">
            <a:avLst/>
          </a:prstGeom>
          <a:solidFill>
            <a:srgbClr val="00E676"/>
          </a:solidFill>
          <a:ln/>
          <a:effectLst>
            <a:outerShdw sx="100000" sy="100000" kx="0" ky="0" algn="bl" rotWithShape="0" blurRad="152400" dist="50800" dir="16200000">
              <a:srgbClr val="00E676">
                <a:alpha val="35000"/>
              </a:srgbClr>
            </a:outerShdw>
          </a:effectLst>
        </p:spPr>
        <p:txBody>
          <a:bodyPr wrap="square" rtlCol="0" anchor="ctr"/>
          <a:lstStyle/>
          <a:p>
            <a:pPr indent="0" marL="0">
              <a:buNone/>
            </a:pPr>
            <a:endParaRPr lang="en-US" dirty="0"/>
          </a:p>
        </p:txBody>
      </p:sp>
      <p:sp>
        <p:nvSpPr>
          <p:cNvPr id="14" name="Text 10"/>
          <p:cNvSpPr/>
          <p:nvPr/>
        </p:nvSpPr>
        <p:spPr>
          <a:xfrm>
            <a:off x="3507581" y="2103834"/>
            <a:ext cx="100013" cy="100013"/>
          </a:xfrm>
          <a:prstGeom prst="ellipse">
            <a:avLst/>
          </a:prstGeom>
          <a:solidFill>
            <a:srgbClr val="00E676"/>
          </a:solidFill>
          <a:ln/>
          <a:effectLst>
            <a:outerShdw sx="100000" sy="100000" kx="0" ky="0" algn="bl" rotWithShape="0" blurRad="152400" dist="50800" dir="16200000">
              <a:srgbClr val="00E676">
                <a:alpha val="35000"/>
              </a:srgbClr>
            </a:outerShdw>
          </a:effectLst>
        </p:spPr>
        <p:txBody>
          <a:bodyPr wrap="square" rtlCol="0" anchor="ctr"/>
          <a:lstStyle/>
          <a:p>
            <a:pPr indent="0" marL="0">
              <a:buNone/>
            </a:pPr>
            <a:endParaRPr lang="en-US" dirty="0"/>
          </a:p>
        </p:txBody>
      </p:sp>
      <p:sp>
        <p:nvSpPr>
          <p:cNvPr id="15" name="Text 11"/>
          <p:cNvSpPr/>
          <p:nvPr/>
        </p:nvSpPr>
        <p:spPr>
          <a:xfrm>
            <a:off x="5536406" y="2103834"/>
            <a:ext cx="100013" cy="100013"/>
          </a:xfrm>
          <a:prstGeom prst="ellipse">
            <a:avLst/>
          </a:prstGeom>
          <a:solidFill>
            <a:srgbClr val="00E676"/>
          </a:solidFill>
          <a:ln/>
          <a:effectLst>
            <a:outerShdw sx="100000" sy="100000" kx="0" ky="0" algn="bl" rotWithShape="0" blurRad="152400" dist="50800" dir="16200000">
              <a:srgbClr val="00E676">
                <a:alpha val="35000"/>
              </a:srgbClr>
            </a:outerShdw>
          </a:effectLst>
        </p:spPr>
        <p:txBody>
          <a:bodyPr wrap="square" rtlCol="0" anchor="ctr"/>
          <a:lstStyle/>
          <a:p>
            <a:pPr indent="0" marL="0">
              <a:buNone/>
            </a:pPr>
            <a:endParaRPr lang="en-US" dirty="0"/>
          </a:p>
        </p:txBody>
      </p:sp>
      <p:sp>
        <p:nvSpPr>
          <p:cNvPr id="16" name="Text 12"/>
          <p:cNvSpPr/>
          <p:nvPr/>
        </p:nvSpPr>
        <p:spPr>
          <a:xfrm>
            <a:off x="7565231" y="2103834"/>
            <a:ext cx="100013" cy="100013"/>
          </a:xfrm>
          <a:prstGeom prst="ellipse">
            <a:avLst/>
          </a:prstGeom>
          <a:solidFill>
            <a:srgbClr val="00E676"/>
          </a:solidFill>
          <a:ln/>
          <a:effectLst>
            <a:outerShdw sx="100000" sy="100000" kx="0" ky="0" algn="bl" rotWithShape="0" blurRad="152400" dist="50800" dir="16200000">
              <a:srgbClr val="00E676">
                <a:alpha val="35000"/>
              </a:srgbClr>
            </a:outerShdw>
          </a:effectLst>
        </p:spPr>
        <p:txBody>
          <a:bodyPr wrap="square" rtlCol="0" anchor="ctr"/>
          <a:lstStyle/>
          <a:p>
            <a:pPr indent="0" marL="0">
              <a:buNone/>
            </a:pPr>
            <a:endParaRPr lang="en-US" dirty="0"/>
          </a:p>
        </p:txBody>
      </p:sp>
      <p:sp>
        <p:nvSpPr>
          <p:cNvPr id="17" name="Text 13"/>
          <p:cNvSpPr/>
          <p:nvPr/>
        </p:nvSpPr>
        <p:spPr>
          <a:xfrm>
            <a:off x="517922" y="2300288"/>
            <a:ext cx="1914525" cy="2278856"/>
          </a:xfrm>
          <a:prstGeom prst="roundRect">
            <a:avLst>
              <a:gd name="adj" fmla="val 6965"/>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8" name="Text 14"/>
          <p:cNvSpPr/>
          <p:nvPr/>
        </p:nvSpPr>
        <p:spPr>
          <a:xfrm>
            <a:off x="664369" y="2461022"/>
            <a:ext cx="1621631" cy="370332"/>
          </a:xfrm>
          <a:prstGeom prst="rect">
            <a:avLst/>
          </a:prstGeom>
          <a:noFill/>
          <a:ln/>
        </p:spPr>
        <p:txBody>
          <a:bodyPr wrap="none" lIns="0" tIns="0" rIns="0" bIns="0" rtlCol="0" anchor="t"/>
          <a:lstStyle/>
          <a:p>
            <a:pPr algn="l" indent="0" marL="0">
              <a:lnSpc>
                <a:spcPts val="2700"/>
              </a:lnSpc>
              <a:buNone/>
            </a:pPr>
            <a:r>
              <a:rPr lang="en-US" sz="2700" b="1" spc="-108" kern="0" dirty="0">
                <a:solidFill>
                  <a:srgbClr val="00E676">
                    <a:alpha val="85000"/>
                  </a:srgbClr>
                </a:solidFill>
                <a:latin typeface="Liberation Sans Narrow" pitchFamily="34" charset="0"/>
                <a:ea typeface="Liberation Sans Narrow" pitchFamily="34" charset="-122"/>
                <a:cs typeface="Liberation Sans Narrow" pitchFamily="34" charset="-120"/>
              </a:rPr>
              <a:t>1</a:t>
            </a:r>
            <a:endParaRPr lang="en-US" sz="2700" dirty="0"/>
          </a:p>
        </p:txBody>
      </p:sp>
      <p:sp>
        <p:nvSpPr>
          <p:cNvPr id="19" name="Text 15"/>
          <p:cNvSpPr/>
          <p:nvPr/>
        </p:nvSpPr>
        <p:spPr>
          <a:xfrm>
            <a:off x="664369" y="2861072"/>
            <a:ext cx="1621631"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F4F7FB"/>
                </a:solidFill>
                <a:latin typeface="Carlito" pitchFamily="34" charset="0"/>
                <a:ea typeface="Carlito" pitchFamily="34" charset="-122"/>
                <a:cs typeface="Carlito" pitchFamily="34" charset="-120"/>
              </a:rPr>
              <a:t>Risk Profiler</a:t>
            </a:r>
            <a:endParaRPr lang="en-US" sz="1013" dirty="0"/>
          </a:p>
        </p:txBody>
      </p:sp>
      <p:sp>
        <p:nvSpPr>
          <p:cNvPr id="20" name="Text 16"/>
          <p:cNvSpPr/>
          <p:nvPr/>
        </p:nvSpPr>
        <p:spPr>
          <a:xfrm>
            <a:off x="641509" y="3114032"/>
            <a:ext cx="879641" cy="212027"/>
          </a:xfrm>
          <a:prstGeom prst="roundRect">
            <a:avLst>
              <a:gd name="adj" fmla="val 4487860"/>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21" name="Text 17"/>
          <p:cNvSpPr/>
          <p:nvPr/>
        </p:nvSpPr>
        <p:spPr>
          <a:xfrm>
            <a:off x="664369" y="3125391"/>
            <a:ext cx="833921"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0E676"/>
                </a:solidFill>
                <a:latin typeface="Liberation Sans Narrow" pitchFamily="34" charset="0"/>
                <a:ea typeface="Liberation Sans Narrow" pitchFamily="34" charset="-122"/>
                <a:cs typeface="Liberation Sans Narrow" pitchFamily="34" charset="-120"/>
              </a:rPr>
              <a:t>~90 SECONDS</a:t>
            </a:r>
            <a:endParaRPr lang="en-US" sz="800" dirty="0"/>
          </a:p>
        </p:txBody>
      </p:sp>
      <p:sp>
        <p:nvSpPr>
          <p:cNvPr id="22" name="Text 18"/>
          <p:cNvSpPr/>
          <p:nvPr/>
        </p:nvSpPr>
        <p:spPr>
          <a:xfrm>
            <a:off x="664369" y="3414713"/>
            <a:ext cx="1621631" cy="1003697"/>
          </a:xfrm>
          <a:prstGeom prst="rect">
            <a:avLst/>
          </a:prstGeom>
          <a:noFill/>
          <a:ln/>
        </p:spPr>
        <p:txBody>
          <a:bodyPr wrap="square" lIns="0" tIns="0" rIns="0" bIns="0" rtlCol="0" anchor="t"/>
          <a:lstStyle/>
          <a:p>
            <a:pPr algn="l" indent="0" marL="0">
              <a:lnSpc>
                <a:spcPts val="1133"/>
              </a:lnSpc>
              <a:buNone/>
            </a:pPr>
            <a:r>
              <a:rPr lang="en-US" sz="800" dirty="0">
                <a:solidFill>
                  <a:srgbClr val="94A3B8"/>
                </a:solidFill>
                <a:latin typeface="Carlito" pitchFamily="34" charset="0"/>
                <a:ea typeface="Carlito" pitchFamily="34" charset="-122"/>
                <a:cs typeface="Carlito" pitchFamily="34" charset="-120"/>
              </a:rPr>
              <a:t>Seven-question onboarding captures risk tolerance, time horizon, financial goals, and liquidity needs. Algorithmic scoring replaces subjective self-assessment.</a:t>
            </a:r>
            <a:endParaRPr lang="en-US" sz="800" dirty="0"/>
          </a:p>
        </p:txBody>
      </p:sp>
      <p:sp>
        <p:nvSpPr>
          <p:cNvPr id="23" name="Text 19"/>
          <p:cNvSpPr/>
          <p:nvPr/>
        </p:nvSpPr>
        <p:spPr>
          <a:xfrm>
            <a:off x="2582466" y="2300288"/>
            <a:ext cx="1914525" cy="2278856"/>
          </a:xfrm>
          <a:prstGeom prst="roundRect">
            <a:avLst>
              <a:gd name="adj" fmla="val 6965"/>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4" name="Text 20"/>
          <p:cNvSpPr/>
          <p:nvPr/>
        </p:nvSpPr>
        <p:spPr>
          <a:xfrm>
            <a:off x="2728913" y="2461022"/>
            <a:ext cx="1621631" cy="370332"/>
          </a:xfrm>
          <a:prstGeom prst="rect">
            <a:avLst/>
          </a:prstGeom>
          <a:noFill/>
          <a:ln/>
        </p:spPr>
        <p:txBody>
          <a:bodyPr wrap="none" lIns="0" tIns="0" rIns="0" bIns="0" rtlCol="0" anchor="t"/>
          <a:lstStyle/>
          <a:p>
            <a:pPr algn="l" indent="0" marL="0">
              <a:lnSpc>
                <a:spcPts val="2700"/>
              </a:lnSpc>
              <a:buNone/>
            </a:pPr>
            <a:r>
              <a:rPr lang="en-US" sz="2700" b="1" spc="-108" kern="0" dirty="0">
                <a:solidFill>
                  <a:srgbClr val="00E676">
                    <a:alpha val="85000"/>
                  </a:srgbClr>
                </a:solidFill>
                <a:latin typeface="Liberation Sans Narrow" pitchFamily="34" charset="0"/>
                <a:ea typeface="Liberation Sans Narrow" pitchFamily="34" charset="-122"/>
                <a:cs typeface="Liberation Sans Narrow" pitchFamily="34" charset="-120"/>
              </a:rPr>
              <a:t>2</a:t>
            </a:r>
            <a:endParaRPr lang="en-US" sz="2700" dirty="0"/>
          </a:p>
        </p:txBody>
      </p:sp>
      <p:sp>
        <p:nvSpPr>
          <p:cNvPr id="25" name="Text 21"/>
          <p:cNvSpPr/>
          <p:nvPr/>
        </p:nvSpPr>
        <p:spPr>
          <a:xfrm>
            <a:off x="2728913" y="2861072"/>
            <a:ext cx="1621631"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F4F7FB"/>
                </a:solidFill>
                <a:latin typeface="Carlito" pitchFamily="34" charset="0"/>
                <a:ea typeface="Carlito" pitchFamily="34" charset="-122"/>
                <a:cs typeface="Carlito" pitchFamily="34" charset="-120"/>
              </a:rPr>
              <a:t>AI Plan Generation</a:t>
            </a:r>
            <a:endParaRPr lang="en-US" sz="1013" dirty="0"/>
          </a:p>
        </p:txBody>
      </p:sp>
      <p:sp>
        <p:nvSpPr>
          <p:cNvPr id="26" name="Text 22"/>
          <p:cNvSpPr/>
          <p:nvPr/>
        </p:nvSpPr>
        <p:spPr>
          <a:xfrm>
            <a:off x="2706053" y="3114032"/>
            <a:ext cx="879641" cy="212027"/>
          </a:xfrm>
          <a:prstGeom prst="roundRect">
            <a:avLst>
              <a:gd name="adj" fmla="val 4487860"/>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27" name="Text 23"/>
          <p:cNvSpPr/>
          <p:nvPr/>
        </p:nvSpPr>
        <p:spPr>
          <a:xfrm>
            <a:off x="2728913" y="3125391"/>
            <a:ext cx="833921"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0E676"/>
                </a:solidFill>
                <a:latin typeface="Liberation Sans Narrow" pitchFamily="34" charset="0"/>
                <a:ea typeface="Liberation Sans Narrow" pitchFamily="34" charset="-122"/>
                <a:cs typeface="Liberation Sans Narrow" pitchFamily="34" charset="-120"/>
              </a:rPr>
              <a:t>~60 SECONDS</a:t>
            </a:r>
            <a:endParaRPr lang="en-US" sz="800" dirty="0"/>
          </a:p>
        </p:txBody>
      </p:sp>
      <p:sp>
        <p:nvSpPr>
          <p:cNvPr id="28" name="Text 24"/>
          <p:cNvSpPr/>
          <p:nvPr/>
        </p:nvSpPr>
        <p:spPr>
          <a:xfrm>
            <a:off x="2728913" y="3414713"/>
            <a:ext cx="1621631" cy="1003697"/>
          </a:xfrm>
          <a:prstGeom prst="rect">
            <a:avLst/>
          </a:prstGeom>
          <a:noFill/>
          <a:ln/>
        </p:spPr>
        <p:txBody>
          <a:bodyPr wrap="square" lIns="0" tIns="0" rIns="0" bIns="0" rtlCol="0" anchor="t"/>
          <a:lstStyle/>
          <a:p>
            <a:pPr algn="l" indent="0" marL="0">
              <a:lnSpc>
                <a:spcPts val="1133"/>
              </a:lnSpc>
              <a:buNone/>
            </a:pPr>
            <a:r>
              <a:rPr lang="en-US" sz="800" dirty="0">
                <a:solidFill>
                  <a:srgbClr val="94A3B8"/>
                </a:solidFill>
                <a:latin typeface="Carlito" pitchFamily="34" charset="0"/>
                <a:ea typeface="Carlito" pitchFamily="34" charset="-122"/>
                <a:cs typeface="Carlito" pitchFamily="34" charset="-120"/>
              </a:rPr>
              <a:t>Latent synthesizes 200+ signals per candidate security, then constructs a personalized portfolio plan: target allocation, entry strategy, position sizing, and review cadence. Plans are explainable, not black-box.</a:t>
            </a:r>
            <a:endParaRPr lang="en-US" sz="800" dirty="0"/>
          </a:p>
        </p:txBody>
      </p:sp>
      <p:sp>
        <p:nvSpPr>
          <p:cNvPr id="29" name="Text 25"/>
          <p:cNvSpPr/>
          <p:nvPr/>
        </p:nvSpPr>
        <p:spPr>
          <a:xfrm>
            <a:off x="4647009" y="2300288"/>
            <a:ext cx="1914525" cy="2278856"/>
          </a:xfrm>
          <a:prstGeom prst="roundRect">
            <a:avLst>
              <a:gd name="adj" fmla="val 6965"/>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30" name="Text 26"/>
          <p:cNvSpPr/>
          <p:nvPr/>
        </p:nvSpPr>
        <p:spPr>
          <a:xfrm>
            <a:off x="4793456" y="2461022"/>
            <a:ext cx="1621631" cy="370332"/>
          </a:xfrm>
          <a:prstGeom prst="rect">
            <a:avLst/>
          </a:prstGeom>
          <a:noFill/>
          <a:ln/>
        </p:spPr>
        <p:txBody>
          <a:bodyPr wrap="none" lIns="0" tIns="0" rIns="0" bIns="0" rtlCol="0" anchor="t"/>
          <a:lstStyle/>
          <a:p>
            <a:pPr algn="l" indent="0" marL="0">
              <a:lnSpc>
                <a:spcPts val="2700"/>
              </a:lnSpc>
              <a:buNone/>
            </a:pPr>
            <a:r>
              <a:rPr lang="en-US" sz="2700" b="1" spc="-108" kern="0" dirty="0">
                <a:solidFill>
                  <a:srgbClr val="00E676">
                    <a:alpha val="85000"/>
                  </a:srgbClr>
                </a:solidFill>
                <a:latin typeface="Liberation Sans Narrow" pitchFamily="34" charset="0"/>
                <a:ea typeface="Liberation Sans Narrow" pitchFamily="34" charset="-122"/>
                <a:cs typeface="Liberation Sans Narrow" pitchFamily="34" charset="-120"/>
              </a:rPr>
              <a:t>3</a:t>
            </a:r>
            <a:endParaRPr lang="en-US" sz="2700" dirty="0"/>
          </a:p>
        </p:txBody>
      </p:sp>
      <p:sp>
        <p:nvSpPr>
          <p:cNvPr id="31" name="Text 27"/>
          <p:cNvSpPr/>
          <p:nvPr/>
        </p:nvSpPr>
        <p:spPr>
          <a:xfrm>
            <a:off x="4793456" y="2861072"/>
            <a:ext cx="1621631"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F4F7FB"/>
                </a:solidFill>
                <a:latin typeface="Carlito" pitchFamily="34" charset="0"/>
                <a:ea typeface="Carlito" pitchFamily="34" charset="-122"/>
                <a:cs typeface="Carlito" pitchFamily="34" charset="-120"/>
              </a:rPr>
              <a:t>One-Click Execution</a:t>
            </a:r>
            <a:endParaRPr lang="en-US" sz="1013" dirty="0"/>
          </a:p>
        </p:txBody>
      </p:sp>
      <p:sp>
        <p:nvSpPr>
          <p:cNvPr id="32" name="Text 28"/>
          <p:cNvSpPr/>
          <p:nvPr/>
        </p:nvSpPr>
        <p:spPr>
          <a:xfrm>
            <a:off x="4770596" y="3114032"/>
            <a:ext cx="879641" cy="212027"/>
          </a:xfrm>
          <a:prstGeom prst="roundRect">
            <a:avLst>
              <a:gd name="adj" fmla="val 4487860"/>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33" name="Text 29"/>
          <p:cNvSpPr/>
          <p:nvPr/>
        </p:nvSpPr>
        <p:spPr>
          <a:xfrm>
            <a:off x="4793456" y="3125391"/>
            <a:ext cx="833921"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0E676"/>
                </a:solidFill>
                <a:latin typeface="Liberation Sans Narrow" pitchFamily="34" charset="0"/>
                <a:ea typeface="Liberation Sans Narrow" pitchFamily="34" charset="-122"/>
                <a:cs typeface="Liberation Sans Narrow" pitchFamily="34" charset="-120"/>
              </a:rPr>
              <a:t>~30 SECONDS</a:t>
            </a:r>
            <a:endParaRPr lang="en-US" sz="800" dirty="0"/>
          </a:p>
        </p:txBody>
      </p:sp>
      <p:sp>
        <p:nvSpPr>
          <p:cNvPr id="34" name="Text 30"/>
          <p:cNvSpPr/>
          <p:nvPr/>
        </p:nvSpPr>
        <p:spPr>
          <a:xfrm>
            <a:off x="4793456" y="3414713"/>
            <a:ext cx="1621631" cy="1003697"/>
          </a:xfrm>
          <a:prstGeom prst="rect">
            <a:avLst/>
          </a:prstGeom>
          <a:noFill/>
          <a:ln/>
        </p:spPr>
        <p:txBody>
          <a:bodyPr wrap="square" lIns="0" tIns="0" rIns="0" bIns="0" rtlCol="0" anchor="t"/>
          <a:lstStyle/>
          <a:p>
            <a:pPr algn="l" indent="0" marL="0">
              <a:lnSpc>
                <a:spcPts val="1133"/>
              </a:lnSpc>
              <a:buNone/>
            </a:pPr>
            <a:r>
              <a:rPr lang="en-US" sz="800" dirty="0">
                <a:solidFill>
                  <a:srgbClr val="94A3B8"/>
                </a:solidFill>
                <a:latin typeface="Carlito" pitchFamily="34" charset="0"/>
                <a:ea typeface="Carlito" pitchFamily="34" charset="-122"/>
                <a:cs typeface="Carlito" pitchFamily="34" charset="-120"/>
              </a:rPr>
              <a:t>Broker-integrated order routing via partner brokers (Singular, Arif Habib, Foundation Securities). The user reviews and approves; the plan executes automatically across the selected broker.</a:t>
            </a:r>
            <a:endParaRPr lang="en-US" sz="800" dirty="0"/>
          </a:p>
        </p:txBody>
      </p:sp>
      <p:sp>
        <p:nvSpPr>
          <p:cNvPr id="35" name="Text 31"/>
          <p:cNvSpPr/>
          <p:nvPr/>
        </p:nvSpPr>
        <p:spPr>
          <a:xfrm>
            <a:off x="6711553" y="2300288"/>
            <a:ext cx="1914525" cy="2278856"/>
          </a:xfrm>
          <a:prstGeom prst="roundRect">
            <a:avLst>
              <a:gd name="adj" fmla="val 6965"/>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36" name="Text 32"/>
          <p:cNvSpPr/>
          <p:nvPr/>
        </p:nvSpPr>
        <p:spPr>
          <a:xfrm>
            <a:off x="6858000" y="2461022"/>
            <a:ext cx="1621631" cy="370332"/>
          </a:xfrm>
          <a:prstGeom prst="rect">
            <a:avLst/>
          </a:prstGeom>
          <a:noFill/>
          <a:ln/>
        </p:spPr>
        <p:txBody>
          <a:bodyPr wrap="none" lIns="0" tIns="0" rIns="0" bIns="0" rtlCol="0" anchor="t"/>
          <a:lstStyle/>
          <a:p>
            <a:pPr algn="l" indent="0" marL="0">
              <a:lnSpc>
                <a:spcPts val="2700"/>
              </a:lnSpc>
              <a:buNone/>
            </a:pPr>
            <a:r>
              <a:rPr lang="en-US" sz="2700" b="1" spc="-108" kern="0" dirty="0">
                <a:solidFill>
                  <a:srgbClr val="00E676">
                    <a:alpha val="85000"/>
                  </a:srgbClr>
                </a:solidFill>
                <a:latin typeface="Liberation Sans Narrow" pitchFamily="34" charset="0"/>
                <a:ea typeface="Liberation Sans Narrow" pitchFamily="34" charset="-122"/>
                <a:cs typeface="Liberation Sans Narrow" pitchFamily="34" charset="-120"/>
              </a:rPr>
              <a:t>4</a:t>
            </a:r>
            <a:endParaRPr lang="en-US" sz="2700" dirty="0"/>
          </a:p>
        </p:txBody>
      </p:sp>
      <p:sp>
        <p:nvSpPr>
          <p:cNvPr id="37" name="Text 33"/>
          <p:cNvSpPr/>
          <p:nvPr/>
        </p:nvSpPr>
        <p:spPr>
          <a:xfrm>
            <a:off x="6858000" y="2861072"/>
            <a:ext cx="1621631"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F4F7FB"/>
                </a:solidFill>
                <a:latin typeface="Carlito" pitchFamily="34" charset="0"/>
                <a:ea typeface="Carlito" pitchFamily="34" charset="-122"/>
                <a:cs typeface="Carlito" pitchFamily="34" charset="-120"/>
              </a:rPr>
              <a:t>Goal Tracking</a:t>
            </a:r>
            <a:endParaRPr lang="en-US" sz="1013" dirty="0"/>
          </a:p>
        </p:txBody>
      </p:sp>
      <p:sp>
        <p:nvSpPr>
          <p:cNvPr id="38" name="Text 34"/>
          <p:cNvSpPr/>
          <p:nvPr/>
        </p:nvSpPr>
        <p:spPr>
          <a:xfrm>
            <a:off x="6835140" y="3114032"/>
            <a:ext cx="659301" cy="212027"/>
          </a:xfrm>
          <a:prstGeom prst="roundRect">
            <a:avLst>
              <a:gd name="adj" fmla="val 4487860"/>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39" name="Text 35"/>
          <p:cNvSpPr/>
          <p:nvPr/>
        </p:nvSpPr>
        <p:spPr>
          <a:xfrm>
            <a:off x="6858000" y="3125391"/>
            <a:ext cx="613581"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0E676"/>
                </a:solidFill>
                <a:latin typeface="Carlito" pitchFamily="34" charset="0"/>
                <a:ea typeface="Carlito" pitchFamily="34" charset="-122"/>
                <a:cs typeface="Carlito" pitchFamily="34" charset="-120"/>
              </a:rPr>
              <a:t>ONGOING</a:t>
            </a:r>
            <a:endParaRPr lang="en-US" sz="800" dirty="0"/>
          </a:p>
        </p:txBody>
      </p:sp>
      <p:sp>
        <p:nvSpPr>
          <p:cNvPr id="40" name="Text 36"/>
          <p:cNvSpPr/>
          <p:nvPr/>
        </p:nvSpPr>
        <p:spPr>
          <a:xfrm>
            <a:off x="6858000" y="3414713"/>
            <a:ext cx="1621631" cy="1003697"/>
          </a:xfrm>
          <a:prstGeom prst="rect">
            <a:avLst/>
          </a:prstGeom>
          <a:noFill/>
          <a:ln/>
        </p:spPr>
        <p:txBody>
          <a:bodyPr wrap="square" lIns="0" tIns="0" rIns="0" bIns="0" rtlCol="0" anchor="t"/>
          <a:lstStyle/>
          <a:p>
            <a:pPr algn="l" indent="0" marL="0">
              <a:lnSpc>
                <a:spcPts val="1133"/>
              </a:lnSpc>
              <a:buNone/>
            </a:pPr>
            <a:r>
              <a:rPr lang="en-US" sz="800" dirty="0">
                <a:solidFill>
                  <a:srgbClr val="94A3B8"/>
                </a:solidFill>
                <a:latin typeface="Carlito" pitchFamily="34" charset="0"/>
                <a:ea typeface="Carlito" pitchFamily="34" charset="-122"/>
                <a:cs typeface="Carlito" pitchFamily="34" charset="-120"/>
              </a:rPr>
              <a:t>Daily plan-health monitoring, rebalancing alerts, milestone tracking, and exit triggers. The investor sees goal progress, not just portfolio P&amp;L — purpose re-anchored to outcomes.</a:t>
            </a:r>
            <a:endParaRPr lang="en-US" sz="800" dirty="0"/>
          </a:p>
        </p:txBody>
      </p:sp>
      <p:sp>
        <p:nvSpPr>
          <p:cNvPr id="41" name="Text 37"/>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PRODUCT</a:t>
            </a:r>
            <a:endParaRPr lang="en-US" sz="800" dirty="0"/>
          </a:p>
        </p:txBody>
      </p:sp>
      <p:sp>
        <p:nvSpPr>
          <p:cNvPr id="42" name="Text 38"/>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09 / 14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40000"/>
          </a:blip>
          <a:stretch>
            <a:fillRect/>
          </a:stretch>
        </p:blipFill>
        <p:spPr>
          <a:xfrm>
            <a:off x="7286625" y="-857250"/>
            <a:ext cx="2571750" cy="2571750"/>
          </a:xfrm>
          <a:prstGeom prst="rect">
            <a:avLst/>
          </a:prstGeom>
        </p:spPr>
      </p:pic>
      <p:sp>
        <p:nvSpPr>
          <p:cNvPr id="4" name="Text 0"/>
          <p:cNvSpPr/>
          <p:nvPr/>
        </p:nvSpPr>
        <p:spPr>
          <a:xfrm>
            <a:off x="7286625" y="-857250"/>
            <a:ext cx="2571750" cy="2571750"/>
          </a:xfrm>
          <a:prstGeom prst="ellipse">
            <a:avLst/>
          </a:prstGeom>
          <a:solidFill>
            <a:srgbClr val="00E676">
              <a:alpha val="0"/>
            </a:srgbClr>
          </a:solidFill>
          <a:ln/>
        </p:spPr>
        <p:txBody>
          <a:bodyPr wrap="square" rtlCol="0" anchor="ctr"/>
          <a:lstStyle/>
          <a:p>
            <a:pPr indent="0" marL="0">
              <a:buNone/>
            </a:pPr>
            <a:endParaRPr lang="en-US" dirty="0"/>
          </a:p>
        </p:txBody>
      </p:sp>
      <p:sp>
        <p:nvSpPr>
          <p:cNvPr id="5" name="Text 1"/>
          <p:cNvSpPr/>
          <p:nvPr/>
        </p:nvSpPr>
        <p:spPr>
          <a:xfrm>
            <a:off x="514350" y="439341"/>
            <a:ext cx="71438" cy="71438"/>
          </a:xfrm>
          <a:prstGeom prst="ellipse">
            <a:avLst/>
          </a:prstGeom>
          <a:solidFill>
            <a:srgbClr val="00E676"/>
          </a:solidFill>
          <a:ln/>
        </p:spPr>
        <p:txBody>
          <a:bodyPr wrap="square" rtlCol="0" anchor="ctr"/>
          <a:lstStyle/>
          <a:p>
            <a:pPr indent="0" marL="0">
              <a:buNone/>
            </a:pPr>
            <a:endParaRPr lang="en-US" dirty="0"/>
          </a:p>
        </p:txBody>
      </p:sp>
      <p:sp>
        <p:nvSpPr>
          <p:cNvPr id="6" name="Text 2"/>
          <p:cNvSpPr/>
          <p:nvPr/>
        </p:nvSpPr>
        <p:spPr>
          <a:xfrm>
            <a:off x="642938" y="400050"/>
            <a:ext cx="682228" cy="164592"/>
          </a:xfrm>
          <a:prstGeom prst="rect">
            <a:avLst/>
          </a:prstGeom>
          <a:noFill/>
          <a:ln/>
        </p:spPr>
        <p:txBody>
          <a:bodyPr wrap="none" lIns="0" tIns="0" rIns="0" bIns="0" rtlCol="0" anchor="t"/>
          <a:lstStyle/>
          <a:p>
            <a:pPr algn="l" indent="0" marL="0">
              <a:lnSpc>
                <a:spcPts val="1181"/>
              </a:lnSpc>
              <a:buNone/>
            </a:pPr>
            <a:r>
              <a:rPr lang="en-US" sz="800" b="1" spc="-8" kern="0" dirty="0">
                <a:solidFill>
                  <a:srgbClr val="F4F7FB"/>
                </a:solidFill>
                <a:latin typeface="Carlito" pitchFamily="34" charset="0"/>
                <a:ea typeface="Carlito" pitchFamily="34" charset="-122"/>
                <a:cs typeface="Carlito" pitchFamily="34" charset="-120"/>
              </a:rPr>
              <a:t>Latent.pk</a:t>
            </a:r>
            <a:endParaRPr lang="en-US" sz="800" dirty="0"/>
          </a:p>
        </p:txBody>
      </p:sp>
      <p:sp>
        <p:nvSpPr>
          <p:cNvPr id="7" name="Text 3"/>
          <p:cNvSpPr/>
          <p:nvPr/>
        </p:nvSpPr>
        <p:spPr>
          <a:xfrm>
            <a:off x="7425928" y="416123"/>
            <a:ext cx="1522482"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64748B"/>
                </a:solidFill>
                <a:latin typeface="Liberation Sans Narrow" pitchFamily="34" charset="0"/>
                <a:ea typeface="Liberation Sans Narrow" pitchFamily="34" charset="-122"/>
                <a:cs typeface="Liberation Sans Narrow" pitchFamily="34" charset="-120"/>
              </a:rPr>
              <a:t>INVESTOR DECK · 2026</a:t>
            </a:r>
            <a:endParaRPr lang="en-US" sz="800" dirty="0"/>
          </a:p>
        </p:txBody>
      </p:sp>
      <p:sp>
        <p:nvSpPr>
          <p:cNvPr id="8" name="Text 4"/>
          <p:cNvSpPr/>
          <p:nvPr/>
        </p:nvSpPr>
        <p:spPr>
          <a:xfrm>
            <a:off x="491490" y="637280"/>
            <a:ext cx="1696819"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9" name="Text 5"/>
          <p:cNvSpPr/>
          <p:nvPr/>
        </p:nvSpPr>
        <p:spPr>
          <a:xfrm>
            <a:off x="514350" y="650081"/>
            <a:ext cx="1651099" cy="239316"/>
          </a:xfrm>
          <a:prstGeom prst="rect">
            <a:avLst/>
          </a:prstGeom>
          <a:noFill/>
          <a:ln/>
        </p:spPr>
        <p:txBody>
          <a:bodyPr wrap="none" lIns="0" tIns="0" rIns="0" bIns="0" rtlCol="0" anchor="ctr"/>
          <a:lstStyle/>
          <a:p>
            <a:pPr algn="ctr"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COMPETITIVE LANDSCAPE</a:t>
            </a:r>
            <a:endParaRPr lang="en-US" sz="800" dirty="0"/>
          </a:p>
        </p:txBody>
      </p:sp>
      <p:sp>
        <p:nvSpPr>
          <p:cNvPr id="10" name="Text 6"/>
          <p:cNvSpPr/>
          <p:nvPr/>
        </p:nvSpPr>
        <p:spPr>
          <a:xfrm>
            <a:off x="514350" y="975122"/>
            <a:ext cx="8629650"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4F7FB"/>
                </a:solidFill>
                <a:latin typeface="Carlito" pitchFamily="34" charset="0"/>
                <a:ea typeface="Carlito" pitchFamily="34" charset="-122"/>
                <a:cs typeface="Carlito" pitchFamily="34" charset="-120"/>
              </a:rPr>
              <a:t>What "here's your plan" actually means.</a:t>
            </a:r>
            <a:endParaRPr lang="en-US" sz="2025" dirty="0"/>
          </a:p>
        </p:txBody>
      </p:sp>
      <p:sp>
        <p:nvSpPr>
          <p:cNvPr id="11" name="Text 7"/>
          <p:cNvSpPr/>
          <p:nvPr/>
        </p:nvSpPr>
        <p:spPr>
          <a:xfrm>
            <a:off x="514350" y="1329407"/>
            <a:ext cx="7000875" cy="329184"/>
          </a:xfrm>
          <a:prstGeom prst="rect">
            <a:avLst/>
          </a:prstGeom>
          <a:noFill/>
          <a:ln/>
        </p:spPr>
        <p:txBody>
          <a:bodyPr wrap="square" lIns="0" tIns="0" rIns="0" bIns="0" rtlCol="0" anchor="t"/>
          <a:lstStyle/>
          <a:p>
            <a:pPr algn="l" indent="0" marL="0">
              <a:lnSpc>
                <a:spcPts val="1139"/>
              </a:lnSpc>
              <a:buNone/>
            </a:pPr>
            <a:r>
              <a:rPr lang="en-US" sz="800" dirty="0">
                <a:solidFill>
                  <a:srgbClr val="94A3B8"/>
                </a:solidFill>
                <a:latin typeface="Carlito" pitchFamily="34" charset="0"/>
                <a:ea typeface="Carlito" pitchFamily="34" charset="-122"/>
                <a:cs typeface="Carlito" pitchFamily="34" charset="-120"/>
              </a:rPr>
              <a:t>No incumbent in Pakistan combines AI-driven signal, goal-based planning, and integrated execution. Latent is the only player that closes the loop from question to plan to outcome.</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14350" y="1775892"/>
          <a:ext cx="8115300" cy="914400"/>
        </p:xfrm>
        <a:graphic>
          <a:graphicData uri="http://schemas.openxmlformats.org/drawingml/2006/table">
            <a:tbl>
              <a:tblPr/>
              <a:tblGrid>
                <a:gridCol w="2272271"/>
                <a:gridCol w="1460674"/>
                <a:gridCol w="1460674"/>
                <a:gridCol w="1460674"/>
                <a:gridCol w="1461008"/>
              </a:tblGrid>
              <a:tr h="0">
                <a:tc>
                  <a:txBody>
                    <a:bodyPr/>
                    <a:lstStyle/>
                    <a:p>
                      <a:pPr algn="l" indent="0" marL="0">
                        <a:buNone/>
                      </a:pPr>
                      <a:r>
                        <a:rPr lang="en-US" sz="800" b="1" dirty="0">
                          <a:solidFill>
                            <a:srgbClr val="F4F7FB"/>
                          </a:solidFill>
                          <a:latin typeface="Carlito" pitchFamily="34" charset="0"/>
                          <a:ea typeface="Carlito" pitchFamily="34" charset="-122"/>
                          <a:cs typeface="Carlito" pitchFamily="34" charset="-120"/>
                        </a:rPr>
                        <a:t>Capability</a:t>
                      </a:r>
                      <a:endParaRPr lang="en-US" sz="800" dirty="0">
                        <a:latin typeface="Carlito" charset="0"/>
                        <a:ea typeface="Carlito" charset="0"/>
                        <a:cs typeface="Carlito" charset="0"/>
                      </a:endParaRPr>
                    </a:p>
                  </a:txBody>
                  <a:tcPr marL="85725" marR="57150" marT="28575" marB="10001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b="1" dirty="0">
                          <a:solidFill>
                            <a:srgbClr val="94A3B8"/>
                          </a:solidFill>
                          <a:latin typeface="Carlito" pitchFamily="34" charset="0"/>
                          <a:ea typeface="Carlito" pitchFamily="34" charset="-122"/>
                          <a:cs typeface="Carlito" pitchFamily="34" charset="-120"/>
                        </a:rPr>
                        <a:t>WhatsApp tips</a:t>
                      </a:r>
                      <a:endParaRPr lang="en-US" sz="800" dirty="0">
                        <a:latin typeface="Carlito" charset="0"/>
                        <a:ea typeface="Carlito" charset="0"/>
                        <a:cs typeface="Carlito" charset="0"/>
                      </a:endParaRPr>
                    </a:p>
                  </a:txBody>
                  <a:tcPr marL="85725" marR="57150" marT="57150" marB="10001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b="1" dirty="0">
                          <a:solidFill>
                            <a:srgbClr val="94A3B8"/>
                          </a:solidFill>
                          <a:latin typeface="Carlito" pitchFamily="34" charset="0"/>
                          <a:ea typeface="Carlito" pitchFamily="34" charset="-122"/>
                          <a:cs typeface="Carlito" pitchFamily="34" charset="-120"/>
                        </a:rPr>
                        <a:t>TradingView</a:t>
                      </a:r>
                      <a:endParaRPr lang="en-US" sz="800" dirty="0">
                        <a:latin typeface="Carlito" charset="0"/>
                        <a:ea typeface="Carlito" charset="0"/>
                        <a:cs typeface="Carlito" charset="0"/>
                      </a:endParaRPr>
                    </a:p>
                  </a:txBody>
                  <a:tcPr marL="85725" marR="57150" marT="57150" marB="10001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b="1" dirty="0">
                          <a:solidFill>
                            <a:srgbClr val="94A3B8"/>
                          </a:solidFill>
                          <a:latin typeface="Carlito" pitchFamily="34" charset="0"/>
                          <a:ea typeface="Carlito" pitchFamily="34" charset="-122"/>
                          <a:cs typeface="Carlito" pitchFamily="34" charset="-120"/>
                        </a:rPr>
                        <a:t>Broker apps</a:t>
                      </a:r>
                      <a:endParaRPr lang="en-US" sz="800" dirty="0">
                        <a:latin typeface="Carlito" charset="0"/>
                        <a:ea typeface="Carlito" charset="0"/>
                        <a:cs typeface="Carlito" charset="0"/>
                      </a:endParaRPr>
                    </a:p>
                  </a:txBody>
                  <a:tcPr marL="85725" marR="57150" marT="57150" marB="10001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b="1" dirty="0">
                          <a:solidFill>
                            <a:srgbClr val="00E676"/>
                          </a:solidFill>
                          <a:latin typeface="Carlito" pitchFamily="34" charset="0"/>
                          <a:ea typeface="Carlito" pitchFamily="34" charset="-122"/>
                          <a:cs typeface="Carlito" pitchFamily="34" charset="-120"/>
                        </a:rPr>
                        <a:t>Latent.pk</a:t>
                      </a:r>
                      <a:endParaRPr lang="en-US" sz="800" dirty="0">
                        <a:latin typeface="Carlito" charset="0"/>
                        <a:ea typeface="Carlito" charset="0"/>
                        <a:cs typeface="Carlito" charset="0"/>
                      </a:endParaRPr>
                    </a:p>
                  </a:txBody>
                  <a:tcPr marL="85725" marR="57150" marT="57150" marB="10001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E676">
                        <a:alpha val="14000"/>
                      </a:srgbClr>
                    </a:solidFill>
                  </a:tcPr>
                </a:tc>
              </a:tr>
              <a:tr h="0">
                <a:tc>
                  <a:txBody>
                    <a:bodyPr/>
                    <a:lstStyle/>
                    <a:p>
                      <a:pPr algn="l" indent="0" marL="0">
                        <a:buNone/>
                      </a:pPr>
                      <a:r>
                        <a:rPr lang="en-US" sz="800" dirty="0">
                          <a:solidFill>
                            <a:srgbClr val="F4F7FB"/>
                          </a:solidFill>
                          <a:latin typeface="Carlito" pitchFamily="34" charset="0"/>
                          <a:ea typeface="Carlito" pitchFamily="34" charset="-122"/>
                          <a:cs typeface="Carlito" pitchFamily="34" charset="-120"/>
                        </a:rPr>
                        <a:t>Risk profiling</a:t>
                      </a:r>
                      <a:endParaRPr lang="en-US" sz="800" dirty="0">
                        <a:latin typeface="Carlito" charset="0"/>
                        <a:ea typeface="Carlito" charset="0"/>
                        <a:cs typeface="Carlito" charset="0"/>
                      </a:endParaRPr>
                    </a:p>
                  </a:txBody>
                  <a:tcPr marL="85725" marR="57150" marT="28575"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E676">
                        <a:alpha val="14000"/>
                      </a:srgbClr>
                    </a:solidFill>
                  </a:tcPr>
                </a:tc>
              </a:tr>
              <a:tr h="0">
                <a:tc>
                  <a:txBody>
                    <a:bodyPr/>
                    <a:lstStyle/>
                    <a:p>
                      <a:pPr algn="l" indent="0" marL="0">
                        <a:buNone/>
                      </a:pPr>
                      <a:r>
                        <a:rPr lang="en-US" sz="800" dirty="0">
                          <a:solidFill>
                            <a:srgbClr val="F4F7FB"/>
                          </a:solidFill>
                          <a:latin typeface="Carlito" pitchFamily="34" charset="0"/>
                          <a:ea typeface="Carlito" pitchFamily="34" charset="-122"/>
                          <a:cs typeface="Carlito" pitchFamily="34" charset="-120"/>
                        </a:rPr>
                        <a:t>Goal-based plan</a:t>
                      </a:r>
                      <a:endParaRPr lang="en-US" sz="800" dirty="0">
                        <a:latin typeface="Carlito" charset="0"/>
                        <a:ea typeface="Carlito" charset="0"/>
                        <a:cs typeface="Carlito" charset="0"/>
                      </a:endParaRPr>
                    </a:p>
                  </a:txBody>
                  <a:tcPr marL="85725" marR="57150" marT="28575"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E676">
                        <a:alpha val="14000"/>
                      </a:srgbClr>
                    </a:solidFill>
                  </a:tcPr>
                </a:tc>
              </a:tr>
              <a:tr h="0">
                <a:tc>
                  <a:txBody>
                    <a:bodyPr/>
                    <a:lstStyle/>
                    <a:p>
                      <a:pPr algn="l" indent="0" marL="0">
                        <a:buNone/>
                      </a:pPr>
                      <a:r>
                        <a:rPr lang="en-US" sz="800" dirty="0">
                          <a:solidFill>
                            <a:srgbClr val="F4F7FB"/>
                          </a:solidFill>
                          <a:latin typeface="Carlito" pitchFamily="34" charset="0"/>
                          <a:ea typeface="Carlito" pitchFamily="34" charset="-122"/>
                          <a:cs typeface="Carlito" pitchFamily="34" charset="-120"/>
                        </a:rPr>
                        <a:t>Predictive AI signals</a:t>
                      </a:r>
                      <a:endParaRPr lang="en-US" sz="800" dirty="0">
                        <a:latin typeface="Carlito" charset="0"/>
                        <a:ea typeface="Carlito" charset="0"/>
                        <a:cs typeface="Carlito" charset="0"/>
                      </a:endParaRPr>
                    </a:p>
                  </a:txBody>
                  <a:tcPr marL="85725" marR="57150" marT="28575"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−tools only</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E676">
                        <a:alpha val="14000"/>
                      </a:srgbClr>
                    </a:solidFill>
                  </a:tcPr>
                </a:tc>
              </a:tr>
              <a:tr h="0">
                <a:tc>
                  <a:txBody>
                    <a:bodyPr/>
                    <a:lstStyle/>
                    <a:p>
                      <a:pPr algn="l" indent="0" marL="0">
                        <a:buNone/>
                      </a:pPr>
                      <a:r>
                        <a:rPr lang="en-US" sz="800" dirty="0">
                          <a:solidFill>
                            <a:srgbClr val="F4F7FB"/>
                          </a:solidFill>
                          <a:latin typeface="Carlito" pitchFamily="34" charset="0"/>
                          <a:ea typeface="Carlito" pitchFamily="34" charset="-122"/>
                          <a:cs typeface="Carlito" pitchFamily="34" charset="-120"/>
                        </a:rPr>
                        <a:t>PSX-native data depth</a:t>
                      </a:r>
                      <a:endParaRPr lang="en-US" sz="800" dirty="0">
                        <a:latin typeface="Carlito" charset="0"/>
                        <a:ea typeface="Carlito" charset="0"/>
                        <a:cs typeface="Carlito" charset="0"/>
                      </a:endParaRPr>
                    </a:p>
                  </a:txBody>
                  <a:tcPr marL="85725" marR="57150" marT="28575"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−variable</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−limited</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E676">
                        <a:alpha val="14000"/>
                      </a:srgbClr>
                    </a:solidFill>
                  </a:tcPr>
                </a:tc>
              </a:tr>
              <a:tr h="0">
                <a:tc>
                  <a:txBody>
                    <a:bodyPr/>
                    <a:lstStyle/>
                    <a:p>
                      <a:pPr algn="l" indent="0" marL="0">
                        <a:buNone/>
                      </a:pPr>
                      <a:r>
                        <a:rPr lang="en-US" sz="800" dirty="0">
                          <a:solidFill>
                            <a:srgbClr val="F4F7FB"/>
                          </a:solidFill>
                          <a:latin typeface="Carlito" pitchFamily="34" charset="0"/>
                          <a:ea typeface="Carlito" pitchFamily="34" charset="-122"/>
                          <a:cs typeface="Carlito" pitchFamily="34" charset="-120"/>
                        </a:rPr>
                        <a:t>One-click execution</a:t>
                      </a:r>
                      <a:endParaRPr lang="en-US" sz="800" dirty="0">
                        <a:latin typeface="Carlito" charset="0"/>
                        <a:ea typeface="Carlito" charset="0"/>
                        <a:cs typeface="Carlito" charset="0"/>
                      </a:endParaRPr>
                    </a:p>
                  </a:txBody>
                  <a:tcPr marL="85725" marR="57150" marT="28575"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E676">
                        <a:alpha val="14000"/>
                      </a:srgbClr>
                    </a:solidFill>
                  </a:tcPr>
                </a:tc>
              </a:tr>
              <a:tr h="0">
                <a:tc>
                  <a:txBody>
                    <a:bodyPr/>
                    <a:lstStyle/>
                    <a:p>
                      <a:pPr algn="l" indent="0" marL="0">
                        <a:buNone/>
                      </a:pPr>
                      <a:r>
                        <a:rPr lang="en-US" sz="800" dirty="0">
                          <a:solidFill>
                            <a:srgbClr val="F4F7FB"/>
                          </a:solidFill>
                          <a:latin typeface="Carlito" pitchFamily="34" charset="0"/>
                          <a:ea typeface="Carlito" pitchFamily="34" charset="-122"/>
                          <a:cs typeface="Carlito" pitchFamily="34" charset="-120"/>
                        </a:rPr>
                        <a:t>Goal tracking &amp; rebalancing</a:t>
                      </a:r>
                      <a:endParaRPr lang="en-US" sz="800" dirty="0">
                        <a:latin typeface="Carlito" charset="0"/>
                        <a:ea typeface="Carlito" charset="0"/>
                        <a:cs typeface="Carlito" charset="0"/>
                      </a:endParaRPr>
                    </a:p>
                  </a:txBody>
                  <a:tcPr marL="85725" marR="57150" marT="28575"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E676">
                        <a:alpha val="14000"/>
                      </a:srgbClr>
                    </a:solidFill>
                  </a:tcPr>
                </a:tc>
              </a:tr>
              <a:tr h="0">
                <a:tc>
                  <a:txBody>
                    <a:bodyPr/>
                    <a:lstStyle/>
                    <a:p>
                      <a:pPr algn="l" indent="0" marL="0">
                        <a:buNone/>
                      </a:pPr>
                      <a:r>
                        <a:rPr lang="en-US" sz="800" dirty="0">
                          <a:solidFill>
                            <a:srgbClr val="F4F7FB"/>
                          </a:solidFill>
                          <a:latin typeface="Carlito" pitchFamily="34" charset="0"/>
                          <a:ea typeface="Carlito" pitchFamily="34" charset="-122"/>
                          <a:cs typeface="Carlito" pitchFamily="34" charset="-120"/>
                        </a:rPr>
                        <a:t>Accountability / audit trail</a:t>
                      </a:r>
                      <a:endParaRPr lang="en-US" sz="800" dirty="0">
                        <a:latin typeface="Carlito" charset="0"/>
                        <a:ea typeface="Carlito" charset="0"/>
                        <a:cs typeface="Carlito" charset="0"/>
                      </a:endParaRPr>
                    </a:p>
                  </a:txBody>
                  <a:tcPr marL="85725" marR="57150" marT="28575"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−broker only</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F4F7FB"/>
                          </a:solidFill>
                          <a:latin typeface="Carlito" pitchFamily="34" charset="0"/>
                          <a:ea typeface="Carlito" pitchFamily="34" charset="-122"/>
                          <a:cs typeface="Carlito" pitchFamily="34" charset="-120"/>
                        </a:rPr>
                        <a:t>✓</a:t>
                      </a:r>
                      <a:endParaRPr lang="en-US" sz="900" dirty="0">
                        <a:latin typeface="Carlito" charset="0"/>
                        <a:ea typeface="Carlito" charset="0"/>
                        <a:cs typeface="Carlito" charset="0"/>
                      </a:endParaRPr>
                    </a:p>
                  </a:txBody>
                  <a:tcPr marL="85725" marR="57150" marT="5715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E676">
                        <a:alpha val="14000"/>
                      </a:srgbClr>
                    </a:solidFill>
                  </a:tcPr>
                </a:tc>
              </a:tr>
            </a:tbl>
          </a:graphicData>
        </a:graphic>
      </p:graphicFrame>
      <p:sp>
        <p:nvSpPr>
          <p:cNvPr id="13" name="Text 8"/>
          <p:cNvSpPr/>
          <p:nvPr/>
        </p:nvSpPr>
        <p:spPr>
          <a:xfrm>
            <a:off x="514350" y="5029312"/>
            <a:ext cx="8115300" cy="114188"/>
          </a:xfrm>
          <a:prstGeom prst="rect">
            <a:avLst/>
          </a:prstGeom>
          <a:noFill/>
          <a:ln/>
        </p:spPr>
        <p:txBody>
          <a:bodyPr wrap="square" lIns="0" tIns="0" rIns="0" bIns="0" rtlCol="0" anchor="t"/>
          <a:lstStyle/>
          <a:p>
            <a:pPr algn="l" indent="0" marL="0">
              <a:lnSpc>
                <a:spcPts val="866"/>
              </a:lnSpc>
              <a:buNone/>
            </a:pPr>
            <a:r>
              <a:rPr lang="en-US" sz="800" spc="25" kern="0" dirty="0">
                <a:solidFill>
                  <a:srgbClr val="64748B"/>
                </a:solidFill>
                <a:latin typeface="Carlito" pitchFamily="34" charset="0"/>
                <a:ea typeface="Carlito" pitchFamily="34" charset="-122"/>
                <a:cs typeface="Carlito" pitchFamily="34" charset="-120"/>
              </a:rPr>
              <a:t>Comparison based on publicly available product features as of Q4 2025. Latent features reflect v1.0 launch spec.</a:t>
            </a:r>
            <a:endParaRPr lang="en-US" sz="800" dirty="0"/>
          </a:p>
        </p:txBody>
      </p:sp>
      <p:sp>
        <p:nvSpPr>
          <p:cNvPr id="14" name="Text 9"/>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COMPARISON</a:t>
            </a:r>
            <a:endParaRPr lang="en-US" sz="800" dirty="0"/>
          </a:p>
        </p:txBody>
      </p:sp>
      <p:sp>
        <p:nvSpPr>
          <p:cNvPr id="15" name="Text 10"/>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10 / 14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45000"/>
          </a:blip>
          <a:stretch>
            <a:fillRect/>
          </a:stretch>
        </p:blipFill>
        <p:spPr>
          <a:xfrm>
            <a:off x="7000875" y="-1071562"/>
            <a:ext cx="3143250" cy="3143250"/>
          </a:xfrm>
          <a:prstGeom prst="rect">
            <a:avLst/>
          </a:prstGeom>
        </p:spPr>
      </p:pic>
      <p:sp>
        <p:nvSpPr>
          <p:cNvPr id="4" name="Text 0"/>
          <p:cNvSpPr/>
          <p:nvPr/>
        </p:nvSpPr>
        <p:spPr>
          <a:xfrm>
            <a:off x="7000875" y="-1071562"/>
            <a:ext cx="3143250" cy="3143250"/>
          </a:xfrm>
          <a:prstGeom prst="ellipse">
            <a:avLst/>
          </a:prstGeom>
          <a:solidFill>
            <a:srgbClr val="00E676">
              <a:alpha val="0"/>
            </a:srgbClr>
          </a:solidFill>
          <a:ln/>
        </p:spPr>
        <p:txBody>
          <a:bodyPr wrap="square" rtlCol="0" anchor="ctr"/>
          <a:lstStyle/>
          <a:p>
            <a:pPr indent="0" marL="0">
              <a:buNone/>
            </a:pPr>
            <a:endParaRPr lang="en-US" dirty="0"/>
          </a:p>
        </p:txBody>
      </p:sp>
      <p:sp>
        <p:nvSpPr>
          <p:cNvPr id="5" name="Shape 1"/>
          <p:cNvSpPr/>
          <p:nvPr/>
        </p:nvSpPr>
        <p:spPr>
          <a:xfrm>
            <a:off x="2544961" y="3875038"/>
            <a:ext cx="0" cy="396478"/>
          </a:xfrm>
          <a:prstGeom prst="line">
            <a:avLst/>
          </a:prstGeom>
          <a:noFill/>
          <a:ln w="7144">
            <a:solidFill>
              <a:srgbClr val="FFFFFF"/>
            </a:solidFill>
            <a:prstDash val="solid"/>
          </a:ln>
        </p:spPr>
      </p:sp>
      <p:sp>
        <p:nvSpPr>
          <p:cNvPr id="6" name="Shape 2"/>
          <p:cNvSpPr/>
          <p:nvPr/>
        </p:nvSpPr>
        <p:spPr>
          <a:xfrm>
            <a:off x="4572000" y="3875038"/>
            <a:ext cx="0" cy="396478"/>
          </a:xfrm>
          <a:prstGeom prst="line">
            <a:avLst/>
          </a:prstGeom>
          <a:noFill/>
          <a:ln w="7144">
            <a:solidFill>
              <a:srgbClr val="FFFFFF"/>
            </a:solidFill>
            <a:prstDash val="solid"/>
          </a:ln>
        </p:spPr>
      </p:sp>
      <p:sp>
        <p:nvSpPr>
          <p:cNvPr id="7" name="Shape 3"/>
          <p:cNvSpPr/>
          <p:nvPr/>
        </p:nvSpPr>
        <p:spPr>
          <a:xfrm>
            <a:off x="6599039" y="3875038"/>
            <a:ext cx="0" cy="396478"/>
          </a:xfrm>
          <a:prstGeom prst="line">
            <a:avLst/>
          </a:prstGeom>
          <a:noFill/>
          <a:ln w="7144">
            <a:solidFill>
              <a:srgbClr val="FFFFFF"/>
            </a:solidFill>
            <a:prstDash val="solid"/>
          </a:ln>
        </p:spPr>
      </p:sp>
      <p:sp>
        <p:nvSpPr>
          <p:cNvPr id="8" name="Text 4"/>
          <p:cNvSpPr/>
          <p:nvPr/>
        </p:nvSpPr>
        <p:spPr>
          <a:xfrm>
            <a:off x="491490" y="387248"/>
            <a:ext cx="1391089"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9" name="Text 5"/>
          <p:cNvSpPr/>
          <p:nvPr/>
        </p:nvSpPr>
        <p:spPr>
          <a:xfrm>
            <a:off x="778669" y="464344"/>
            <a:ext cx="973894" cy="126609"/>
          </a:xfrm>
          <a:prstGeom prst="rect">
            <a:avLst/>
          </a:prstGeom>
          <a:noFill/>
          <a:ln/>
        </p:spPr>
        <p:txBody>
          <a:bodyPr wrap="none" lIns="0" tIns="0" rIns="0" bIns="0" rtlCol="0" anchor="t"/>
          <a:lstStyle/>
          <a:p>
            <a:pPr algn="l"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BUSINESS MODEL</a:t>
            </a:r>
            <a:endParaRPr lang="en-US" sz="800" dirty="0"/>
          </a:p>
        </p:txBody>
      </p:sp>
      <p:sp>
        <p:nvSpPr>
          <p:cNvPr id="10" name="Text 6"/>
          <p:cNvSpPr/>
          <p:nvPr/>
        </p:nvSpPr>
        <p:spPr>
          <a:xfrm>
            <a:off x="621506" y="469702"/>
            <a:ext cx="100013" cy="100013"/>
          </a:xfrm>
          <a:prstGeom prst="rect">
            <a:avLst/>
          </a:prstGeom>
          <a:noFill/>
          <a:ln/>
        </p:spPr>
        <p:txBody>
          <a:bodyPr wrap="none" lIns="0" tIns="0" rIns="0" bIns="0" rtlCol="0" anchor="ctr"/>
          <a:lstStyle/>
          <a:p>
            <a:pPr algn="ctr" indent="0" marL="0">
              <a:buNone/>
            </a:pPr>
            <a:r>
              <a:rPr lang="en-US" sz="984" dirty="0">
                <a:solidFill>
                  <a:srgbClr val="00E676"/>
                </a:solidFill>
                <a:latin typeface="Segoe UI Symbol" pitchFamily="34" charset="0"/>
                <a:ea typeface="Segoe UI Symbol" pitchFamily="34" charset="-122"/>
                <a:cs typeface="Segoe UI Symbol" pitchFamily="34" charset="-120"/>
              </a:rPr>
              <a:t>$</a:t>
            </a:r>
            <a:endParaRPr lang="en-US" sz="984" dirty="0"/>
          </a:p>
        </p:txBody>
      </p:sp>
      <p:sp>
        <p:nvSpPr>
          <p:cNvPr id="11" name="Text 7"/>
          <p:cNvSpPr/>
          <p:nvPr/>
        </p:nvSpPr>
        <p:spPr>
          <a:xfrm>
            <a:off x="514350" y="739378"/>
            <a:ext cx="8629650" cy="678942"/>
          </a:xfrm>
          <a:prstGeom prst="rect">
            <a:avLst/>
          </a:prstGeom>
          <a:noFill/>
          <a:ln/>
        </p:spPr>
        <p:txBody>
          <a:bodyPr wrap="square" lIns="0" tIns="0" rIns="0" bIns="0" rtlCol="0" anchor="t"/>
          <a:lstStyle/>
          <a:p>
            <a:pPr algn="l" indent="0" marL="0">
              <a:lnSpc>
                <a:spcPts val="2475"/>
              </a:lnSpc>
              <a:buNone/>
            </a:pPr>
            <a:r>
              <a:rPr lang="en-US" sz="2250" b="1" spc="-45" kern="0" dirty="0">
                <a:solidFill>
                  <a:srgbClr val="F4F7FB"/>
                </a:solidFill>
                <a:latin typeface="Carlito" pitchFamily="34" charset="0"/>
                <a:ea typeface="Carlito" pitchFamily="34" charset="-122"/>
                <a:cs typeface="Carlito" pitchFamily="34" charset="-120"/>
              </a:rPr>
              <a:t>Three revenue streams. </a:t>
            </a:r>
            <a:pPr algn="l" indent="0" marL="0">
              <a:lnSpc>
                <a:spcPts val="2475"/>
              </a:lnSpc>
              <a:buNone/>
            </a:pPr>
            <a:r>
              <a:rPr lang="en-US" sz="2250" b="1" spc="-45" kern="0" dirty="0">
                <a:solidFill>
                  <a:srgbClr val="00E676"/>
                </a:solidFill>
                <a:latin typeface="Carlito" pitchFamily="34" charset="0"/>
                <a:ea typeface="Carlito" pitchFamily="34" charset="-122"/>
                <a:cs typeface="Carlito" pitchFamily="34" charset="-120"/>
              </a:rPr>
              <a:t>One scalable</a:t>
            </a:r>
            <a:pPr algn="l" indent="0" marL="0">
              <a:lnSpc>
                <a:spcPts val="2475"/>
              </a:lnSpc>
              <a:buNone/>
            </a:pPr>
            <a:r>
              <a:rPr lang="en-US" sz="2250" b="1" spc="-45" kern="0" dirty="0">
                <a:solidFill>
                  <a:srgbClr val="F4F7FB"/>
                </a:solidFill>
                <a:latin typeface="Carlito" pitchFamily="34" charset="0"/>
                <a:ea typeface="Carlito" pitchFamily="34" charset="-122"/>
                <a:cs typeface="Carlito" pitchFamily="34" charset="-120"/>
              </a:rPr>
              <a:t> unit economic.</a:t>
            </a:r>
            <a:endParaRPr lang="en-US" sz="2250" dirty="0"/>
          </a:p>
        </p:txBody>
      </p:sp>
      <p:sp>
        <p:nvSpPr>
          <p:cNvPr id="12" name="Text 8"/>
          <p:cNvSpPr/>
          <p:nvPr/>
        </p:nvSpPr>
        <p:spPr>
          <a:xfrm>
            <a:off x="514350" y="1453753"/>
            <a:ext cx="7000875" cy="169980"/>
          </a:xfrm>
          <a:prstGeom prst="rect">
            <a:avLst/>
          </a:prstGeom>
          <a:noFill/>
          <a:ln/>
        </p:spPr>
        <p:txBody>
          <a:bodyPr wrap="square" lIns="0" tIns="0" rIns="0" bIns="0" rtlCol="0" anchor="t"/>
          <a:lstStyle/>
          <a:p>
            <a:pPr algn="l" indent="0" marL="0">
              <a:lnSpc>
                <a:spcPts val="1221"/>
              </a:lnSpc>
              <a:buNone/>
            </a:pPr>
            <a:r>
              <a:rPr lang="en-US" sz="788" dirty="0">
                <a:solidFill>
                  <a:srgbClr val="94A3B8"/>
                </a:solidFill>
                <a:latin typeface="Carlito" pitchFamily="34" charset="0"/>
                <a:ea typeface="Carlito" pitchFamily="34" charset="-122"/>
                <a:cs typeface="Carlito" pitchFamily="34" charset="-120"/>
              </a:rPr>
              <a:t>Recurring revenue compounds with both user count and user wealth — a model that scales as our customers grow richer alongside us.</a:t>
            </a:r>
            <a:endParaRPr lang="en-US" sz="788" dirty="0"/>
          </a:p>
        </p:txBody>
      </p:sp>
      <p:sp>
        <p:nvSpPr>
          <p:cNvPr id="13" name="Text 9"/>
          <p:cNvSpPr/>
          <p:nvPr/>
        </p:nvSpPr>
        <p:spPr>
          <a:xfrm>
            <a:off x="517922" y="1840855"/>
            <a:ext cx="2593181" cy="1707356"/>
          </a:xfrm>
          <a:prstGeom prst="roundRect">
            <a:avLst>
              <a:gd name="adj" fmla="val 7810"/>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4" name="Text 10"/>
          <p:cNvSpPr/>
          <p:nvPr/>
        </p:nvSpPr>
        <p:spPr>
          <a:xfrm>
            <a:off x="707231" y="2030164"/>
            <a:ext cx="200025" cy="200025"/>
          </a:xfrm>
          <a:prstGeom prst="rect">
            <a:avLst/>
          </a:prstGeom>
          <a:noFill/>
          <a:ln/>
        </p:spPr>
        <p:txBody>
          <a:bodyPr wrap="none" lIns="0" tIns="0" rIns="0" bIns="0" rtlCol="0" anchor="ctr"/>
          <a:lstStyle/>
          <a:p>
            <a:pPr algn="ctr" indent="0" marL="0">
              <a:buNone/>
            </a:pPr>
            <a:r>
              <a:rPr lang="en-US" sz="1969" dirty="0">
                <a:solidFill>
                  <a:srgbClr val="94A3B8"/>
                </a:solidFill>
                <a:latin typeface="Segoe UI Symbol" pitchFamily="34" charset="0"/>
                <a:ea typeface="Segoe UI Symbol" pitchFamily="34" charset="-122"/>
                <a:cs typeface="Segoe UI Symbol" pitchFamily="34" charset="-120"/>
              </a:rPr>
              <a:t>☻</a:t>
            </a:r>
            <a:endParaRPr lang="en-US" sz="1969" dirty="0"/>
          </a:p>
        </p:txBody>
      </p:sp>
      <p:sp>
        <p:nvSpPr>
          <p:cNvPr id="15" name="Text 11"/>
          <p:cNvSpPr/>
          <p:nvPr/>
        </p:nvSpPr>
        <p:spPr>
          <a:xfrm>
            <a:off x="707231" y="2301627"/>
            <a:ext cx="2214563" cy="151162"/>
          </a:xfrm>
          <a:prstGeom prst="rect">
            <a:avLst/>
          </a:prstGeom>
          <a:noFill/>
          <a:ln/>
        </p:spPr>
        <p:txBody>
          <a:bodyPr wrap="none" lIns="0" tIns="0" rIns="0" bIns="0" rtlCol="0" anchor="t">
            <a:normAutofit/>
          </a:bodyPr>
          <a:lstStyle/>
          <a:p>
            <a:pPr algn="l" indent="0" marL="0">
              <a:lnSpc>
                <a:spcPts val="1181"/>
              </a:lnSpc>
              <a:buNone/>
            </a:pPr>
            <a:r>
              <a:rPr lang="en-US" sz="800" b="1" spc="79" kern="0" dirty="0">
                <a:solidFill>
                  <a:srgbClr val="64748B"/>
                </a:solidFill>
                <a:latin typeface="Liberation Sans Narrow" pitchFamily="34" charset="0"/>
                <a:ea typeface="Liberation Sans Narrow" pitchFamily="34" charset="-122"/>
                <a:cs typeface="Liberation Sans Narrow" pitchFamily="34" charset="-120"/>
              </a:rPr>
              <a:t>TIER 01 · TOP OF FUNNEL</a:t>
            </a:r>
            <a:endParaRPr lang="en-US" sz="800" dirty="0"/>
          </a:p>
        </p:txBody>
      </p:sp>
      <p:sp>
        <p:nvSpPr>
          <p:cNvPr id="16" name="Text 12"/>
          <p:cNvSpPr/>
          <p:nvPr/>
        </p:nvSpPr>
        <p:spPr>
          <a:xfrm>
            <a:off x="707231" y="2480221"/>
            <a:ext cx="2214563" cy="251174"/>
          </a:xfrm>
          <a:prstGeom prst="rect">
            <a:avLst/>
          </a:prstGeom>
          <a:noFill/>
          <a:ln/>
        </p:spPr>
        <p:txBody>
          <a:bodyPr wrap="none" lIns="0" tIns="0" rIns="0" bIns="0" rtlCol="0" anchor="t">
            <a:normAutofit/>
          </a:bodyPr>
          <a:lstStyle/>
          <a:p>
            <a:pPr algn="l" indent="0" marL="0">
              <a:lnSpc>
                <a:spcPts val="1856"/>
              </a:lnSpc>
              <a:buNone/>
            </a:pPr>
            <a:r>
              <a:rPr lang="en-US" sz="1238" b="1" dirty="0">
                <a:solidFill>
                  <a:srgbClr val="F4F7FB"/>
                </a:solidFill>
                <a:latin typeface="Carlito" pitchFamily="34" charset="0"/>
                <a:ea typeface="Carlito" pitchFamily="34" charset="-122"/>
                <a:cs typeface="Carlito" pitchFamily="34" charset="-120"/>
              </a:rPr>
              <a:t>Free</a:t>
            </a:r>
            <a:endParaRPr lang="en-US" sz="1238" dirty="0"/>
          </a:p>
        </p:txBody>
      </p:sp>
      <p:sp>
        <p:nvSpPr>
          <p:cNvPr id="17" name="Text 13"/>
          <p:cNvSpPr/>
          <p:nvPr/>
        </p:nvSpPr>
        <p:spPr>
          <a:xfrm>
            <a:off x="707231" y="2758827"/>
            <a:ext cx="2214563" cy="370332"/>
          </a:xfrm>
          <a:prstGeom prst="rect">
            <a:avLst/>
          </a:prstGeom>
          <a:noFill/>
          <a:ln/>
        </p:spPr>
        <p:txBody>
          <a:bodyPr wrap="none" lIns="0" tIns="0" rIns="0" bIns="0" rtlCol="0" anchor="t"/>
          <a:lstStyle/>
          <a:p>
            <a:pPr algn="l" indent="0" marL="0">
              <a:lnSpc>
                <a:spcPts val="2700"/>
              </a:lnSpc>
              <a:buNone/>
            </a:pPr>
            <a:r>
              <a:rPr lang="en-US" sz="1800" b="1" spc="-18" kern="0" dirty="0">
                <a:solidFill>
                  <a:srgbClr val="F4F7FB"/>
                </a:solidFill>
                <a:latin typeface="Liberation Sans Narrow" pitchFamily="34" charset="0"/>
                <a:ea typeface="Liberation Sans Narrow" pitchFamily="34" charset="-122"/>
                <a:cs typeface="Liberation Sans Narrow" pitchFamily="34" charset="-120"/>
              </a:rPr>
              <a:t>PKR 0</a:t>
            </a:r>
            <a:endParaRPr lang="en-US" sz="1800" dirty="0"/>
          </a:p>
        </p:txBody>
      </p:sp>
      <p:sp>
        <p:nvSpPr>
          <p:cNvPr id="18" name="Text 14"/>
          <p:cNvSpPr/>
          <p:nvPr/>
        </p:nvSpPr>
        <p:spPr>
          <a:xfrm>
            <a:off x="707231" y="3173164"/>
            <a:ext cx="2214563" cy="185738"/>
          </a:xfrm>
          <a:prstGeom prst="rect">
            <a:avLst/>
          </a:prstGeom>
          <a:noFill/>
          <a:ln/>
        </p:spPr>
        <p:txBody>
          <a:bodyPr wrap="square" lIns="0" tIns="0" rIns="0" bIns="0" rtlCol="0" anchor="t"/>
          <a:lstStyle/>
          <a:p>
            <a:pPr algn="l" indent="0" marL="0">
              <a:lnSpc>
                <a:spcPts val="1090"/>
              </a:lnSpc>
              <a:buNone/>
            </a:pPr>
            <a:r>
              <a:rPr lang="en-US" sz="800" dirty="0">
                <a:solidFill>
                  <a:srgbClr val="94A3B8"/>
                </a:solidFill>
                <a:latin typeface="Carlito" pitchFamily="34" charset="0"/>
                <a:ea typeface="Carlito" pitchFamily="34" charset="-122"/>
                <a:cs typeface="Carlito" pitchFamily="34" charset="-120"/>
              </a:rPr>
              <a:t>Onboarding, single-stock AI analysis, basic risk profile. Goal: virality, top-of-funnel, conversion to Pro. Cap: 1 stock analysis/day.</a:t>
            </a:r>
            <a:endParaRPr lang="en-US" sz="800" dirty="0"/>
          </a:p>
        </p:txBody>
      </p:sp>
      <p:pic>
        <p:nvPicPr>
          <p:cNvPr id="19" name="Image 2" descr="preencoded.png">    </p:cNvPr>
          <p:cNvPicPr>
            <a:picLocks noChangeAspect="1"/>
          </p:cNvPicPr>
          <p:nvPr/>
        </p:nvPicPr>
        <p:blipFill>
          <a:blip r:embed="rId3"/>
          <a:stretch>
            <a:fillRect/>
          </a:stretch>
        </p:blipFill>
        <p:spPr>
          <a:xfrm>
            <a:off x="3271838" y="1837283"/>
            <a:ext cx="2600325" cy="1714500"/>
          </a:xfrm>
          <a:prstGeom prst="rect">
            <a:avLst/>
          </a:prstGeom>
        </p:spPr>
      </p:pic>
      <p:sp>
        <p:nvSpPr>
          <p:cNvPr id="20" name="Text 15"/>
          <p:cNvSpPr/>
          <p:nvPr/>
        </p:nvSpPr>
        <p:spPr>
          <a:xfrm>
            <a:off x="3275409" y="1840855"/>
            <a:ext cx="2593181" cy="1707356"/>
          </a:xfrm>
          <a:prstGeom prst="roundRect">
            <a:avLst>
              <a:gd name="adj" fmla="val 7810"/>
            </a:avLst>
          </a:prstGeom>
          <a:noFill/>
          <a:ln w="7144">
            <a:solidFill>
              <a:srgbClr val="00E676"/>
            </a:solidFill>
            <a:prstDash val="solid"/>
          </a:ln>
        </p:spPr>
        <p:txBody>
          <a:bodyPr wrap="square" rtlCol="0" anchor="ctr"/>
          <a:lstStyle/>
          <a:p>
            <a:pPr indent="0" marL="0">
              <a:buNone/>
            </a:pPr>
            <a:endParaRPr lang="en-US" dirty="0"/>
          </a:p>
        </p:txBody>
      </p:sp>
      <p:sp>
        <p:nvSpPr>
          <p:cNvPr id="21" name="Text 16"/>
          <p:cNvSpPr/>
          <p:nvPr/>
        </p:nvSpPr>
        <p:spPr>
          <a:xfrm>
            <a:off x="5396666" y="1935438"/>
            <a:ext cx="382508" cy="168021"/>
          </a:xfrm>
          <a:prstGeom prst="roundRect">
            <a:avLst>
              <a:gd name="adj" fmla="val 22676"/>
            </a:avLst>
          </a:prstGeom>
          <a:solidFill>
            <a:srgbClr val="00E676"/>
          </a:solidFill>
          <a:ln/>
        </p:spPr>
        <p:txBody>
          <a:bodyPr wrap="square" rtlCol="0" anchor="ctr"/>
          <a:lstStyle/>
          <a:p>
            <a:pPr indent="0" marL="0">
              <a:buNone/>
            </a:pPr>
            <a:endParaRPr lang="en-US" dirty="0"/>
          </a:p>
        </p:txBody>
      </p:sp>
      <p:sp>
        <p:nvSpPr>
          <p:cNvPr id="22" name="Text 17"/>
          <p:cNvSpPr/>
          <p:nvPr/>
        </p:nvSpPr>
        <p:spPr>
          <a:xfrm>
            <a:off x="5325108" y="1944439"/>
            <a:ext cx="354174" cy="150019"/>
          </a:xfrm>
          <a:prstGeom prst="rect">
            <a:avLst/>
          </a:prstGeom>
          <a:noFill/>
          <a:ln/>
        </p:spPr>
        <p:txBody>
          <a:bodyPr wrap="none" lIns="0" tIns="0" rIns="0" bIns="0" rtlCol="0" anchor="ctr"/>
          <a:lstStyle/>
          <a:p>
            <a:pPr algn="ctr" indent="0" marL="0">
              <a:lnSpc>
                <a:spcPts val="844"/>
              </a:lnSpc>
              <a:buNone/>
            </a:pPr>
            <a:r>
              <a:rPr lang="en-US" sz="800" b="1" spc="45" kern="0" dirty="0">
                <a:solidFill>
                  <a:srgbClr val="0A0E1A"/>
                </a:solidFill>
                <a:latin typeface="Carlito" pitchFamily="34" charset="0"/>
                <a:ea typeface="Carlito" pitchFamily="34" charset="-122"/>
                <a:cs typeface="Carlito" pitchFamily="34" charset="-120"/>
              </a:rPr>
              <a:t>CORE</a:t>
            </a:r>
            <a:endParaRPr lang="en-US" sz="800" dirty="0"/>
          </a:p>
        </p:txBody>
      </p:sp>
      <p:sp>
        <p:nvSpPr>
          <p:cNvPr id="23" name="Text 18"/>
          <p:cNvSpPr/>
          <p:nvPr/>
        </p:nvSpPr>
        <p:spPr>
          <a:xfrm>
            <a:off x="3464719" y="2030164"/>
            <a:ext cx="200025" cy="200025"/>
          </a:xfrm>
          <a:prstGeom prst="rect">
            <a:avLst/>
          </a:prstGeom>
          <a:noFill/>
          <a:ln/>
        </p:spPr>
        <p:txBody>
          <a:bodyPr wrap="none" lIns="0" tIns="0" rIns="0" bIns="0" rtlCol="0" anchor="ctr"/>
          <a:lstStyle/>
          <a:p>
            <a:pPr algn="ctr" indent="0" marL="0">
              <a:buNone/>
            </a:pPr>
            <a:r>
              <a:rPr lang="en-US" sz="1969" dirty="0">
                <a:solidFill>
                  <a:srgbClr val="00E676"/>
                </a:solidFill>
                <a:latin typeface="Segoe UI Symbol" pitchFamily="34" charset="0"/>
                <a:ea typeface="Segoe UI Symbol" pitchFamily="34" charset="-122"/>
                <a:cs typeface="Segoe UI Symbol" pitchFamily="34" charset="-120"/>
              </a:rPr>
              <a:t>♛</a:t>
            </a:r>
            <a:endParaRPr lang="en-US" sz="1969" dirty="0"/>
          </a:p>
        </p:txBody>
      </p:sp>
      <p:sp>
        <p:nvSpPr>
          <p:cNvPr id="24" name="Text 19"/>
          <p:cNvSpPr/>
          <p:nvPr/>
        </p:nvSpPr>
        <p:spPr>
          <a:xfrm>
            <a:off x="3464719" y="2301627"/>
            <a:ext cx="2214563" cy="151162"/>
          </a:xfrm>
          <a:prstGeom prst="rect">
            <a:avLst/>
          </a:prstGeom>
          <a:noFill/>
          <a:ln/>
        </p:spPr>
        <p:txBody>
          <a:bodyPr wrap="none" lIns="0" tIns="0" rIns="0" bIns="0" rtlCol="0" anchor="t">
            <a:normAutofit/>
          </a:bodyPr>
          <a:lstStyle/>
          <a:p>
            <a:pPr algn="l" indent="0" marL="0">
              <a:lnSpc>
                <a:spcPts val="1181"/>
              </a:lnSpc>
              <a:buNone/>
            </a:pPr>
            <a:r>
              <a:rPr lang="en-US" sz="800" b="1" spc="79" kern="0" dirty="0">
                <a:solidFill>
                  <a:srgbClr val="00E676"/>
                </a:solidFill>
                <a:latin typeface="Liberation Sans Narrow" pitchFamily="34" charset="0"/>
                <a:ea typeface="Liberation Sans Narrow" pitchFamily="34" charset="-122"/>
                <a:cs typeface="Liberation Sans Narrow" pitchFamily="34" charset="-120"/>
              </a:rPr>
              <a:t>TIER 02 · POWER USER</a:t>
            </a:r>
            <a:endParaRPr lang="en-US" sz="800" dirty="0"/>
          </a:p>
        </p:txBody>
      </p:sp>
      <p:sp>
        <p:nvSpPr>
          <p:cNvPr id="25" name="Text 20"/>
          <p:cNvSpPr/>
          <p:nvPr/>
        </p:nvSpPr>
        <p:spPr>
          <a:xfrm>
            <a:off x="3464719" y="2480221"/>
            <a:ext cx="2214563" cy="251174"/>
          </a:xfrm>
          <a:prstGeom prst="rect">
            <a:avLst/>
          </a:prstGeom>
          <a:noFill/>
          <a:ln/>
        </p:spPr>
        <p:txBody>
          <a:bodyPr wrap="none" lIns="0" tIns="0" rIns="0" bIns="0" rtlCol="0" anchor="t">
            <a:normAutofit/>
          </a:bodyPr>
          <a:lstStyle/>
          <a:p>
            <a:pPr algn="l" indent="0" marL="0">
              <a:lnSpc>
                <a:spcPts val="1856"/>
              </a:lnSpc>
              <a:buNone/>
            </a:pPr>
            <a:r>
              <a:rPr lang="en-US" sz="1238" b="1" dirty="0">
                <a:solidFill>
                  <a:srgbClr val="F4F7FB"/>
                </a:solidFill>
                <a:latin typeface="Carlito" pitchFamily="34" charset="0"/>
                <a:ea typeface="Carlito" pitchFamily="34" charset="-122"/>
                <a:cs typeface="Carlito" pitchFamily="34" charset="-120"/>
              </a:rPr>
              <a:t>Pro</a:t>
            </a:r>
            <a:endParaRPr lang="en-US" sz="1238" dirty="0"/>
          </a:p>
        </p:txBody>
      </p:sp>
      <p:sp>
        <p:nvSpPr>
          <p:cNvPr id="26" name="Text 21"/>
          <p:cNvSpPr/>
          <p:nvPr/>
        </p:nvSpPr>
        <p:spPr>
          <a:xfrm>
            <a:off x="3464719" y="2758827"/>
            <a:ext cx="2214563" cy="370332"/>
          </a:xfrm>
          <a:prstGeom prst="rect">
            <a:avLst/>
          </a:prstGeom>
          <a:noFill/>
          <a:ln/>
        </p:spPr>
        <p:txBody>
          <a:bodyPr wrap="none" lIns="0" tIns="0" rIns="0" bIns="0" rtlCol="0" anchor="t"/>
          <a:lstStyle/>
          <a:p>
            <a:pPr algn="l" indent="0" marL="0">
              <a:lnSpc>
                <a:spcPts val="2700"/>
              </a:lnSpc>
              <a:buNone/>
            </a:pPr>
            <a:r>
              <a:rPr lang="en-US" sz="1800" b="1" spc="-18" kern="0" dirty="0">
                <a:solidFill>
                  <a:srgbClr val="F4F7FB"/>
                </a:solidFill>
                <a:latin typeface="Liberation Sans Narrow" pitchFamily="34" charset="0"/>
                <a:ea typeface="Liberation Sans Narrow" pitchFamily="34" charset="-122"/>
                <a:cs typeface="Liberation Sans Narrow" pitchFamily="34" charset="-120"/>
              </a:rPr>
              <a:t>PKR 1,500/mo</a:t>
            </a:r>
            <a:endParaRPr lang="en-US" sz="1800" dirty="0"/>
          </a:p>
        </p:txBody>
      </p:sp>
      <p:sp>
        <p:nvSpPr>
          <p:cNvPr id="27" name="Text 22"/>
          <p:cNvSpPr/>
          <p:nvPr/>
        </p:nvSpPr>
        <p:spPr>
          <a:xfrm>
            <a:off x="3464719" y="3173164"/>
            <a:ext cx="2214563" cy="185738"/>
          </a:xfrm>
          <a:prstGeom prst="rect">
            <a:avLst/>
          </a:prstGeom>
          <a:noFill/>
          <a:ln/>
        </p:spPr>
        <p:txBody>
          <a:bodyPr wrap="square" lIns="0" tIns="0" rIns="0" bIns="0" rtlCol="0" anchor="t"/>
          <a:lstStyle/>
          <a:p>
            <a:pPr algn="l" indent="0" marL="0">
              <a:lnSpc>
                <a:spcPts val="1090"/>
              </a:lnSpc>
              <a:buNone/>
            </a:pPr>
            <a:r>
              <a:rPr lang="en-US" sz="800" dirty="0">
                <a:solidFill>
                  <a:srgbClr val="94A3B8"/>
                </a:solidFill>
                <a:latin typeface="Carlito" pitchFamily="34" charset="0"/>
                <a:ea typeface="Carlito" pitchFamily="34" charset="-122"/>
                <a:cs typeface="Carlito" pitchFamily="34" charset="-120"/>
              </a:rPr>
              <a:t>Unlimited plans, AI rebalancing, multi-goal tracking, priority alerts, advanced risk modeling. Target conversion: 8% free→paid within 90 days.</a:t>
            </a:r>
            <a:endParaRPr lang="en-US" sz="800" dirty="0"/>
          </a:p>
        </p:txBody>
      </p:sp>
      <p:sp>
        <p:nvSpPr>
          <p:cNvPr id="28" name="Text 23"/>
          <p:cNvSpPr/>
          <p:nvPr/>
        </p:nvSpPr>
        <p:spPr>
          <a:xfrm>
            <a:off x="6032897" y="1840855"/>
            <a:ext cx="2593181" cy="1707356"/>
          </a:xfrm>
          <a:prstGeom prst="roundRect">
            <a:avLst>
              <a:gd name="adj" fmla="val 7810"/>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9" name="Text 24"/>
          <p:cNvSpPr/>
          <p:nvPr/>
        </p:nvSpPr>
        <p:spPr>
          <a:xfrm>
            <a:off x="6222206" y="2030164"/>
            <a:ext cx="200025" cy="200025"/>
          </a:xfrm>
          <a:prstGeom prst="rect">
            <a:avLst/>
          </a:prstGeom>
          <a:noFill/>
          <a:ln/>
        </p:spPr>
        <p:txBody>
          <a:bodyPr wrap="none" lIns="0" tIns="0" rIns="0" bIns="0" rtlCol="0" anchor="ctr"/>
          <a:lstStyle/>
          <a:p>
            <a:pPr algn="ctr" indent="0" marL="0">
              <a:buNone/>
            </a:pPr>
            <a:r>
              <a:rPr lang="en-US" sz="1969" dirty="0">
                <a:solidFill>
                  <a:srgbClr val="22E881"/>
                </a:solidFill>
                <a:latin typeface="Segoe UI Symbol" pitchFamily="34" charset="0"/>
                <a:ea typeface="Segoe UI Symbol" pitchFamily="34" charset="-122"/>
                <a:cs typeface="Segoe UI Symbol" pitchFamily="34" charset="-120"/>
              </a:rPr>
              <a:t>↗</a:t>
            </a:r>
            <a:endParaRPr lang="en-US" sz="1969" dirty="0"/>
          </a:p>
        </p:txBody>
      </p:sp>
      <p:sp>
        <p:nvSpPr>
          <p:cNvPr id="30" name="Text 25"/>
          <p:cNvSpPr/>
          <p:nvPr/>
        </p:nvSpPr>
        <p:spPr>
          <a:xfrm>
            <a:off x="6222206" y="2301627"/>
            <a:ext cx="2214563" cy="151162"/>
          </a:xfrm>
          <a:prstGeom prst="rect">
            <a:avLst/>
          </a:prstGeom>
          <a:noFill/>
          <a:ln/>
        </p:spPr>
        <p:txBody>
          <a:bodyPr wrap="none" lIns="0" tIns="0" rIns="0" bIns="0" rtlCol="0" anchor="t">
            <a:normAutofit/>
          </a:bodyPr>
          <a:lstStyle/>
          <a:p>
            <a:pPr algn="l" indent="0" marL="0">
              <a:lnSpc>
                <a:spcPts val="1181"/>
              </a:lnSpc>
              <a:buNone/>
            </a:pPr>
            <a:r>
              <a:rPr lang="en-US" sz="800" b="1" spc="79" kern="0" dirty="0">
                <a:solidFill>
                  <a:srgbClr val="22E881"/>
                </a:solidFill>
                <a:latin typeface="Liberation Sans Narrow" pitchFamily="34" charset="0"/>
                <a:ea typeface="Liberation Sans Narrow" pitchFamily="34" charset="-122"/>
                <a:cs typeface="Liberation Sans Narrow" pitchFamily="34" charset="-120"/>
              </a:rPr>
              <a:t>TIER 03 · WEALTH-LINKED</a:t>
            </a:r>
            <a:endParaRPr lang="en-US" sz="800" dirty="0"/>
          </a:p>
        </p:txBody>
      </p:sp>
      <p:sp>
        <p:nvSpPr>
          <p:cNvPr id="31" name="Text 26"/>
          <p:cNvSpPr/>
          <p:nvPr/>
        </p:nvSpPr>
        <p:spPr>
          <a:xfrm>
            <a:off x="6222206" y="2480221"/>
            <a:ext cx="2214563" cy="251174"/>
          </a:xfrm>
          <a:prstGeom prst="rect">
            <a:avLst/>
          </a:prstGeom>
          <a:noFill/>
          <a:ln/>
        </p:spPr>
        <p:txBody>
          <a:bodyPr wrap="none" lIns="0" tIns="0" rIns="0" bIns="0" rtlCol="0" anchor="t">
            <a:normAutofit/>
          </a:bodyPr>
          <a:lstStyle/>
          <a:p>
            <a:pPr algn="l" indent="0" marL="0">
              <a:lnSpc>
                <a:spcPts val="1856"/>
              </a:lnSpc>
              <a:buNone/>
            </a:pPr>
            <a:r>
              <a:rPr lang="en-US" sz="1238" b="1" dirty="0">
                <a:solidFill>
                  <a:srgbClr val="F4F7FB"/>
                </a:solidFill>
                <a:latin typeface="Carlito" pitchFamily="34" charset="0"/>
                <a:ea typeface="Carlito" pitchFamily="34" charset="-122"/>
                <a:cs typeface="Carlito" pitchFamily="34" charset="-120"/>
              </a:rPr>
              <a:t>AUM + Referral</a:t>
            </a:r>
            <a:endParaRPr lang="en-US" sz="1238" dirty="0"/>
          </a:p>
        </p:txBody>
      </p:sp>
      <p:sp>
        <p:nvSpPr>
          <p:cNvPr id="32" name="Text 27"/>
          <p:cNvSpPr/>
          <p:nvPr/>
        </p:nvSpPr>
        <p:spPr>
          <a:xfrm>
            <a:off x="6222206" y="2758827"/>
            <a:ext cx="2214563" cy="555498"/>
          </a:xfrm>
          <a:prstGeom prst="rect">
            <a:avLst/>
          </a:prstGeom>
          <a:noFill/>
          <a:ln/>
        </p:spPr>
        <p:txBody>
          <a:bodyPr wrap="square" lIns="0" tIns="0" rIns="0" bIns="0" rtlCol="0" anchor="t"/>
          <a:lstStyle/>
          <a:p>
            <a:pPr algn="l" indent="0" marL="0">
              <a:lnSpc>
                <a:spcPts val="2025"/>
              </a:lnSpc>
              <a:buNone/>
            </a:pPr>
            <a:r>
              <a:rPr lang="en-US" sz="1350" b="1" spc="-13" kern="0" dirty="0">
                <a:solidFill>
                  <a:srgbClr val="F4F7FB"/>
                </a:solidFill>
                <a:latin typeface="Liberation Sans Narrow" pitchFamily="34" charset="0"/>
                <a:ea typeface="Liberation Sans Narrow" pitchFamily="34" charset="-122"/>
                <a:cs typeface="Liberation Sans Narrow" pitchFamily="34" charset="-120"/>
              </a:rPr>
              <a:t>0.25% AUM + 12-25% rev share</a:t>
            </a:r>
            <a:endParaRPr lang="en-US" sz="1350" dirty="0"/>
          </a:p>
        </p:txBody>
      </p:sp>
      <p:sp>
        <p:nvSpPr>
          <p:cNvPr id="33" name="Text 28"/>
          <p:cNvSpPr/>
          <p:nvPr/>
        </p:nvSpPr>
        <p:spPr>
          <a:xfrm>
            <a:off x="6222206" y="3344614"/>
            <a:ext cx="2214563" cy="91440"/>
          </a:xfrm>
          <a:prstGeom prst="rect">
            <a:avLst/>
          </a:prstGeom>
          <a:noFill/>
          <a:ln/>
        </p:spPr>
        <p:txBody>
          <a:bodyPr wrap="square" lIns="0" tIns="0" rIns="0" bIns="0" rtlCol="0" anchor="t"/>
          <a:lstStyle/>
          <a:p>
            <a:pPr algn="l" indent="0" marL="0">
              <a:lnSpc>
                <a:spcPts val="1090"/>
              </a:lnSpc>
              <a:buNone/>
            </a:pPr>
            <a:r>
              <a:rPr lang="en-US" sz="800" dirty="0">
                <a:solidFill>
                  <a:srgbClr val="94A3B8"/>
                </a:solidFill>
                <a:latin typeface="Carlito" pitchFamily="34" charset="0"/>
                <a:ea typeface="Carlito" pitchFamily="34" charset="-122"/>
                <a:cs typeface="Carlito" pitchFamily="34" charset="-120"/>
              </a:rPr>
              <a:t>0.25% AUM fee on managed plans, charged quarterly. Plus 12-25% revenue share with partner brokers on executed orders. Recurring, scales with user wealth.</a:t>
            </a:r>
            <a:endParaRPr lang="en-US" sz="800" dirty="0"/>
          </a:p>
        </p:txBody>
      </p:sp>
      <p:sp>
        <p:nvSpPr>
          <p:cNvPr id="34" name="Text 29"/>
          <p:cNvSpPr/>
          <p:nvPr/>
        </p:nvSpPr>
        <p:spPr>
          <a:xfrm>
            <a:off x="517922" y="3755380"/>
            <a:ext cx="8108156" cy="635794"/>
          </a:xfrm>
          <a:prstGeom prst="roundRect">
            <a:avLst>
              <a:gd name="adj" fmla="val 20974"/>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35" name="Text 30"/>
          <p:cNvSpPr/>
          <p:nvPr/>
        </p:nvSpPr>
        <p:spPr>
          <a:xfrm>
            <a:off x="721519" y="3875038"/>
            <a:ext cx="2591752" cy="133302"/>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CAC</a:t>
            </a:r>
            <a:endParaRPr lang="en-US" sz="800" dirty="0"/>
          </a:p>
        </p:txBody>
      </p:sp>
      <p:sp>
        <p:nvSpPr>
          <p:cNvPr id="36" name="Text 31"/>
          <p:cNvSpPr/>
          <p:nvPr/>
        </p:nvSpPr>
        <p:spPr>
          <a:xfrm>
            <a:off x="721519" y="4035772"/>
            <a:ext cx="1700838" cy="208955"/>
          </a:xfrm>
          <a:prstGeom prst="rect">
            <a:avLst/>
          </a:prstGeom>
          <a:noFill/>
          <a:ln/>
        </p:spPr>
        <p:txBody>
          <a:bodyPr wrap="none" lIns="0" tIns="0" rIns="0" bIns="0" rtlCol="0" anchor="t"/>
          <a:lstStyle/>
          <a:p>
            <a:pPr algn="l" indent="0" marL="0">
              <a:lnSpc>
                <a:spcPts val="1856"/>
              </a:lnSpc>
              <a:buNone/>
            </a:pPr>
            <a:r>
              <a:rPr lang="en-US" sz="1238" b="1" spc="-12" kern="0" dirty="0">
                <a:solidFill>
                  <a:srgbClr val="F4F7FB"/>
                </a:solidFill>
                <a:latin typeface="Liberation Sans Narrow" pitchFamily="34" charset="0"/>
                <a:ea typeface="Liberation Sans Narrow" pitchFamily="34" charset="-122"/>
                <a:cs typeface="Liberation Sans Narrow" pitchFamily="34" charset="-120"/>
              </a:rPr>
              <a:t>PKR 2,800 </a:t>
            </a:r>
            <a:pPr algn="l" indent="0" marL="0">
              <a:lnSpc>
                <a:spcPts val="1856"/>
              </a:lnSpc>
              <a:buNone/>
            </a:pPr>
            <a:r>
              <a:rPr lang="en-US" sz="800" b="1" spc="-12" kern="0" dirty="0">
                <a:solidFill>
                  <a:srgbClr val="64748B"/>
                </a:solidFill>
                <a:latin typeface="Liberation Sans Narrow" pitchFamily="34" charset="0"/>
                <a:ea typeface="Liberation Sans Narrow" pitchFamily="34" charset="-122"/>
                <a:cs typeface="Liberation Sans Narrow" pitchFamily="34" charset="-120"/>
              </a:rPr>
              <a:t>(~$10)</a:t>
            </a:r>
            <a:endParaRPr lang="en-US" sz="1238" dirty="0"/>
          </a:p>
        </p:txBody>
      </p:sp>
      <p:sp>
        <p:nvSpPr>
          <p:cNvPr id="37" name="Text 32"/>
          <p:cNvSpPr/>
          <p:nvPr/>
        </p:nvSpPr>
        <p:spPr>
          <a:xfrm>
            <a:off x="2748558" y="3875038"/>
            <a:ext cx="1619845" cy="133302"/>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94A3B8"/>
                </a:solidFill>
                <a:latin typeface="Liberation Sans Narrow" pitchFamily="34" charset="0"/>
                <a:ea typeface="Liberation Sans Narrow" pitchFamily="34" charset="-122"/>
                <a:cs typeface="Liberation Sans Narrow" pitchFamily="34" charset="-120"/>
              </a:rPr>
              <a:t>LTV (3-YR BLENDED)</a:t>
            </a:r>
            <a:endParaRPr lang="en-US" sz="800" dirty="0"/>
          </a:p>
        </p:txBody>
      </p:sp>
      <p:sp>
        <p:nvSpPr>
          <p:cNvPr id="38" name="Text 33"/>
          <p:cNvSpPr/>
          <p:nvPr/>
        </p:nvSpPr>
        <p:spPr>
          <a:xfrm>
            <a:off x="2748558" y="4035772"/>
            <a:ext cx="1619845" cy="235744"/>
          </a:xfrm>
          <a:prstGeom prst="rect">
            <a:avLst/>
          </a:prstGeom>
          <a:noFill/>
          <a:ln/>
        </p:spPr>
        <p:txBody>
          <a:bodyPr wrap="none" lIns="0" tIns="0" rIns="0" bIns="0" rtlCol="0" anchor="t"/>
          <a:lstStyle/>
          <a:p>
            <a:pPr algn="l" indent="0" marL="0">
              <a:lnSpc>
                <a:spcPts val="1856"/>
              </a:lnSpc>
              <a:buNone/>
            </a:pPr>
            <a:r>
              <a:rPr lang="en-US" sz="1238" b="1" spc="-12" kern="0" dirty="0">
                <a:solidFill>
                  <a:srgbClr val="F4F7FB"/>
                </a:solidFill>
                <a:latin typeface="Liberation Sans Narrow" pitchFamily="34" charset="0"/>
                <a:ea typeface="Liberation Sans Narrow" pitchFamily="34" charset="-122"/>
                <a:cs typeface="Liberation Sans Narrow" pitchFamily="34" charset="-120"/>
              </a:rPr>
              <a:t>PKR 28,000 </a:t>
            </a:r>
            <a:pPr algn="l" indent="0" marL="0">
              <a:lnSpc>
                <a:spcPts val="1856"/>
              </a:lnSpc>
              <a:buNone/>
            </a:pPr>
            <a:r>
              <a:rPr lang="en-US" sz="800" b="1" spc="-12" kern="0" dirty="0">
                <a:solidFill>
                  <a:srgbClr val="64748B"/>
                </a:solidFill>
                <a:latin typeface="Liberation Sans Narrow" pitchFamily="34" charset="0"/>
                <a:ea typeface="Liberation Sans Narrow" pitchFamily="34" charset="-122"/>
                <a:cs typeface="Liberation Sans Narrow" pitchFamily="34" charset="-120"/>
              </a:rPr>
              <a:t>(~$100)</a:t>
            </a:r>
            <a:endParaRPr lang="en-US" sz="1238" dirty="0"/>
          </a:p>
        </p:txBody>
      </p:sp>
      <p:sp>
        <p:nvSpPr>
          <p:cNvPr id="39" name="Text 34"/>
          <p:cNvSpPr/>
          <p:nvPr/>
        </p:nvSpPr>
        <p:spPr>
          <a:xfrm>
            <a:off x="4775597" y="3875038"/>
            <a:ext cx="1619845" cy="133302"/>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LTV / CAC</a:t>
            </a:r>
            <a:endParaRPr lang="en-US" sz="800" dirty="0"/>
          </a:p>
        </p:txBody>
      </p:sp>
      <p:sp>
        <p:nvSpPr>
          <p:cNvPr id="40" name="Text 35"/>
          <p:cNvSpPr/>
          <p:nvPr/>
        </p:nvSpPr>
        <p:spPr>
          <a:xfrm>
            <a:off x="4775597" y="4035772"/>
            <a:ext cx="1619845" cy="235744"/>
          </a:xfrm>
          <a:prstGeom prst="rect">
            <a:avLst/>
          </a:prstGeom>
          <a:noFill/>
          <a:ln/>
        </p:spPr>
        <p:txBody>
          <a:bodyPr wrap="none" lIns="0" tIns="0" rIns="0" bIns="0" rtlCol="0" anchor="t"/>
          <a:lstStyle/>
          <a:p>
            <a:pPr algn="l" indent="0" marL="0">
              <a:lnSpc>
                <a:spcPts val="1856"/>
              </a:lnSpc>
              <a:buNone/>
            </a:pPr>
            <a:r>
              <a:rPr lang="en-US" sz="1238" b="1" spc="-12" kern="0" dirty="0">
                <a:solidFill>
                  <a:srgbClr val="00E676"/>
                </a:solidFill>
                <a:latin typeface="Liberation Sans Narrow" pitchFamily="34" charset="0"/>
                <a:ea typeface="Liberation Sans Narrow" pitchFamily="34" charset="-122"/>
                <a:cs typeface="Liberation Sans Narrow" pitchFamily="34" charset="-120"/>
              </a:rPr>
              <a:t>10×</a:t>
            </a:r>
            <a:endParaRPr lang="en-US" sz="1238" dirty="0"/>
          </a:p>
        </p:txBody>
      </p:sp>
      <p:sp>
        <p:nvSpPr>
          <p:cNvPr id="41" name="Text 36"/>
          <p:cNvSpPr/>
          <p:nvPr/>
        </p:nvSpPr>
        <p:spPr>
          <a:xfrm>
            <a:off x="6802636" y="3875038"/>
            <a:ext cx="1619845" cy="133302"/>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PAYBACK</a:t>
            </a:r>
            <a:endParaRPr lang="en-US" sz="800" dirty="0"/>
          </a:p>
        </p:txBody>
      </p:sp>
      <p:sp>
        <p:nvSpPr>
          <p:cNvPr id="42" name="Text 37"/>
          <p:cNvSpPr/>
          <p:nvPr/>
        </p:nvSpPr>
        <p:spPr>
          <a:xfrm>
            <a:off x="6802636" y="4035772"/>
            <a:ext cx="1619845" cy="235744"/>
          </a:xfrm>
          <a:prstGeom prst="rect">
            <a:avLst/>
          </a:prstGeom>
          <a:noFill/>
          <a:ln/>
        </p:spPr>
        <p:txBody>
          <a:bodyPr wrap="none" lIns="0" tIns="0" rIns="0" bIns="0" rtlCol="0" anchor="t"/>
          <a:lstStyle/>
          <a:p>
            <a:pPr algn="l" indent="0" marL="0">
              <a:lnSpc>
                <a:spcPts val="1856"/>
              </a:lnSpc>
              <a:buNone/>
            </a:pPr>
            <a:r>
              <a:rPr lang="en-US" sz="1238" b="1" spc="-12" kern="0" dirty="0">
                <a:solidFill>
                  <a:srgbClr val="F4F7FB"/>
                </a:solidFill>
                <a:latin typeface="Liberation Sans Narrow" pitchFamily="34" charset="0"/>
                <a:ea typeface="Liberation Sans Narrow" pitchFamily="34" charset="-122"/>
                <a:cs typeface="Liberation Sans Narrow" pitchFamily="34" charset="-120"/>
              </a:rPr>
              <a:t>~6 months</a:t>
            </a:r>
            <a:endParaRPr lang="en-US" sz="1238" dirty="0"/>
          </a:p>
        </p:txBody>
      </p:sp>
      <p:sp>
        <p:nvSpPr>
          <p:cNvPr id="43" name="Text 38"/>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BUSINESS</a:t>
            </a:r>
            <a:endParaRPr lang="en-US" sz="800" dirty="0"/>
          </a:p>
        </p:txBody>
      </p:sp>
      <p:sp>
        <p:nvSpPr>
          <p:cNvPr id="44" name="Text 39"/>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11 /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40000"/>
          </a:blip>
          <a:stretch>
            <a:fillRect/>
          </a:stretch>
        </p:blipFill>
        <p:spPr>
          <a:xfrm>
            <a:off x="7143750" y="3286125"/>
            <a:ext cx="2857500" cy="2857500"/>
          </a:xfrm>
          <a:prstGeom prst="rect">
            <a:avLst/>
          </a:prstGeom>
        </p:spPr>
      </p:pic>
      <p:sp>
        <p:nvSpPr>
          <p:cNvPr id="4" name="Text 0"/>
          <p:cNvSpPr/>
          <p:nvPr/>
        </p:nvSpPr>
        <p:spPr>
          <a:xfrm>
            <a:off x="7143750" y="3286125"/>
            <a:ext cx="2857500" cy="2857500"/>
          </a:xfrm>
          <a:prstGeom prst="ellipse">
            <a:avLst/>
          </a:prstGeom>
          <a:solidFill>
            <a:srgbClr val="00E676">
              <a:alpha val="0"/>
            </a:srgbClr>
          </a:solidFill>
          <a:ln/>
        </p:spPr>
        <p:txBody>
          <a:bodyPr wrap="square" rtlCol="0" anchor="ctr"/>
          <a:lstStyle/>
          <a:p>
            <a:pPr indent="0" marL="0">
              <a:buNone/>
            </a:pPr>
            <a:endParaRPr lang="en-US" dirty="0"/>
          </a:p>
        </p:txBody>
      </p:sp>
      <p:sp>
        <p:nvSpPr>
          <p:cNvPr id="5" name="Text 1"/>
          <p:cNvSpPr/>
          <p:nvPr/>
        </p:nvSpPr>
        <p:spPr>
          <a:xfrm>
            <a:off x="1001241" y="1705905"/>
            <a:ext cx="7141518" cy="7144"/>
          </a:xfrm>
          <a:prstGeom prst="rect">
            <a:avLst/>
          </a:prstGeom>
          <a:solidFill>
            <a:srgbClr val="FFFFFF">
              <a:alpha val="14000"/>
            </a:srgbClr>
          </a:solidFill>
          <a:ln/>
        </p:spPr>
        <p:txBody>
          <a:bodyPr wrap="square" rtlCol="0" anchor="ctr"/>
          <a:lstStyle/>
          <a:p>
            <a:pPr indent="0" marL="0">
              <a:buNone/>
            </a:pPr>
            <a:endParaRPr lang="en-US" dirty="0"/>
          </a:p>
        </p:txBody>
      </p:sp>
      <p:sp>
        <p:nvSpPr>
          <p:cNvPr id="6" name="Shape 2"/>
          <p:cNvSpPr/>
          <p:nvPr/>
        </p:nvSpPr>
        <p:spPr>
          <a:xfrm>
            <a:off x="3220603" y="3338699"/>
            <a:ext cx="0" cy="513569"/>
          </a:xfrm>
          <a:prstGeom prst="line">
            <a:avLst/>
          </a:prstGeom>
          <a:noFill/>
          <a:ln w="7144">
            <a:solidFill>
              <a:srgbClr val="FFFFFF"/>
            </a:solidFill>
            <a:prstDash val="solid"/>
          </a:ln>
        </p:spPr>
      </p:sp>
      <p:sp>
        <p:nvSpPr>
          <p:cNvPr id="7" name="Shape 3"/>
          <p:cNvSpPr/>
          <p:nvPr/>
        </p:nvSpPr>
        <p:spPr>
          <a:xfrm>
            <a:off x="5923397" y="3338699"/>
            <a:ext cx="0" cy="513569"/>
          </a:xfrm>
          <a:prstGeom prst="line">
            <a:avLst/>
          </a:prstGeom>
          <a:noFill/>
          <a:ln w="7144">
            <a:solidFill>
              <a:srgbClr val="FFFFFF"/>
            </a:solidFill>
            <a:prstDash val="solid"/>
          </a:ln>
        </p:spPr>
      </p:sp>
      <p:sp>
        <p:nvSpPr>
          <p:cNvPr id="8" name="Text 4"/>
          <p:cNvSpPr/>
          <p:nvPr/>
        </p:nvSpPr>
        <p:spPr>
          <a:xfrm>
            <a:off x="491490" y="387248"/>
            <a:ext cx="1688559"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9" name="Text 5"/>
          <p:cNvSpPr/>
          <p:nvPr/>
        </p:nvSpPr>
        <p:spPr>
          <a:xfrm>
            <a:off x="778669" y="464344"/>
            <a:ext cx="1271364" cy="126609"/>
          </a:xfrm>
          <a:prstGeom prst="rect">
            <a:avLst/>
          </a:prstGeom>
          <a:noFill/>
          <a:ln/>
        </p:spPr>
        <p:txBody>
          <a:bodyPr wrap="none" lIns="0" tIns="0" rIns="0" bIns="0" rtlCol="0" anchor="t"/>
          <a:lstStyle/>
          <a:p>
            <a:pPr algn="l"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TRACTION &amp; ROADMAP</a:t>
            </a:r>
            <a:endParaRPr lang="en-US" sz="800" dirty="0"/>
          </a:p>
        </p:txBody>
      </p:sp>
      <p:sp>
        <p:nvSpPr>
          <p:cNvPr id="10" name="Text 6"/>
          <p:cNvSpPr/>
          <p:nvPr/>
        </p:nvSpPr>
        <p:spPr>
          <a:xfrm>
            <a:off x="621506" y="469702"/>
            <a:ext cx="100013" cy="100013"/>
          </a:xfrm>
          <a:prstGeom prst="rect">
            <a:avLst/>
          </a:prstGeom>
          <a:noFill/>
          <a:ln/>
        </p:spPr>
        <p:txBody>
          <a:bodyPr wrap="none" lIns="0" tIns="0" rIns="0" bIns="0" rtlCol="0" anchor="ctr"/>
          <a:lstStyle/>
          <a:p>
            <a:pPr algn="ctr" indent="0" marL="0">
              <a:buNone/>
            </a:pPr>
            <a:r>
              <a:rPr lang="en-US" sz="984" dirty="0">
                <a:solidFill>
                  <a:srgbClr val="00E676"/>
                </a:solidFill>
                <a:latin typeface="Segoe UI Symbol" pitchFamily="34" charset="0"/>
                <a:ea typeface="Segoe UI Symbol" pitchFamily="34" charset="-122"/>
                <a:cs typeface="Segoe UI Symbol" pitchFamily="34" charset="-120"/>
              </a:rPr>
              <a:t>⌇</a:t>
            </a:r>
            <a:endParaRPr lang="en-US" sz="984" dirty="0"/>
          </a:p>
        </p:txBody>
      </p:sp>
      <p:sp>
        <p:nvSpPr>
          <p:cNvPr id="11" name="Text 7"/>
          <p:cNvSpPr/>
          <p:nvPr/>
        </p:nvSpPr>
        <p:spPr>
          <a:xfrm>
            <a:off x="514350" y="725091"/>
            <a:ext cx="8629650" cy="322473"/>
          </a:xfrm>
          <a:prstGeom prst="rect">
            <a:avLst/>
          </a:prstGeom>
          <a:noFill/>
          <a:ln/>
        </p:spPr>
        <p:txBody>
          <a:bodyPr wrap="square" lIns="0" tIns="0" rIns="0" bIns="0" rtlCol="0" anchor="t"/>
          <a:lstStyle/>
          <a:p>
            <a:pPr algn="l" indent="0" marL="0">
              <a:lnSpc>
                <a:spcPts val="2351"/>
              </a:lnSpc>
              <a:buNone/>
            </a:pPr>
            <a:r>
              <a:rPr lang="en-US" sz="2138" b="1" spc="-43" kern="0" dirty="0">
                <a:solidFill>
                  <a:srgbClr val="F4F7FB"/>
                </a:solidFill>
                <a:latin typeface="Liberation Sans Narrow" pitchFamily="34" charset="0"/>
                <a:ea typeface="Liberation Sans Narrow" pitchFamily="34" charset="-122"/>
                <a:cs typeface="Liberation Sans Narrow" pitchFamily="34" charset="-120"/>
              </a:rPr>
              <a:t>12 months from seed to </a:t>
            </a:r>
            <a:pPr algn="l" indent="0" marL="0">
              <a:lnSpc>
                <a:spcPts val="2351"/>
              </a:lnSpc>
              <a:buNone/>
            </a:pPr>
            <a:r>
              <a:rPr lang="en-US" sz="2138" b="1" spc="-43" kern="0" dirty="0">
                <a:solidFill>
                  <a:srgbClr val="00E676"/>
                </a:solidFill>
                <a:latin typeface="Liberation Sans Narrow" pitchFamily="34" charset="0"/>
                <a:ea typeface="Liberation Sans Narrow" pitchFamily="34" charset="-122"/>
                <a:cs typeface="Liberation Sans Narrow" pitchFamily="34" charset="-120"/>
              </a:rPr>
              <a:t>50,000 active investors</a:t>
            </a:r>
            <a:pPr algn="l" indent="0" marL="0">
              <a:lnSpc>
                <a:spcPts val="2351"/>
              </a:lnSpc>
              <a:buNone/>
            </a:pPr>
            <a:r>
              <a:rPr lang="en-US" sz="2138" b="1" spc="-43" kern="0" dirty="0">
                <a:solidFill>
                  <a:srgbClr val="F4F7FB"/>
                </a:solidFill>
                <a:latin typeface="Carlito" pitchFamily="34" charset="0"/>
                <a:ea typeface="Carlito" pitchFamily="34" charset="-122"/>
                <a:cs typeface="Carlito" pitchFamily="34" charset="-120"/>
              </a:rPr>
              <a:t>.</a:t>
            </a:r>
            <a:endParaRPr lang="en-US" sz="2138" dirty="0"/>
          </a:p>
        </p:txBody>
      </p:sp>
      <p:sp>
        <p:nvSpPr>
          <p:cNvPr id="12" name="Text 8"/>
          <p:cNvSpPr/>
          <p:nvPr/>
        </p:nvSpPr>
        <p:spPr>
          <a:xfrm>
            <a:off x="514350" y="1080827"/>
            <a:ext cx="7000875" cy="164592"/>
          </a:xfrm>
          <a:prstGeom prst="rect">
            <a:avLst/>
          </a:prstGeom>
          <a:noFill/>
          <a:ln/>
        </p:spPr>
        <p:txBody>
          <a:bodyPr wrap="square" lIns="0" tIns="0" rIns="0" bIns="0" rtlCol="0" anchor="t"/>
          <a:lstStyle/>
          <a:p>
            <a:pPr algn="l" indent="0" marL="0">
              <a:lnSpc>
                <a:spcPts val="1097"/>
              </a:lnSpc>
              <a:buNone/>
            </a:pPr>
            <a:r>
              <a:rPr lang="en-US" sz="800" dirty="0">
                <a:solidFill>
                  <a:srgbClr val="94A3B8"/>
                </a:solidFill>
                <a:latin typeface="Carlito" pitchFamily="34" charset="0"/>
                <a:ea typeface="Carlito" pitchFamily="34" charset="-122"/>
                <a:cs typeface="Carlito" pitchFamily="34" charset="-120"/>
              </a:rPr>
              <a:t>Pre-product validation is in hand. The next 12 months are about shipping, scaling, and licensing.</a:t>
            </a:r>
            <a:endParaRPr lang="en-US" sz="800" dirty="0"/>
          </a:p>
        </p:txBody>
      </p:sp>
      <p:sp>
        <p:nvSpPr>
          <p:cNvPr id="13" name="Text 9"/>
          <p:cNvSpPr/>
          <p:nvPr/>
        </p:nvSpPr>
        <p:spPr>
          <a:xfrm>
            <a:off x="1254621" y="1420155"/>
            <a:ext cx="574531" cy="164592"/>
          </a:xfrm>
          <a:prstGeom prst="rect">
            <a:avLst/>
          </a:prstGeom>
          <a:noFill/>
          <a:ln/>
        </p:spPr>
        <p:txBody>
          <a:bodyPr wrap="none" lIns="0" tIns="0" rIns="0" bIns="0" rtlCol="0" anchor="t"/>
          <a:lstStyle/>
          <a:p>
            <a:pPr algn="l" indent="0" marL="0">
              <a:lnSpc>
                <a:spcPts val="1097"/>
              </a:lnSpc>
              <a:buNone/>
            </a:pPr>
            <a:r>
              <a:rPr lang="en-US" sz="800" b="1" spc="44" kern="0" dirty="0">
                <a:solidFill>
                  <a:srgbClr val="00E676"/>
                </a:solidFill>
                <a:latin typeface="Liberation Sans Narrow" pitchFamily="34" charset="0"/>
                <a:ea typeface="Liberation Sans Narrow" pitchFamily="34" charset="-122"/>
                <a:cs typeface="Liberation Sans Narrow" pitchFamily="34" charset="-120"/>
              </a:rPr>
              <a:t>Q1 2026</a:t>
            </a:r>
            <a:endParaRPr lang="en-US" sz="800" dirty="0"/>
          </a:p>
        </p:txBody>
      </p:sp>
      <p:sp>
        <p:nvSpPr>
          <p:cNvPr id="14" name="Text 10"/>
          <p:cNvSpPr/>
          <p:nvPr/>
        </p:nvSpPr>
        <p:spPr>
          <a:xfrm>
            <a:off x="1412677" y="1645183"/>
            <a:ext cx="114300" cy="114300"/>
          </a:xfrm>
          <a:prstGeom prst="ellipse">
            <a:avLst/>
          </a:prstGeom>
          <a:solidFill>
            <a:srgbClr val="00E676"/>
          </a:solidFill>
          <a:ln/>
          <a:effectLst>
            <a:outerShdw sx="100000" sy="100000" kx="0" ky="0" algn="bl" rotWithShape="0" blurRad="101600" dist="50800" dir="16200000">
              <a:srgbClr val="0A0E1A">
                <a:alpha val="50000"/>
              </a:srgbClr>
            </a:outerShdw>
          </a:effectLst>
        </p:spPr>
        <p:txBody>
          <a:bodyPr wrap="square" rtlCol="0" anchor="ctr"/>
          <a:lstStyle/>
          <a:p>
            <a:pPr indent="0" marL="0">
              <a:buNone/>
            </a:pPr>
            <a:endParaRPr lang="en-US" dirty="0"/>
          </a:p>
        </p:txBody>
      </p:sp>
      <p:sp>
        <p:nvSpPr>
          <p:cNvPr id="15" name="Text 11"/>
          <p:cNvSpPr/>
          <p:nvPr/>
        </p:nvSpPr>
        <p:spPr>
          <a:xfrm>
            <a:off x="517922" y="1863068"/>
            <a:ext cx="1903809" cy="1135856"/>
          </a:xfrm>
          <a:prstGeom prst="roundRect">
            <a:avLst>
              <a:gd name="adj" fmla="val 1006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16" name="Text 12"/>
          <p:cNvSpPr/>
          <p:nvPr/>
        </p:nvSpPr>
        <p:spPr>
          <a:xfrm>
            <a:off x="635794" y="1995227"/>
            <a:ext cx="1668066" cy="164592"/>
          </a:xfrm>
          <a:prstGeom prst="rect">
            <a:avLst/>
          </a:prstGeom>
          <a:noFill/>
          <a:ln/>
        </p:spPr>
        <p:txBody>
          <a:bodyPr wrap="none" lIns="0" tIns="0" rIns="0" bIns="0" rtlCol="0" anchor="t"/>
          <a:lstStyle/>
          <a:p>
            <a:pPr algn="l" indent="0" marL="0">
              <a:lnSpc>
                <a:spcPts val="1181"/>
              </a:lnSpc>
              <a:buNone/>
            </a:pPr>
            <a:r>
              <a:rPr lang="en-US" sz="800" b="1" dirty="0">
                <a:solidFill>
                  <a:srgbClr val="F4F7FB"/>
                </a:solidFill>
                <a:latin typeface="Carlito" pitchFamily="34" charset="0"/>
                <a:ea typeface="Carlito" pitchFamily="34" charset="-122"/>
                <a:cs typeface="Carlito" pitchFamily="34" charset="-120"/>
              </a:rPr>
              <a:t>Private beta</a:t>
            </a:r>
            <a:endParaRPr lang="en-US" sz="800" dirty="0"/>
          </a:p>
        </p:txBody>
      </p:sp>
      <p:sp>
        <p:nvSpPr>
          <p:cNvPr id="17" name="Text 13"/>
          <p:cNvSpPr/>
          <p:nvPr/>
        </p:nvSpPr>
        <p:spPr>
          <a:xfrm>
            <a:off x="635794" y="2202396"/>
            <a:ext cx="1668066" cy="509877"/>
          </a:xfrm>
          <a:prstGeom prst="rect">
            <a:avLst/>
          </a:prstGeom>
          <a:noFill/>
          <a:ln/>
        </p:spPr>
        <p:txBody>
          <a:bodyPr wrap="square" lIns="0" tIns="0" rIns="0" bIns="0" rtlCol="0" anchor="t"/>
          <a:lstStyle/>
          <a:p>
            <a:pPr algn="l" indent="0" marL="0">
              <a:lnSpc>
                <a:spcPts val="1003"/>
              </a:lnSpc>
              <a:buNone/>
            </a:pPr>
            <a:r>
              <a:rPr lang="en-US" sz="800" dirty="0">
                <a:solidFill>
                  <a:srgbClr val="94A3B8"/>
                </a:solidFill>
                <a:latin typeface="Carlito" pitchFamily="34" charset="0"/>
                <a:ea typeface="Carlito" pitchFamily="34" charset="-122"/>
                <a:cs typeface="Carlito" pitchFamily="34" charset="-120"/>
              </a:rPr>
              <a:t>500 invited users · 3 partner brokers · KSE-100 coverage · plan-generation engine v1</a:t>
            </a:r>
            <a:endParaRPr lang="en-US" sz="800" dirty="0"/>
          </a:p>
        </p:txBody>
      </p:sp>
      <p:sp>
        <p:nvSpPr>
          <p:cNvPr id="18" name="Text 14"/>
          <p:cNvSpPr/>
          <p:nvPr/>
        </p:nvSpPr>
        <p:spPr>
          <a:xfrm>
            <a:off x="3322737" y="1420155"/>
            <a:ext cx="574531" cy="164592"/>
          </a:xfrm>
          <a:prstGeom prst="rect">
            <a:avLst/>
          </a:prstGeom>
          <a:noFill/>
          <a:ln/>
        </p:spPr>
        <p:txBody>
          <a:bodyPr wrap="none" lIns="0" tIns="0" rIns="0" bIns="0" rtlCol="0" anchor="t"/>
          <a:lstStyle/>
          <a:p>
            <a:pPr algn="l" indent="0" marL="0">
              <a:lnSpc>
                <a:spcPts val="1097"/>
              </a:lnSpc>
              <a:buNone/>
            </a:pPr>
            <a:r>
              <a:rPr lang="en-US" sz="800" b="1" spc="44" kern="0" dirty="0">
                <a:solidFill>
                  <a:srgbClr val="00E676"/>
                </a:solidFill>
                <a:latin typeface="Liberation Sans Narrow" pitchFamily="34" charset="0"/>
                <a:ea typeface="Liberation Sans Narrow" pitchFamily="34" charset="-122"/>
                <a:cs typeface="Liberation Sans Narrow" pitchFamily="34" charset="-120"/>
              </a:rPr>
              <a:t>Q2 2026</a:t>
            </a:r>
            <a:endParaRPr lang="en-US" sz="800" dirty="0"/>
          </a:p>
        </p:txBody>
      </p:sp>
      <p:sp>
        <p:nvSpPr>
          <p:cNvPr id="19" name="Text 15"/>
          <p:cNvSpPr/>
          <p:nvPr/>
        </p:nvSpPr>
        <p:spPr>
          <a:xfrm>
            <a:off x="3487936" y="1652327"/>
            <a:ext cx="100013" cy="100013"/>
          </a:xfrm>
          <a:prstGeom prst="ellipse">
            <a:avLst/>
          </a:prstGeom>
          <a:noFill/>
          <a:ln w="14288">
            <a:solidFill>
              <a:srgbClr val="00E676"/>
            </a:solidFill>
            <a:prstDash val="solid"/>
          </a:ln>
          <a:effectLst>
            <a:outerShdw sx="100000" sy="100000" kx="0" ky="0" algn="bl" rotWithShape="0" blurRad="101600" dist="50800" dir="16200000">
              <a:srgbClr val="0A0E1A">
                <a:alpha val="50000"/>
              </a:srgbClr>
            </a:outerShdw>
          </a:effectLst>
        </p:spPr>
        <p:txBody>
          <a:bodyPr wrap="square" rtlCol="0" anchor="ctr"/>
          <a:lstStyle/>
          <a:p>
            <a:pPr indent="0" marL="0">
              <a:buNone/>
            </a:pPr>
            <a:endParaRPr lang="en-US" dirty="0"/>
          </a:p>
        </p:txBody>
      </p:sp>
      <p:sp>
        <p:nvSpPr>
          <p:cNvPr id="20" name="Text 16"/>
          <p:cNvSpPr/>
          <p:nvPr/>
        </p:nvSpPr>
        <p:spPr>
          <a:xfrm>
            <a:off x="2586038" y="1863068"/>
            <a:ext cx="1903809" cy="1135856"/>
          </a:xfrm>
          <a:prstGeom prst="roundRect">
            <a:avLst>
              <a:gd name="adj" fmla="val 1006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1" name="Text 17"/>
          <p:cNvSpPr/>
          <p:nvPr/>
        </p:nvSpPr>
        <p:spPr>
          <a:xfrm>
            <a:off x="2703909" y="1995227"/>
            <a:ext cx="1668066" cy="164592"/>
          </a:xfrm>
          <a:prstGeom prst="rect">
            <a:avLst/>
          </a:prstGeom>
          <a:noFill/>
          <a:ln/>
        </p:spPr>
        <p:txBody>
          <a:bodyPr wrap="none" lIns="0" tIns="0" rIns="0" bIns="0" rtlCol="0" anchor="t"/>
          <a:lstStyle/>
          <a:p>
            <a:pPr algn="l" indent="0" marL="0">
              <a:lnSpc>
                <a:spcPts val="1181"/>
              </a:lnSpc>
              <a:buNone/>
            </a:pPr>
            <a:r>
              <a:rPr lang="en-US" sz="800" b="1" dirty="0">
                <a:solidFill>
                  <a:srgbClr val="F4F7FB"/>
                </a:solidFill>
                <a:latin typeface="Carlito" pitchFamily="34" charset="0"/>
                <a:ea typeface="Carlito" pitchFamily="34" charset="-122"/>
                <a:cs typeface="Carlito" pitchFamily="34" charset="-120"/>
              </a:rPr>
              <a:t>Public launch</a:t>
            </a:r>
            <a:endParaRPr lang="en-US" sz="800" dirty="0"/>
          </a:p>
        </p:txBody>
      </p:sp>
      <p:sp>
        <p:nvSpPr>
          <p:cNvPr id="22" name="Text 18"/>
          <p:cNvSpPr/>
          <p:nvPr/>
        </p:nvSpPr>
        <p:spPr>
          <a:xfrm>
            <a:off x="2703909" y="2202396"/>
            <a:ext cx="1668066" cy="509877"/>
          </a:xfrm>
          <a:prstGeom prst="rect">
            <a:avLst/>
          </a:prstGeom>
          <a:noFill/>
          <a:ln/>
        </p:spPr>
        <p:txBody>
          <a:bodyPr wrap="square" lIns="0" tIns="0" rIns="0" bIns="0" rtlCol="0" anchor="t"/>
          <a:lstStyle/>
          <a:p>
            <a:pPr algn="l" indent="0" marL="0">
              <a:lnSpc>
                <a:spcPts val="1003"/>
              </a:lnSpc>
              <a:buNone/>
            </a:pPr>
            <a:r>
              <a:rPr lang="en-US" sz="800" dirty="0">
                <a:solidFill>
                  <a:srgbClr val="94A3B8"/>
                </a:solidFill>
                <a:latin typeface="Carlito" pitchFamily="34" charset="0"/>
                <a:ea typeface="Carlito" pitchFamily="34" charset="-122"/>
                <a:cs typeface="Carlito" pitchFamily="34" charset="-120"/>
              </a:rPr>
              <a:t>Freemium funnel live · SECP RIA license application filed · content-led growth engine</a:t>
            </a:r>
            <a:endParaRPr lang="en-US" sz="800" dirty="0"/>
          </a:p>
        </p:txBody>
      </p:sp>
      <p:sp>
        <p:nvSpPr>
          <p:cNvPr id="23" name="Text 19"/>
          <p:cNvSpPr/>
          <p:nvPr/>
        </p:nvSpPr>
        <p:spPr>
          <a:xfrm>
            <a:off x="5390852" y="1420155"/>
            <a:ext cx="574531" cy="164592"/>
          </a:xfrm>
          <a:prstGeom prst="rect">
            <a:avLst/>
          </a:prstGeom>
          <a:noFill/>
          <a:ln/>
        </p:spPr>
        <p:txBody>
          <a:bodyPr wrap="none" lIns="0" tIns="0" rIns="0" bIns="0" rtlCol="0" anchor="t"/>
          <a:lstStyle/>
          <a:p>
            <a:pPr algn="l" indent="0" marL="0">
              <a:lnSpc>
                <a:spcPts val="1097"/>
              </a:lnSpc>
              <a:buNone/>
            </a:pPr>
            <a:r>
              <a:rPr lang="en-US" sz="800" b="1" spc="44" kern="0" dirty="0">
                <a:solidFill>
                  <a:srgbClr val="00E676"/>
                </a:solidFill>
                <a:latin typeface="Liberation Sans Narrow" pitchFamily="34" charset="0"/>
                <a:ea typeface="Liberation Sans Narrow" pitchFamily="34" charset="-122"/>
                <a:cs typeface="Liberation Sans Narrow" pitchFamily="34" charset="-120"/>
              </a:rPr>
              <a:t>Q3 2026</a:t>
            </a:r>
            <a:endParaRPr lang="en-US" sz="800" dirty="0"/>
          </a:p>
        </p:txBody>
      </p:sp>
      <p:sp>
        <p:nvSpPr>
          <p:cNvPr id="24" name="Text 20"/>
          <p:cNvSpPr/>
          <p:nvPr/>
        </p:nvSpPr>
        <p:spPr>
          <a:xfrm>
            <a:off x="5556052" y="1652327"/>
            <a:ext cx="100013" cy="100013"/>
          </a:xfrm>
          <a:prstGeom prst="ellipse">
            <a:avLst/>
          </a:prstGeom>
          <a:noFill/>
          <a:ln w="14288">
            <a:solidFill>
              <a:srgbClr val="00E676"/>
            </a:solidFill>
            <a:prstDash val="solid"/>
          </a:ln>
          <a:effectLst>
            <a:outerShdw sx="100000" sy="100000" kx="0" ky="0" algn="bl" rotWithShape="0" blurRad="101600" dist="50800" dir="16200000">
              <a:srgbClr val="0A0E1A">
                <a:alpha val="50000"/>
              </a:srgbClr>
            </a:outerShdw>
          </a:effectLst>
        </p:spPr>
        <p:txBody>
          <a:bodyPr wrap="square" rtlCol="0" anchor="ctr"/>
          <a:lstStyle/>
          <a:p>
            <a:pPr indent="0" marL="0">
              <a:buNone/>
            </a:pPr>
            <a:endParaRPr lang="en-US" dirty="0"/>
          </a:p>
        </p:txBody>
      </p:sp>
      <p:sp>
        <p:nvSpPr>
          <p:cNvPr id="25" name="Text 21"/>
          <p:cNvSpPr/>
          <p:nvPr/>
        </p:nvSpPr>
        <p:spPr>
          <a:xfrm>
            <a:off x="4654153" y="1863068"/>
            <a:ext cx="1903809" cy="1135856"/>
          </a:xfrm>
          <a:prstGeom prst="roundRect">
            <a:avLst>
              <a:gd name="adj" fmla="val 1006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26" name="Text 22"/>
          <p:cNvSpPr/>
          <p:nvPr/>
        </p:nvSpPr>
        <p:spPr>
          <a:xfrm>
            <a:off x="4772025" y="1995227"/>
            <a:ext cx="1668066" cy="164592"/>
          </a:xfrm>
          <a:prstGeom prst="rect">
            <a:avLst/>
          </a:prstGeom>
          <a:noFill/>
          <a:ln/>
        </p:spPr>
        <p:txBody>
          <a:bodyPr wrap="none" lIns="0" tIns="0" rIns="0" bIns="0" rtlCol="0" anchor="t"/>
          <a:lstStyle/>
          <a:p>
            <a:pPr algn="l" indent="0" marL="0">
              <a:lnSpc>
                <a:spcPts val="1181"/>
              </a:lnSpc>
              <a:buNone/>
            </a:pPr>
            <a:r>
              <a:rPr lang="en-US" sz="800" b="1" dirty="0">
                <a:solidFill>
                  <a:srgbClr val="F4F7FB"/>
                </a:solidFill>
                <a:latin typeface="Carlito" pitchFamily="34" charset="0"/>
                <a:ea typeface="Carlito" pitchFamily="34" charset="-122"/>
                <a:cs typeface="Carlito" pitchFamily="34" charset="-120"/>
              </a:rPr>
              <a:t>Pro tier GA</a:t>
            </a:r>
            <a:endParaRPr lang="en-US" sz="800" dirty="0"/>
          </a:p>
        </p:txBody>
      </p:sp>
      <p:sp>
        <p:nvSpPr>
          <p:cNvPr id="27" name="Text 23"/>
          <p:cNvSpPr/>
          <p:nvPr/>
        </p:nvSpPr>
        <p:spPr>
          <a:xfrm>
            <a:off x="4772025" y="2202396"/>
            <a:ext cx="1668066" cy="509877"/>
          </a:xfrm>
          <a:prstGeom prst="rect">
            <a:avLst/>
          </a:prstGeom>
          <a:noFill/>
          <a:ln/>
        </p:spPr>
        <p:txBody>
          <a:bodyPr wrap="square" lIns="0" tIns="0" rIns="0" bIns="0" rtlCol="0" anchor="t"/>
          <a:lstStyle/>
          <a:p>
            <a:pPr algn="l" indent="0" marL="0">
              <a:lnSpc>
                <a:spcPts val="1003"/>
              </a:lnSpc>
              <a:buNone/>
            </a:pPr>
            <a:r>
              <a:rPr lang="en-US" sz="800" dirty="0">
                <a:solidFill>
                  <a:srgbClr val="94A3B8"/>
                </a:solidFill>
                <a:latin typeface="Carlito" pitchFamily="34" charset="0"/>
                <a:ea typeface="Carlito" pitchFamily="34" charset="-122"/>
                <a:cs typeface="Carlito" pitchFamily="34" charset="-120"/>
              </a:rPr>
              <a:t>Multi-goal portfolios · fractional shares pilot · AI rebalancing GA · referral program</a:t>
            </a:r>
            <a:endParaRPr lang="en-US" sz="800" dirty="0"/>
          </a:p>
        </p:txBody>
      </p:sp>
      <p:sp>
        <p:nvSpPr>
          <p:cNvPr id="28" name="Text 24"/>
          <p:cNvSpPr/>
          <p:nvPr/>
        </p:nvSpPr>
        <p:spPr>
          <a:xfrm>
            <a:off x="7458968" y="1420155"/>
            <a:ext cx="574531" cy="164592"/>
          </a:xfrm>
          <a:prstGeom prst="rect">
            <a:avLst/>
          </a:prstGeom>
          <a:noFill/>
          <a:ln/>
        </p:spPr>
        <p:txBody>
          <a:bodyPr wrap="none" lIns="0" tIns="0" rIns="0" bIns="0" rtlCol="0" anchor="t"/>
          <a:lstStyle/>
          <a:p>
            <a:pPr algn="l" indent="0" marL="0">
              <a:lnSpc>
                <a:spcPts val="1097"/>
              </a:lnSpc>
              <a:buNone/>
            </a:pPr>
            <a:r>
              <a:rPr lang="en-US" sz="800" b="1" spc="44" kern="0" dirty="0">
                <a:solidFill>
                  <a:srgbClr val="00E676"/>
                </a:solidFill>
                <a:latin typeface="Liberation Sans Narrow" pitchFamily="34" charset="0"/>
                <a:ea typeface="Liberation Sans Narrow" pitchFamily="34" charset="-122"/>
                <a:cs typeface="Liberation Sans Narrow" pitchFamily="34" charset="-120"/>
              </a:rPr>
              <a:t>Q4 2026</a:t>
            </a:r>
            <a:endParaRPr lang="en-US" sz="800" dirty="0"/>
          </a:p>
        </p:txBody>
      </p:sp>
      <p:sp>
        <p:nvSpPr>
          <p:cNvPr id="29" name="Text 25"/>
          <p:cNvSpPr/>
          <p:nvPr/>
        </p:nvSpPr>
        <p:spPr>
          <a:xfrm>
            <a:off x="7624167" y="1652327"/>
            <a:ext cx="100013" cy="100013"/>
          </a:xfrm>
          <a:prstGeom prst="ellipse">
            <a:avLst/>
          </a:prstGeom>
          <a:noFill/>
          <a:ln w="14288">
            <a:solidFill>
              <a:srgbClr val="00E676"/>
            </a:solidFill>
            <a:prstDash val="solid"/>
          </a:ln>
          <a:effectLst>
            <a:outerShdw sx="100000" sy="100000" kx="0" ky="0" algn="bl" rotWithShape="0" blurRad="101600" dist="50800" dir="16200000">
              <a:srgbClr val="0A0E1A">
                <a:alpha val="50000"/>
              </a:srgbClr>
            </a:outerShdw>
          </a:effectLst>
        </p:spPr>
        <p:txBody>
          <a:bodyPr wrap="square" rtlCol="0" anchor="ctr"/>
          <a:lstStyle/>
          <a:p>
            <a:pPr indent="0" marL="0">
              <a:buNone/>
            </a:pPr>
            <a:endParaRPr lang="en-US" dirty="0"/>
          </a:p>
        </p:txBody>
      </p:sp>
      <p:sp>
        <p:nvSpPr>
          <p:cNvPr id="30" name="Text 26"/>
          <p:cNvSpPr/>
          <p:nvPr/>
        </p:nvSpPr>
        <p:spPr>
          <a:xfrm>
            <a:off x="6722269" y="1863068"/>
            <a:ext cx="1903809" cy="1135856"/>
          </a:xfrm>
          <a:prstGeom prst="roundRect">
            <a:avLst>
              <a:gd name="adj" fmla="val 10063"/>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31" name="Text 27"/>
          <p:cNvSpPr/>
          <p:nvPr/>
        </p:nvSpPr>
        <p:spPr>
          <a:xfrm>
            <a:off x="6840141" y="1995227"/>
            <a:ext cx="1668066" cy="164592"/>
          </a:xfrm>
          <a:prstGeom prst="rect">
            <a:avLst/>
          </a:prstGeom>
          <a:noFill/>
          <a:ln/>
        </p:spPr>
        <p:txBody>
          <a:bodyPr wrap="none" lIns="0" tIns="0" rIns="0" bIns="0" rtlCol="0" anchor="t"/>
          <a:lstStyle/>
          <a:p>
            <a:pPr algn="l" indent="0" marL="0">
              <a:lnSpc>
                <a:spcPts val="1181"/>
              </a:lnSpc>
              <a:buNone/>
            </a:pPr>
            <a:r>
              <a:rPr lang="en-US" sz="800" b="1" dirty="0">
                <a:solidFill>
                  <a:srgbClr val="F4F7FB"/>
                </a:solidFill>
                <a:latin typeface="Carlito" pitchFamily="34" charset="0"/>
                <a:ea typeface="Carlito" pitchFamily="34" charset="-122"/>
                <a:cs typeface="Carlito" pitchFamily="34" charset="-120"/>
              </a:rPr>
              <a:t>Mobile apps + scale</a:t>
            </a:r>
            <a:endParaRPr lang="en-US" sz="800" dirty="0"/>
          </a:p>
        </p:txBody>
      </p:sp>
      <p:sp>
        <p:nvSpPr>
          <p:cNvPr id="32" name="Text 28"/>
          <p:cNvSpPr/>
          <p:nvPr/>
        </p:nvSpPr>
        <p:spPr>
          <a:xfrm>
            <a:off x="6840141" y="2202396"/>
            <a:ext cx="1668066" cy="339918"/>
          </a:xfrm>
          <a:prstGeom prst="rect">
            <a:avLst/>
          </a:prstGeom>
          <a:noFill/>
          <a:ln/>
        </p:spPr>
        <p:txBody>
          <a:bodyPr wrap="square" lIns="0" tIns="0" rIns="0" bIns="0" rtlCol="0" anchor="t"/>
          <a:lstStyle/>
          <a:p>
            <a:pPr algn="l" indent="0" marL="0">
              <a:lnSpc>
                <a:spcPts val="1003"/>
              </a:lnSpc>
              <a:buNone/>
            </a:pPr>
            <a:r>
              <a:rPr lang="en-US" sz="800" dirty="0">
                <a:solidFill>
                  <a:srgbClr val="94A3B8"/>
                </a:solidFill>
                <a:latin typeface="Carlito" pitchFamily="34" charset="0"/>
                <a:ea typeface="Carlito" pitchFamily="34" charset="-122"/>
                <a:cs typeface="Carlito" pitchFamily="34" charset="-120"/>
              </a:rPr>
              <a:t>iOS + Android apps · 50K MAU target · $5M AUM milestone · Series A readiness</a:t>
            </a:r>
            <a:endParaRPr lang="en-US" sz="800" dirty="0"/>
          </a:p>
        </p:txBody>
      </p:sp>
      <p:sp>
        <p:nvSpPr>
          <p:cNvPr id="33" name="Text 29"/>
          <p:cNvSpPr/>
          <p:nvPr/>
        </p:nvSpPr>
        <p:spPr>
          <a:xfrm>
            <a:off x="517922" y="3206093"/>
            <a:ext cx="8108156" cy="778669"/>
          </a:xfrm>
          <a:prstGeom prst="roundRect">
            <a:avLst>
              <a:gd name="adj" fmla="val 17125"/>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34" name="Text 30"/>
          <p:cNvSpPr/>
          <p:nvPr/>
        </p:nvSpPr>
        <p:spPr>
          <a:xfrm>
            <a:off x="721519" y="3338699"/>
            <a:ext cx="3080258" cy="119015"/>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WAITLIST</a:t>
            </a:r>
            <a:endParaRPr lang="en-US" sz="800" dirty="0"/>
          </a:p>
        </p:txBody>
      </p:sp>
      <p:sp>
        <p:nvSpPr>
          <p:cNvPr id="35" name="Text 31"/>
          <p:cNvSpPr/>
          <p:nvPr/>
        </p:nvSpPr>
        <p:spPr>
          <a:xfrm>
            <a:off x="721519" y="3485145"/>
            <a:ext cx="3121863" cy="229743"/>
          </a:xfrm>
          <a:prstGeom prst="rect">
            <a:avLst/>
          </a:prstGeom>
          <a:noFill/>
          <a:ln/>
        </p:spPr>
        <p:txBody>
          <a:bodyPr wrap="none" lIns="0" tIns="0" rIns="0" bIns="0" rtlCol="0" anchor="t">
            <a:normAutofit/>
          </a:bodyPr>
          <a:lstStyle/>
          <a:p>
            <a:pPr algn="l" indent="0" marL="0">
              <a:lnSpc>
                <a:spcPts val="1688"/>
              </a:lnSpc>
              <a:buNone/>
            </a:pPr>
            <a:r>
              <a:rPr lang="en-US" sz="1688" b="1" spc="-34" kern="0" dirty="0">
                <a:solidFill>
                  <a:srgbClr val="00E676"/>
                </a:solidFill>
                <a:latin typeface="Liberation Sans Narrow" pitchFamily="34" charset="0"/>
                <a:ea typeface="Liberation Sans Narrow" pitchFamily="34" charset="-122"/>
                <a:cs typeface="Liberation Sans Narrow" pitchFamily="34" charset="-120"/>
              </a:rPr>
              <a:t>2,400+</a:t>
            </a:r>
            <a:endParaRPr lang="en-US" sz="1688" dirty="0"/>
          </a:p>
        </p:txBody>
      </p:sp>
      <p:sp>
        <p:nvSpPr>
          <p:cNvPr id="36" name="Text 32"/>
          <p:cNvSpPr/>
          <p:nvPr/>
        </p:nvSpPr>
        <p:spPr>
          <a:xfrm>
            <a:off x="721519" y="3742320"/>
            <a:ext cx="2410262" cy="91440"/>
          </a:xfrm>
          <a:prstGeom prst="rect">
            <a:avLst/>
          </a:prstGeom>
          <a:noFill/>
          <a:ln/>
        </p:spPr>
        <p:txBody>
          <a:bodyPr wrap="none" lIns="0" tIns="0" rIns="0" bIns="0" rtlCol="0" anchor="t"/>
          <a:lstStyle/>
          <a:p>
            <a:pPr algn="l" indent="0" marL="0">
              <a:lnSpc>
                <a:spcPts val="866"/>
              </a:lnSpc>
              <a:buNone/>
            </a:pPr>
            <a:r>
              <a:rPr lang="en-US" sz="800" dirty="0">
                <a:solidFill>
                  <a:srgbClr val="64748B"/>
                </a:solidFill>
                <a:latin typeface="Carlito" pitchFamily="34" charset="0"/>
                <a:ea typeface="Carlito" pitchFamily="34" charset="-122"/>
                <a:cs typeface="Carlito" pitchFamily="34" charset="-120"/>
              </a:rPr>
              <a:t>Organic, pre-launch</a:t>
            </a:r>
            <a:endParaRPr lang="en-US" sz="800" dirty="0"/>
          </a:p>
        </p:txBody>
      </p:sp>
      <p:sp>
        <p:nvSpPr>
          <p:cNvPr id="37" name="Text 33"/>
          <p:cNvSpPr/>
          <p:nvPr/>
        </p:nvSpPr>
        <p:spPr>
          <a:xfrm>
            <a:off x="3424200" y="3338699"/>
            <a:ext cx="2295599" cy="119015"/>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BROKER LOIS SIGNED</a:t>
            </a:r>
            <a:endParaRPr lang="en-US" sz="800" dirty="0"/>
          </a:p>
        </p:txBody>
      </p:sp>
      <p:sp>
        <p:nvSpPr>
          <p:cNvPr id="38" name="Text 34"/>
          <p:cNvSpPr/>
          <p:nvPr/>
        </p:nvSpPr>
        <p:spPr>
          <a:xfrm>
            <a:off x="3424200" y="3485145"/>
            <a:ext cx="2295599" cy="229743"/>
          </a:xfrm>
          <a:prstGeom prst="rect">
            <a:avLst/>
          </a:prstGeom>
          <a:noFill/>
          <a:ln/>
        </p:spPr>
        <p:txBody>
          <a:bodyPr wrap="none" lIns="0" tIns="0" rIns="0" bIns="0" rtlCol="0" anchor="t">
            <a:normAutofit/>
          </a:bodyPr>
          <a:lstStyle/>
          <a:p>
            <a:pPr algn="l" indent="0" marL="0">
              <a:lnSpc>
                <a:spcPts val="1688"/>
              </a:lnSpc>
              <a:buNone/>
            </a:pPr>
            <a:r>
              <a:rPr lang="en-US" sz="1688" b="1" spc="-34" kern="0" dirty="0">
                <a:solidFill>
                  <a:srgbClr val="00E676"/>
                </a:solidFill>
                <a:latin typeface="Liberation Sans Narrow" pitchFamily="34" charset="0"/>
                <a:ea typeface="Liberation Sans Narrow" pitchFamily="34" charset="-122"/>
                <a:cs typeface="Liberation Sans Narrow" pitchFamily="34" charset="-120"/>
              </a:rPr>
              <a:t>3</a:t>
            </a:r>
            <a:endParaRPr lang="en-US" sz="1688" dirty="0"/>
          </a:p>
        </p:txBody>
      </p:sp>
      <p:sp>
        <p:nvSpPr>
          <p:cNvPr id="39" name="Text 35"/>
          <p:cNvSpPr/>
          <p:nvPr/>
        </p:nvSpPr>
        <p:spPr>
          <a:xfrm>
            <a:off x="3424200" y="3742320"/>
            <a:ext cx="2295599" cy="109947"/>
          </a:xfrm>
          <a:prstGeom prst="rect">
            <a:avLst/>
          </a:prstGeom>
          <a:noFill/>
          <a:ln/>
        </p:spPr>
        <p:txBody>
          <a:bodyPr wrap="square" lIns="0" tIns="0" rIns="0" bIns="0" rtlCol="0" anchor="t"/>
          <a:lstStyle/>
          <a:p>
            <a:pPr algn="l" indent="0" marL="0">
              <a:lnSpc>
                <a:spcPts val="866"/>
              </a:lnSpc>
              <a:buNone/>
            </a:pPr>
            <a:r>
              <a:rPr lang="en-US" sz="619" dirty="0">
                <a:solidFill>
                  <a:srgbClr val="64748B"/>
                </a:solidFill>
                <a:latin typeface="Carlito" pitchFamily="34" charset="0"/>
                <a:ea typeface="Carlito" pitchFamily="34" charset="-122"/>
                <a:cs typeface="Carlito" pitchFamily="34" charset="-120"/>
              </a:rPr>
              <a:t>Singular, Arif Habib, Foundation Securities (pending)</a:t>
            </a:r>
            <a:endParaRPr lang="en-US" sz="619" dirty="0"/>
          </a:p>
        </p:txBody>
      </p:sp>
      <p:sp>
        <p:nvSpPr>
          <p:cNvPr id="40" name="Text 36"/>
          <p:cNvSpPr/>
          <p:nvPr/>
        </p:nvSpPr>
        <p:spPr>
          <a:xfrm>
            <a:off x="6126993" y="3338699"/>
            <a:ext cx="2295488" cy="119015"/>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FOUNDER PILOT</a:t>
            </a:r>
            <a:endParaRPr lang="en-US" sz="800" dirty="0"/>
          </a:p>
        </p:txBody>
      </p:sp>
      <p:sp>
        <p:nvSpPr>
          <p:cNvPr id="41" name="Text 37"/>
          <p:cNvSpPr/>
          <p:nvPr/>
        </p:nvSpPr>
        <p:spPr>
          <a:xfrm>
            <a:off x="6126993" y="3485145"/>
            <a:ext cx="2295488" cy="229743"/>
          </a:xfrm>
          <a:prstGeom prst="rect">
            <a:avLst/>
          </a:prstGeom>
          <a:noFill/>
          <a:ln/>
        </p:spPr>
        <p:txBody>
          <a:bodyPr wrap="none" lIns="0" tIns="0" rIns="0" bIns="0" rtlCol="0" anchor="t">
            <a:normAutofit/>
          </a:bodyPr>
          <a:lstStyle/>
          <a:p>
            <a:pPr algn="l" indent="0" marL="0">
              <a:lnSpc>
                <a:spcPts val="1688"/>
              </a:lnSpc>
              <a:buNone/>
            </a:pPr>
            <a:r>
              <a:rPr lang="en-US" sz="1688" b="1" spc="-34" kern="0" dirty="0">
                <a:solidFill>
                  <a:srgbClr val="00E676"/>
                </a:solidFill>
                <a:latin typeface="Liberation Sans Narrow" pitchFamily="34" charset="0"/>
                <a:ea typeface="Liberation Sans Narrow" pitchFamily="34" charset="-122"/>
                <a:cs typeface="Liberation Sans Narrow" pitchFamily="34" charset="-120"/>
              </a:rPr>
              <a:t>18</a:t>
            </a:r>
            <a:endParaRPr lang="en-US" sz="1688" dirty="0"/>
          </a:p>
        </p:txBody>
      </p:sp>
      <p:sp>
        <p:nvSpPr>
          <p:cNvPr id="42" name="Text 38"/>
          <p:cNvSpPr/>
          <p:nvPr/>
        </p:nvSpPr>
        <p:spPr>
          <a:xfrm>
            <a:off x="6126993" y="3742320"/>
            <a:ext cx="2405216" cy="109947"/>
          </a:xfrm>
          <a:prstGeom prst="rect">
            <a:avLst/>
          </a:prstGeom>
          <a:noFill/>
          <a:ln/>
        </p:spPr>
        <p:txBody>
          <a:bodyPr wrap="square" lIns="0" tIns="0" rIns="0" bIns="0" rtlCol="0" anchor="t"/>
          <a:lstStyle/>
          <a:p>
            <a:pPr algn="l" indent="0" marL="0">
              <a:lnSpc>
                <a:spcPts val="866"/>
              </a:lnSpc>
              <a:buNone/>
            </a:pPr>
            <a:r>
              <a:rPr lang="en-US" sz="619" dirty="0">
                <a:solidFill>
                  <a:srgbClr val="64748B"/>
                </a:solidFill>
                <a:latin typeface="Carlito" pitchFamily="34" charset="0"/>
                <a:ea typeface="Carlito" pitchFamily="34" charset="-122"/>
                <a:cs typeface="Carlito" pitchFamily="34" charset="-120"/>
              </a:rPr>
              <a:t>Users running plans 6+ weeks · 92% retention</a:t>
            </a:r>
            <a:endParaRPr lang="en-US" sz="619" dirty="0"/>
          </a:p>
        </p:txBody>
      </p:sp>
      <p:sp>
        <p:nvSpPr>
          <p:cNvPr id="43" name="Text 39"/>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ROADMAP</a:t>
            </a:r>
            <a:endParaRPr lang="en-US" sz="800" dirty="0"/>
          </a:p>
        </p:txBody>
      </p:sp>
      <p:sp>
        <p:nvSpPr>
          <p:cNvPr id="44" name="Text 40"/>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12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55000"/>
          </a:blip>
          <a:stretch>
            <a:fillRect/>
          </a:stretch>
        </p:blipFill>
        <p:spPr>
          <a:xfrm>
            <a:off x="6143625" y="-1428750"/>
            <a:ext cx="4286250" cy="4286250"/>
          </a:xfrm>
          <a:prstGeom prst="rect">
            <a:avLst/>
          </a:prstGeom>
        </p:spPr>
      </p:pic>
      <p:sp>
        <p:nvSpPr>
          <p:cNvPr id="4" name="Text 0"/>
          <p:cNvSpPr/>
          <p:nvPr/>
        </p:nvSpPr>
        <p:spPr>
          <a:xfrm>
            <a:off x="6143625" y="-1428750"/>
            <a:ext cx="4286250" cy="4286250"/>
          </a:xfrm>
          <a:prstGeom prst="ellipse">
            <a:avLst/>
          </a:prstGeom>
          <a:solidFill>
            <a:srgbClr val="00E676">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35000"/>
          </a:blip>
          <a:stretch>
            <a:fillRect/>
          </a:stretch>
        </p:blipFill>
        <p:spPr>
          <a:xfrm>
            <a:off x="-571500" y="3286125"/>
            <a:ext cx="2571750" cy="2571750"/>
          </a:xfrm>
          <a:prstGeom prst="rect">
            <a:avLst/>
          </a:prstGeom>
        </p:spPr>
      </p:pic>
      <p:sp>
        <p:nvSpPr>
          <p:cNvPr id="6" name="Text 1"/>
          <p:cNvSpPr/>
          <p:nvPr/>
        </p:nvSpPr>
        <p:spPr>
          <a:xfrm>
            <a:off x="-571500" y="3286125"/>
            <a:ext cx="2571750" cy="2571750"/>
          </a:xfrm>
          <a:prstGeom prst="ellipse">
            <a:avLst/>
          </a:prstGeom>
          <a:solidFill>
            <a:srgbClr val="00E676">
              <a:alpha val="0"/>
            </a:srgbClr>
          </a:solidFill>
          <a:ln/>
        </p:spPr>
        <p:txBody>
          <a:bodyPr wrap="square" rtlCol="0" anchor="ctr"/>
          <a:lstStyle/>
          <a:p>
            <a:pPr indent="0" marL="0">
              <a:buNone/>
            </a:pPr>
            <a:endParaRPr lang="en-US" dirty="0"/>
          </a:p>
        </p:txBody>
      </p:sp>
      <p:sp>
        <p:nvSpPr>
          <p:cNvPr id="7" name="Text 2"/>
          <p:cNvSpPr/>
          <p:nvPr/>
        </p:nvSpPr>
        <p:spPr>
          <a:xfrm>
            <a:off x="491490" y="387248"/>
            <a:ext cx="890803"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8" name="Text 3"/>
          <p:cNvSpPr/>
          <p:nvPr/>
        </p:nvSpPr>
        <p:spPr>
          <a:xfrm>
            <a:off x="757917" y="464344"/>
            <a:ext cx="515112" cy="126609"/>
          </a:xfrm>
          <a:prstGeom prst="rect">
            <a:avLst/>
          </a:prstGeom>
          <a:noFill/>
          <a:ln/>
        </p:spPr>
        <p:txBody>
          <a:bodyPr wrap="none" lIns="0" tIns="0" rIns="0" bIns="0" rtlCol="0" anchor="t"/>
          <a:lstStyle/>
          <a:p>
            <a:pPr algn="l" indent="0" marL="0">
              <a:lnSpc>
                <a:spcPts val="1097"/>
              </a:lnSpc>
              <a:buNone/>
            </a:pPr>
            <a:r>
              <a:rPr lang="en-US" sz="800" spc="29" kern="0" dirty="0">
                <a:solidFill>
                  <a:srgbClr val="00E676"/>
                </a:solidFill>
                <a:latin typeface="Carlito" pitchFamily="34" charset="0"/>
                <a:ea typeface="Carlito" pitchFamily="34" charset="-122"/>
                <a:cs typeface="Carlito" pitchFamily="34" charset="-120"/>
              </a:rPr>
              <a:t>THE ASK</a:t>
            </a:r>
            <a:endParaRPr lang="en-US" sz="800" dirty="0"/>
          </a:p>
        </p:txBody>
      </p:sp>
      <p:sp>
        <p:nvSpPr>
          <p:cNvPr id="9" name="Text 4"/>
          <p:cNvSpPr/>
          <p:nvPr/>
        </p:nvSpPr>
        <p:spPr>
          <a:xfrm>
            <a:off x="621506" y="469702"/>
            <a:ext cx="100013" cy="100013"/>
          </a:xfrm>
          <a:prstGeom prst="rect">
            <a:avLst/>
          </a:prstGeom>
          <a:noFill/>
          <a:ln/>
        </p:spPr>
        <p:txBody>
          <a:bodyPr wrap="none" lIns="0" tIns="0" rIns="0" bIns="0" rtlCol="0" anchor="ctr"/>
          <a:lstStyle/>
          <a:p>
            <a:pPr algn="ctr" indent="0" marL="0">
              <a:buNone/>
            </a:pPr>
            <a:r>
              <a:rPr lang="en-US" sz="984" dirty="0">
                <a:solidFill>
                  <a:srgbClr val="00E676"/>
                </a:solidFill>
                <a:latin typeface="Segoe UI Symbol" pitchFamily="34" charset="0"/>
                <a:ea typeface="Segoe UI Symbol" pitchFamily="34" charset="-122"/>
                <a:cs typeface="Segoe UI Symbol" pitchFamily="34" charset="-120"/>
              </a:rPr>
              <a:t>“</a:t>
            </a:r>
            <a:endParaRPr lang="en-US" sz="984" dirty="0"/>
          </a:p>
        </p:txBody>
      </p:sp>
      <p:sp>
        <p:nvSpPr>
          <p:cNvPr id="10" name="Text 5"/>
          <p:cNvSpPr/>
          <p:nvPr/>
        </p:nvSpPr>
        <p:spPr>
          <a:xfrm>
            <a:off x="514350" y="739378"/>
            <a:ext cx="3200400" cy="1357884"/>
          </a:xfrm>
          <a:prstGeom prst="rect">
            <a:avLst/>
          </a:prstGeom>
          <a:noFill/>
          <a:ln/>
        </p:spPr>
        <p:txBody>
          <a:bodyPr wrap="square" lIns="0" tIns="0" rIns="0" bIns="0" rtlCol="0" anchor="t"/>
          <a:lstStyle/>
          <a:p>
            <a:pPr algn="l" indent="0" marL="0">
              <a:lnSpc>
                <a:spcPts val="2475"/>
              </a:lnSpc>
              <a:buNone/>
            </a:pPr>
            <a:r>
              <a:rPr lang="en-US" sz="2250" b="1" spc="-45" kern="0" dirty="0">
                <a:solidFill>
                  <a:srgbClr val="F4F7FB"/>
                </a:solidFill>
                <a:latin typeface="Carlito" pitchFamily="34" charset="0"/>
                <a:ea typeface="Carlito" pitchFamily="34" charset="-122"/>
                <a:cs typeface="Carlito" pitchFamily="34" charset="-120"/>
              </a:rPr>
              <a:t>Raising </a:t>
            </a:r>
            <a:pPr algn="l" indent="0" marL="0">
              <a:lnSpc>
                <a:spcPts val="2475"/>
              </a:lnSpc>
              <a:buNone/>
            </a:pPr>
            <a:r>
              <a:rPr lang="en-US" sz="2250" b="1" spc="-45" kern="0" dirty="0">
                <a:solidFill>
                  <a:srgbClr val="00E676"/>
                </a:solidFill>
                <a:latin typeface="Liberation Sans Narrow" pitchFamily="34" charset="0"/>
                <a:ea typeface="Liberation Sans Narrow" pitchFamily="34" charset="-122"/>
                <a:cs typeface="Liberation Sans Narrow" pitchFamily="34" charset="-120"/>
              </a:rPr>
              <a:t>$1.5M</a:t>
            </a:r>
            <a:pPr algn="l" indent="0" marL="0">
              <a:lnSpc>
                <a:spcPts val="2475"/>
              </a:lnSpc>
              <a:buNone/>
            </a:pPr>
            <a:r>
              <a:rPr lang="en-US" sz="2250" b="1" spc="-45" kern="0" dirty="0">
                <a:solidFill>
                  <a:srgbClr val="F4F7FB"/>
                </a:solidFill>
                <a:latin typeface="Carlito" pitchFamily="34" charset="0"/>
                <a:ea typeface="Carlito" pitchFamily="34" charset="-122"/>
                <a:cs typeface="Carlito" pitchFamily="34" charset="-120"/>
              </a:rPr>
              <a:t> pre-seed to ship product and reach PMF.</a:t>
            </a:r>
            <a:endParaRPr lang="en-US" sz="2250" dirty="0"/>
          </a:p>
        </p:txBody>
      </p:sp>
      <p:sp>
        <p:nvSpPr>
          <p:cNvPr id="11" name="Text 6"/>
          <p:cNvSpPr/>
          <p:nvPr/>
        </p:nvSpPr>
        <p:spPr>
          <a:xfrm>
            <a:off x="514350" y="2225278"/>
            <a:ext cx="5056632" cy="815531"/>
          </a:xfrm>
          <a:prstGeom prst="rect">
            <a:avLst/>
          </a:prstGeom>
          <a:noFill/>
          <a:ln/>
        </p:spPr>
        <p:txBody>
          <a:bodyPr wrap="none" lIns="0" tIns="0" rIns="0" bIns="0" rtlCol="0" anchor="t">
            <a:normAutofit/>
          </a:bodyPr>
          <a:lstStyle/>
          <a:p>
            <a:pPr algn="l" indent="0" marL="0">
              <a:lnSpc>
                <a:spcPts val="6413"/>
              </a:lnSpc>
              <a:buNone/>
            </a:pPr>
            <a:r>
              <a:rPr lang="en-US" sz="6750" b="1" spc="-270" kern="0" dirty="0">
                <a:solidFill>
                  <a:srgbClr val="00E676"/>
                </a:solidFill>
                <a:latin typeface="Liberation Sans Narrow" pitchFamily="34" charset="0"/>
                <a:ea typeface="Liberation Sans Narrow" pitchFamily="34" charset="-122"/>
                <a:cs typeface="Liberation Sans Narrow" pitchFamily="34" charset="-120"/>
              </a:rPr>
              <a:t>$1.5M</a:t>
            </a:r>
            <a:endParaRPr lang="en-US" sz="6750" dirty="0"/>
          </a:p>
        </p:txBody>
      </p:sp>
      <p:sp>
        <p:nvSpPr>
          <p:cNvPr id="12" name="Text 7"/>
          <p:cNvSpPr/>
          <p:nvPr/>
        </p:nvSpPr>
        <p:spPr>
          <a:xfrm>
            <a:off x="514350" y="3068241"/>
            <a:ext cx="3456432" cy="185166"/>
          </a:xfrm>
          <a:prstGeom prst="rect">
            <a:avLst/>
          </a:prstGeom>
          <a:noFill/>
          <a:ln/>
        </p:spPr>
        <p:txBody>
          <a:bodyPr wrap="square" lIns="0" tIns="0" rIns="0" bIns="0" rtlCol="0" anchor="t"/>
          <a:lstStyle/>
          <a:p>
            <a:pPr algn="l" indent="0" marL="0">
              <a:lnSpc>
                <a:spcPts val="1350"/>
              </a:lnSpc>
              <a:buNone/>
            </a:pPr>
            <a:r>
              <a:rPr lang="en-US" sz="900" dirty="0">
                <a:solidFill>
                  <a:srgbClr val="94A3B8"/>
                </a:solidFill>
                <a:latin typeface="Liberation Sans Narrow" pitchFamily="34" charset="0"/>
                <a:ea typeface="Liberation Sans Narrow" pitchFamily="34" charset="-122"/>
                <a:cs typeface="Liberation Sans Narrow" pitchFamily="34" charset="-120"/>
              </a:rPr>
              <a:t>Pre-seed · SAFE · 18-month runway</a:t>
            </a:r>
            <a:endParaRPr lang="en-US" sz="900" dirty="0"/>
          </a:p>
        </p:txBody>
      </p:sp>
      <p:sp>
        <p:nvSpPr>
          <p:cNvPr id="13" name="Text 8"/>
          <p:cNvSpPr/>
          <p:nvPr/>
        </p:nvSpPr>
        <p:spPr>
          <a:xfrm>
            <a:off x="514350" y="3411141"/>
            <a:ext cx="342900" cy="28575"/>
          </a:xfrm>
          <a:prstGeom prst="roundRect">
            <a:avLst>
              <a:gd name="adj" fmla="val 66667"/>
            </a:avLst>
          </a:prstGeom>
          <a:solidFill>
            <a:srgbClr val="00E676"/>
          </a:solidFill>
          <a:ln/>
        </p:spPr>
        <p:txBody>
          <a:bodyPr wrap="square" rtlCol="0" anchor="ctr"/>
          <a:lstStyle/>
          <a:p>
            <a:pPr indent="0" marL="0">
              <a:buNone/>
            </a:pPr>
            <a:endParaRPr lang="en-US" dirty="0"/>
          </a:p>
        </p:txBody>
      </p:sp>
      <p:sp>
        <p:nvSpPr>
          <p:cNvPr id="14" name="Text 9"/>
          <p:cNvSpPr/>
          <p:nvPr/>
        </p:nvSpPr>
        <p:spPr>
          <a:xfrm>
            <a:off x="514350" y="3582591"/>
            <a:ext cx="3200400" cy="509941"/>
          </a:xfrm>
          <a:prstGeom prst="rect">
            <a:avLst/>
          </a:prstGeom>
          <a:noFill/>
          <a:ln/>
        </p:spPr>
        <p:txBody>
          <a:bodyPr wrap="square" lIns="0" tIns="0" rIns="0" bIns="0" rtlCol="0" anchor="t"/>
          <a:lstStyle/>
          <a:p>
            <a:pPr algn="l" indent="0" marL="0">
              <a:lnSpc>
                <a:spcPts val="1221"/>
              </a:lnSpc>
              <a:buNone/>
            </a:pPr>
            <a:r>
              <a:rPr lang="en-US" sz="800" dirty="0">
                <a:solidFill>
                  <a:srgbClr val="94A3B8"/>
                </a:solidFill>
                <a:latin typeface="Carlito" pitchFamily="34" charset="0"/>
                <a:ea typeface="Carlito" pitchFamily="34" charset="-122"/>
                <a:cs typeface="Carlito" pitchFamily="34" charset="-120"/>
              </a:rPr>
              <a:t>Capital is sized to ship v1, hit 50K MAU, and reach $5M AUM under plans — putting Latent on credible Series A footing by Q1 2027.</a:t>
            </a:r>
            <a:endParaRPr lang="en-US" sz="800" dirty="0"/>
          </a:p>
        </p:txBody>
      </p:sp>
      <p:sp>
        <p:nvSpPr>
          <p:cNvPr id="15" name="Text 10"/>
          <p:cNvSpPr/>
          <p:nvPr/>
        </p:nvSpPr>
        <p:spPr>
          <a:xfrm>
            <a:off x="4572000" y="400050"/>
            <a:ext cx="4572000" cy="136874"/>
          </a:xfrm>
          <a:prstGeom prst="rect">
            <a:avLst/>
          </a:prstGeom>
          <a:noFill/>
          <a:ln/>
        </p:spPr>
        <p:txBody>
          <a:bodyPr wrap="none" lIns="0" tIns="0" rIns="0" bIns="0" rtlCol="0" anchor="t">
            <a:normAutofit/>
          </a:bodyPr>
          <a:lstStyle/>
          <a:p>
            <a:pPr algn="l" indent="0" marL="0">
              <a:lnSpc>
                <a:spcPts val="1181"/>
              </a:lnSpc>
              <a:buNone/>
            </a:pPr>
            <a:r>
              <a:rPr lang="en-US" sz="800" b="1" spc="79" kern="0" dirty="0">
                <a:solidFill>
                  <a:srgbClr val="64748B"/>
                </a:solidFill>
                <a:latin typeface="Carlito" pitchFamily="34" charset="0"/>
                <a:ea typeface="Carlito" pitchFamily="34" charset="-122"/>
                <a:cs typeface="Carlito" pitchFamily="34" charset="-120"/>
              </a:rPr>
              <a:t>USE OF FUNDS</a:t>
            </a:r>
            <a:endParaRPr lang="en-US" sz="800" dirty="0"/>
          </a:p>
        </p:txBody>
      </p:sp>
      <p:sp>
        <p:nvSpPr>
          <p:cNvPr id="16" name="Text 11"/>
          <p:cNvSpPr/>
          <p:nvPr/>
        </p:nvSpPr>
        <p:spPr>
          <a:xfrm>
            <a:off x="4572000" y="564356"/>
            <a:ext cx="4382262" cy="164592"/>
          </a:xfrm>
          <a:prstGeom prst="rect">
            <a:avLst/>
          </a:prstGeom>
          <a:noFill/>
          <a:ln/>
        </p:spPr>
        <p:txBody>
          <a:bodyPr wrap="square" lIns="0" tIns="0" rIns="0" bIns="0" rtlCol="0" anchor="t"/>
          <a:lstStyle/>
          <a:p>
            <a:pPr algn="l" indent="0" marL="0">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18-month allocation of $1.5M raise</a:t>
            </a:r>
            <a:endParaRPr lang="en-US" sz="800" dirty="0"/>
          </a:p>
        </p:txBody>
      </p:sp>
      <p:sp>
        <p:nvSpPr>
          <p:cNvPr id="17" name="Text 12"/>
          <p:cNvSpPr/>
          <p:nvPr/>
        </p:nvSpPr>
        <p:spPr>
          <a:xfrm>
            <a:off x="4572000" y="846534"/>
            <a:ext cx="3863318" cy="164592"/>
          </a:xfrm>
          <a:prstGeom prst="rect">
            <a:avLst/>
          </a:prstGeom>
          <a:noFill/>
          <a:ln/>
        </p:spPr>
        <p:txBody>
          <a:bodyPr wrap="none" lIns="0" tIns="0" rIns="0" bIns="0" rtlCol="0" anchor="t"/>
          <a:lstStyle/>
          <a:p>
            <a:pPr algn="l" indent="0" marL="0">
              <a:lnSpc>
                <a:spcPts val="1139"/>
              </a:lnSpc>
              <a:buNone/>
            </a:pPr>
            <a:r>
              <a:rPr lang="en-US" sz="800" dirty="0">
                <a:solidFill>
                  <a:srgbClr val="F4F7FB"/>
                </a:solidFill>
                <a:latin typeface="Carlito" pitchFamily="34" charset="0"/>
                <a:ea typeface="Carlito" pitchFamily="34" charset="-122"/>
                <a:cs typeface="Carlito" pitchFamily="34" charset="-120"/>
              </a:rPr>
              <a:t>Engineering &amp; data</a:t>
            </a:r>
            <a:endParaRPr lang="en-US" sz="800" dirty="0"/>
          </a:p>
        </p:txBody>
      </p:sp>
      <p:sp>
        <p:nvSpPr>
          <p:cNvPr id="18" name="Text 13"/>
          <p:cNvSpPr/>
          <p:nvPr/>
        </p:nvSpPr>
        <p:spPr>
          <a:xfrm>
            <a:off x="8449605" y="846534"/>
            <a:ext cx="288072" cy="164592"/>
          </a:xfrm>
          <a:prstGeom prst="rect">
            <a:avLst/>
          </a:prstGeom>
          <a:noFill/>
          <a:ln/>
        </p:spPr>
        <p:txBody>
          <a:bodyPr wrap="none" lIns="0" tIns="0" rIns="0" bIns="0" rtlCol="0" anchor="t"/>
          <a:lstStyle/>
          <a:p>
            <a:pPr algn="l" indent="0" marL="0">
              <a:lnSpc>
                <a:spcPts val="1139"/>
              </a:lnSpc>
              <a:buNone/>
            </a:pPr>
            <a:r>
              <a:rPr lang="en-US" sz="800" b="1" spc="15" kern="0" dirty="0">
                <a:solidFill>
                  <a:srgbClr val="00E676"/>
                </a:solidFill>
                <a:latin typeface="Liberation Sans Narrow" pitchFamily="34" charset="0"/>
                <a:ea typeface="Liberation Sans Narrow" pitchFamily="34" charset="-122"/>
                <a:cs typeface="Liberation Sans Narrow" pitchFamily="34" charset="-120"/>
              </a:rPr>
              <a:t>45%</a:t>
            </a:r>
            <a:endParaRPr lang="en-US" sz="800" dirty="0"/>
          </a:p>
        </p:txBody>
      </p:sp>
      <p:sp>
        <p:nvSpPr>
          <p:cNvPr id="19" name="Text 14"/>
          <p:cNvSpPr/>
          <p:nvPr/>
        </p:nvSpPr>
        <p:spPr>
          <a:xfrm>
            <a:off x="4572000" y="1034058"/>
            <a:ext cx="4057650" cy="85725"/>
          </a:xfrm>
          <a:prstGeom prst="roundRect">
            <a:avLst>
              <a:gd name="adj" fmla="val 66667"/>
            </a:avLst>
          </a:prstGeom>
          <a:solidFill>
            <a:srgbClr val="1A2138"/>
          </a:solidFill>
          <a:ln/>
        </p:spPr>
        <p:txBody>
          <a:bodyPr wrap="square" rtlCol="0" anchor="ctr"/>
          <a:lstStyle/>
          <a:p>
            <a:pPr indent="0" marL="0">
              <a:buNone/>
            </a:pPr>
            <a:endParaRPr lang="en-US" dirty="0"/>
          </a:p>
        </p:txBody>
      </p:sp>
      <p:pic>
        <p:nvPicPr>
          <p:cNvPr id="20" name="Image 3" descr="preencoded.png">    </p:cNvPr>
          <p:cNvPicPr>
            <a:picLocks noChangeAspect="1"/>
          </p:cNvPicPr>
          <p:nvPr/>
        </p:nvPicPr>
        <p:blipFill>
          <a:blip r:embed="rId4"/>
          <a:stretch>
            <a:fillRect/>
          </a:stretch>
        </p:blipFill>
        <p:spPr>
          <a:xfrm>
            <a:off x="4572000" y="1034058"/>
            <a:ext cx="1825898" cy="85725"/>
          </a:xfrm>
          <a:prstGeom prst="rect">
            <a:avLst/>
          </a:prstGeom>
        </p:spPr>
      </p:pic>
      <p:sp>
        <p:nvSpPr>
          <p:cNvPr id="21" name="Text 15"/>
          <p:cNvSpPr/>
          <p:nvPr/>
        </p:nvSpPr>
        <p:spPr>
          <a:xfrm>
            <a:off x="4572000" y="1162645"/>
            <a:ext cx="4000500" cy="307119"/>
          </a:xfrm>
          <a:prstGeom prst="rect">
            <a:avLst/>
          </a:prstGeom>
          <a:noFill/>
          <a:ln/>
        </p:spPr>
        <p:txBody>
          <a:bodyPr wrap="square" lIns="0" tIns="0" rIns="0" bIns="0" rtlCol="0" anchor="t"/>
          <a:lstStyle/>
          <a:p>
            <a:pPr algn="l" indent="0" marL="0">
              <a:lnSpc>
                <a:spcPts val="906"/>
              </a:lnSpc>
              <a:buNone/>
            </a:pPr>
            <a:r>
              <a:rPr lang="en-US" sz="800" dirty="0">
                <a:solidFill>
                  <a:srgbClr val="94A3B8"/>
                </a:solidFill>
                <a:latin typeface="Carlito" pitchFamily="34" charset="0"/>
                <a:ea typeface="Carlito" pitchFamily="34" charset="-122"/>
                <a:cs typeface="Carlito" pitchFamily="34" charset="-120"/>
              </a:rPr>
              <a:t>8 hires: ML engineer, backend lead, mobile engineer (iOS+Android), data engineer, 2× full-stack, DevOps, designer.</a:t>
            </a:r>
            <a:endParaRPr lang="en-US" sz="800" dirty="0"/>
          </a:p>
        </p:txBody>
      </p:sp>
      <p:sp>
        <p:nvSpPr>
          <p:cNvPr id="22" name="Text 16"/>
          <p:cNvSpPr/>
          <p:nvPr/>
        </p:nvSpPr>
        <p:spPr>
          <a:xfrm>
            <a:off x="4572000" y="1492597"/>
            <a:ext cx="3863318" cy="164592"/>
          </a:xfrm>
          <a:prstGeom prst="rect">
            <a:avLst/>
          </a:prstGeom>
          <a:noFill/>
          <a:ln/>
        </p:spPr>
        <p:txBody>
          <a:bodyPr wrap="none" lIns="0" tIns="0" rIns="0" bIns="0" rtlCol="0" anchor="t"/>
          <a:lstStyle/>
          <a:p>
            <a:pPr algn="l" indent="0" marL="0">
              <a:lnSpc>
                <a:spcPts val="1139"/>
              </a:lnSpc>
              <a:buNone/>
            </a:pPr>
            <a:r>
              <a:rPr lang="en-US" sz="800" dirty="0">
                <a:solidFill>
                  <a:srgbClr val="F4F7FB"/>
                </a:solidFill>
                <a:latin typeface="Carlito" pitchFamily="34" charset="0"/>
                <a:ea typeface="Carlito" pitchFamily="34" charset="-122"/>
                <a:cs typeface="Carlito" pitchFamily="34" charset="-120"/>
              </a:rPr>
              <a:t>Growth &amp; user acquisition</a:t>
            </a:r>
            <a:endParaRPr lang="en-US" sz="800" dirty="0"/>
          </a:p>
        </p:txBody>
      </p:sp>
      <p:sp>
        <p:nvSpPr>
          <p:cNvPr id="23" name="Text 17"/>
          <p:cNvSpPr/>
          <p:nvPr/>
        </p:nvSpPr>
        <p:spPr>
          <a:xfrm>
            <a:off x="8449605" y="1492597"/>
            <a:ext cx="288072" cy="164592"/>
          </a:xfrm>
          <a:prstGeom prst="rect">
            <a:avLst/>
          </a:prstGeom>
          <a:noFill/>
          <a:ln/>
        </p:spPr>
        <p:txBody>
          <a:bodyPr wrap="none" lIns="0" tIns="0" rIns="0" bIns="0" rtlCol="0" anchor="t"/>
          <a:lstStyle/>
          <a:p>
            <a:pPr algn="l" indent="0" marL="0">
              <a:lnSpc>
                <a:spcPts val="1139"/>
              </a:lnSpc>
              <a:buNone/>
            </a:pPr>
            <a:r>
              <a:rPr lang="en-US" sz="800" b="1" spc="15" kern="0" dirty="0">
                <a:solidFill>
                  <a:srgbClr val="00E676"/>
                </a:solidFill>
                <a:latin typeface="Liberation Sans Narrow" pitchFamily="34" charset="0"/>
                <a:ea typeface="Liberation Sans Narrow" pitchFamily="34" charset="-122"/>
                <a:cs typeface="Liberation Sans Narrow" pitchFamily="34" charset="-120"/>
              </a:rPr>
              <a:t>25%</a:t>
            </a:r>
            <a:endParaRPr lang="en-US" sz="800" dirty="0"/>
          </a:p>
        </p:txBody>
      </p:sp>
      <p:sp>
        <p:nvSpPr>
          <p:cNvPr id="24" name="Text 18"/>
          <p:cNvSpPr/>
          <p:nvPr/>
        </p:nvSpPr>
        <p:spPr>
          <a:xfrm>
            <a:off x="4572000" y="1680121"/>
            <a:ext cx="4057650" cy="85725"/>
          </a:xfrm>
          <a:prstGeom prst="roundRect">
            <a:avLst>
              <a:gd name="adj" fmla="val 66667"/>
            </a:avLst>
          </a:prstGeom>
          <a:solidFill>
            <a:srgbClr val="1A2138"/>
          </a:solidFill>
          <a:ln/>
        </p:spPr>
        <p:txBody>
          <a:bodyPr wrap="square" rtlCol="0" anchor="ctr"/>
          <a:lstStyle/>
          <a:p>
            <a:pPr indent="0" marL="0">
              <a:buNone/>
            </a:pPr>
            <a:endParaRPr lang="en-US" dirty="0"/>
          </a:p>
        </p:txBody>
      </p:sp>
      <p:pic>
        <p:nvPicPr>
          <p:cNvPr id="25" name="Image 4" descr="preencoded.png">    </p:cNvPr>
          <p:cNvPicPr>
            <a:picLocks noChangeAspect="1"/>
          </p:cNvPicPr>
          <p:nvPr/>
        </p:nvPicPr>
        <p:blipFill>
          <a:blip r:embed="rId5"/>
          <a:stretch>
            <a:fillRect/>
          </a:stretch>
        </p:blipFill>
        <p:spPr>
          <a:xfrm>
            <a:off x="4572000" y="1680121"/>
            <a:ext cx="1014413" cy="85725"/>
          </a:xfrm>
          <a:prstGeom prst="rect">
            <a:avLst/>
          </a:prstGeom>
        </p:spPr>
      </p:pic>
      <p:sp>
        <p:nvSpPr>
          <p:cNvPr id="26" name="Text 19"/>
          <p:cNvSpPr/>
          <p:nvPr/>
        </p:nvSpPr>
        <p:spPr>
          <a:xfrm>
            <a:off x="4572000" y="1808708"/>
            <a:ext cx="4000500" cy="307119"/>
          </a:xfrm>
          <a:prstGeom prst="rect">
            <a:avLst/>
          </a:prstGeom>
          <a:noFill/>
          <a:ln/>
        </p:spPr>
        <p:txBody>
          <a:bodyPr wrap="square" lIns="0" tIns="0" rIns="0" bIns="0" rtlCol="0" anchor="t"/>
          <a:lstStyle/>
          <a:p>
            <a:pPr algn="l" indent="0" marL="0">
              <a:lnSpc>
                <a:spcPts val="906"/>
              </a:lnSpc>
              <a:buNone/>
            </a:pPr>
            <a:r>
              <a:rPr lang="en-US" sz="800" dirty="0">
                <a:solidFill>
                  <a:srgbClr val="94A3B8"/>
                </a:solidFill>
                <a:latin typeface="Carlito" pitchFamily="34" charset="0"/>
                <a:ea typeface="Carlito" pitchFamily="34" charset="-122"/>
                <a:cs typeface="Carlito" pitchFamily="34" charset="-120"/>
              </a:rPr>
              <a:t>12-month paid + content + community growth engine. Mix of performance ads, partnerships, and Urdu-language content.</a:t>
            </a:r>
            <a:endParaRPr lang="en-US" sz="800" dirty="0"/>
          </a:p>
        </p:txBody>
      </p:sp>
      <p:sp>
        <p:nvSpPr>
          <p:cNvPr id="27" name="Text 20"/>
          <p:cNvSpPr/>
          <p:nvPr/>
        </p:nvSpPr>
        <p:spPr>
          <a:xfrm>
            <a:off x="4572000" y="2138660"/>
            <a:ext cx="3863318" cy="164592"/>
          </a:xfrm>
          <a:prstGeom prst="rect">
            <a:avLst/>
          </a:prstGeom>
          <a:noFill/>
          <a:ln/>
        </p:spPr>
        <p:txBody>
          <a:bodyPr wrap="none" lIns="0" tIns="0" rIns="0" bIns="0" rtlCol="0" anchor="t"/>
          <a:lstStyle/>
          <a:p>
            <a:pPr algn="l" indent="0" marL="0">
              <a:lnSpc>
                <a:spcPts val="1139"/>
              </a:lnSpc>
              <a:buNone/>
            </a:pPr>
            <a:r>
              <a:rPr lang="en-US" sz="800" dirty="0">
                <a:solidFill>
                  <a:srgbClr val="F4F7FB"/>
                </a:solidFill>
                <a:latin typeface="Carlito" pitchFamily="34" charset="0"/>
                <a:ea typeface="Carlito" pitchFamily="34" charset="-122"/>
                <a:cs typeface="Carlito" pitchFamily="34" charset="-120"/>
              </a:rPr>
              <a:t>Regulatory &amp; compliance</a:t>
            </a:r>
            <a:endParaRPr lang="en-US" sz="800" dirty="0"/>
          </a:p>
        </p:txBody>
      </p:sp>
      <p:sp>
        <p:nvSpPr>
          <p:cNvPr id="28" name="Text 21"/>
          <p:cNvSpPr/>
          <p:nvPr/>
        </p:nvSpPr>
        <p:spPr>
          <a:xfrm>
            <a:off x="8449605" y="2138660"/>
            <a:ext cx="288072" cy="164592"/>
          </a:xfrm>
          <a:prstGeom prst="rect">
            <a:avLst/>
          </a:prstGeom>
          <a:noFill/>
          <a:ln/>
        </p:spPr>
        <p:txBody>
          <a:bodyPr wrap="none" lIns="0" tIns="0" rIns="0" bIns="0" rtlCol="0" anchor="t"/>
          <a:lstStyle/>
          <a:p>
            <a:pPr algn="l" indent="0" marL="0">
              <a:lnSpc>
                <a:spcPts val="1139"/>
              </a:lnSpc>
              <a:buNone/>
            </a:pPr>
            <a:r>
              <a:rPr lang="en-US" sz="800" b="1" spc="15" kern="0" dirty="0">
                <a:solidFill>
                  <a:srgbClr val="00E676"/>
                </a:solidFill>
                <a:latin typeface="Liberation Sans Narrow" pitchFamily="34" charset="0"/>
                <a:ea typeface="Liberation Sans Narrow" pitchFamily="34" charset="-122"/>
                <a:cs typeface="Liberation Sans Narrow" pitchFamily="34" charset="-120"/>
              </a:rPr>
              <a:t>15%</a:t>
            </a:r>
            <a:endParaRPr lang="en-US" sz="800" dirty="0"/>
          </a:p>
        </p:txBody>
      </p:sp>
      <p:sp>
        <p:nvSpPr>
          <p:cNvPr id="29" name="Text 22"/>
          <p:cNvSpPr/>
          <p:nvPr/>
        </p:nvSpPr>
        <p:spPr>
          <a:xfrm>
            <a:off x="4572000" y="2326184"/>
            <a:ext cx="4057650" cy="85725"/>
          </a:xfrm>
          <a:prstGeom prst="roundRect">
            <a:avLst>
              <a:gd name="adj" fmla="val 66667"/>
            </a:avLst>
          </a:prstGeom>
          <a:solidFill>
            <a:srgbClr val="1A2138"/>
          </a:solidFill>
          <a:ln/>
        </p:spPr>
        <p:txBody>
          <a:bodyPr wrap="square" rtlCol="0" anchor="ctr"/>
          <a:lstStyle/>
          <a:p>
            <a:pPr indent="0" marL="0">
              <a:buNone/>
            </a:pPr>
            <a:endParaRPr lang="en-US" dirty="0"/>
          </a:p>
        </p:txBody>
      </p:sp>
      <p:pic>
        <p:nvPicPr>
          <p:cNvPr id="30" name="Image 5" descr="preencoded.png">    </p:cNvPr>
          <p:cNvPicPr>
            <a:picLocks noChangeAspect="1"/>
          </p:cNvPicPr>
          <p:nvPr/>
        </p:nvPicPr>
        <p:blipFill>
          <a:blip r:embed="rId6"/>
          <a:stretch>
            <a:fillRect/>
          </a:stretch>
        </p:blipFill>
        <p:spPr>
          <a:xfrm>
            <a:off x="4572000" y="2326184"/>
            <a:ext cx="608558" cy="85725"/>
          </a:xfrm>
          <a:prstGeom prst="rect">
            <a:avLst/>
          </a:prstGeom>
        </p:spPr>
      </p:pic>
      <p:sp>
        <p:nvSpPr>
          <p:cNvPr id="31" name="Text 23"/>
          <p:cNvSpPr/>
          <p:nvPr/>
        </p:nvSpPr>
        <p:spPr>
          <a:xfrm>
            <a:off x="4572000" y="2454771"/>
            <a:ext cx="4000500" cy="153560"/>
          </a:xfrm>
          <a:prstGeom prst="rect">
            <a:avLst/>
          </a:prstGeom>
          <a:noFill/>
          <a:ln/>
        </p:spPr>
        <p:txBody>
          <a:bodyPr wrap="square" lIns="0" tIns="0" rIns="0" bIns="0" rtlCol="0" anchor="t"/>
          <a:lstStyle/>
          <a:p>
            <a:pPr algn="l" indent="0" marL="0">
              <a:lnSpc>
                <a:spcPts val="906"/>
              </a:lnSpc>
              <a:buNone/>
            </a:pPr>
            <a:r>
              <a:rPr lang="en-US" sz="647" dirty="0">
                <a:solidFill>
                  <a:srgbClr val="94A3B8"/>
                </a:solidFill>
                <a:latin typeface="Carlito" pitchFamily="34" charset="0"/>
                <a:ea typeface="Carlito" pitchFamily="34" charset="-122"/>
                <a:cs typeface="Carlito" pitchFamily="34" charset="-120"/>
              </a:rPr>
              <a:t>SECP RIA license fees, KYC/AML infrastructure, legal counsel, audit, and trust infrastructure.</a:t>
            </a:r>
            <a:endParaRPr lang="en-US" sz="647" dirty="0"/>
          </a:p>
        </p:txBody>
      </p:sp>
      <p:sp>
        <p:nvSpPr>
          <p:cNvPr id="32" name="Text 24"/>
          <p:cNvSpPr/>
          <p:nvPr/>
        </p:nvSpPr>
        <p:spPr>
          <a:xfrm>
            <a:off x="4572000" y="2669753"/>
            <a:ext cx="3863318" cy="164592"/>
          </a:xfrm>
          <a:prstGeom prst="rect">
            <a:avLst/>
          </a:prstGeom>
          <a:noFill/>
          <a:ln/>
        </p:spPr>
        <p:txBody>
          <a:bodyPr wrap="none" lIns="0" tIns="0" rIns="0" bIns="0" rtlCol="0" anchor="t"/>
          <a:lstStyle/>
          <a:p>
            <a:pPr algn="l" indent="0" marL="0">
              <a:lnSpc>
                <a:spcPts val="1139"/>
              </a:lnSpc>
              <a:buNone/>
            </a:pPr>
            <a:r>
              <a:rPr lang="en-US" sz="800" dirty="0">
                <a:solidFill>
                  <a:srgbClr val="F4F7FB"/>
                </a:solidFill>
                <a:latin typeface="Carlito" pitchFamily="34" charset="0"/>
                <a:ea typeface="Carlito" pitchFamily="34" charset="-122"/>
                <a:cs typeface="Carlito" pitchFamily="34" charset="-120"/>
              </a:rPr>
              <a:t>Operations &amp; founder expansion</a:t>
            </a:r>
            <a:endParaRPr lang="en-US" sz="800" dirty="0"/>
          </a:p>
        </p:txBody>
      </p:sp>
      <p:sp>
        <p:nvSpPr>
          <p:cNvPr id="33" name="Text 25"/>
          <p:cNvSpPr/>
          <p:nvPr/>
        </p:nvSpPr>
        <p:spPr>
          <a:xfrm>
            <a:off x="8449605" y="2669753"/>
            <a:ext cx="288072" cy="164592"/>
          </a:xfrm>
          <a:prstGeom prst="rect">
            <a:avLst/>
          </a:prstGeom>
          <a:noFill/>
          <a:ln/>
        </p:spPr>
        <p:txBody>
          <a:bodyPr wrap="none" lIns="0" tIns="0" rIns="0" bIns="0" rtlCol="0" anchor="t"/>
          <a:lstStyle/>
          <a:p>
            <a:pPr algn="l" indent="0" marL="0">
              <a:lnSpc>
                <a:spcPts val="1139"/>
              </a:lnSpc>
              <a:buNone/>
            </a:pPr>
            <a:r>
              <a:rPr lang="en-US" sz="800" b="1" spc="15" kern="0" dirty="0">
                <a:solidFill>
                  <a:srgbClr val="00E676"/>
                </a:solidFill>
                <a:latin typeface="Liberation Sans Narrow" pitchFamily="34" charset="0"/>
                <a:ea typeface="Liberation Sans Narrow" pitchFamily="34" charset="-122"/>
                <a:cs typeface="Liberation Sans Narrow" pitchFamily="34" charset="-120"/>
              </a:rPr>
              <a:t>10%</a:t>
            </a:r>
            <a:endParaRPr lang="en-US" sz="800" dirty="0"/>
          </a:p>
        </p:txBody>
      </p:sp>
      <p:sp>
        <p:nvSpPr>
          <p:cNvPr id="34" name="Text 26"/>
          <p:cNvSpPr/>
          <p:nvPr/>
        </p:nvSpPr>
        <p:spPr>
          <a:xfrm>
            <a:off x="4572000" y="2857277"/>
            <a:ext cx="4057650" cy="85725"/>
          </a:xfrm>
          <a:prstGeom prst="roundRect">
            <a:avLst>
              <a:gd name="adj" fmla="val 66667"/>
            </a:avLst>
          </a:prstGeom>
          <a:solidFill>
            <a:srgbClr val="1A2138"/>
          </a:solidFill>
          <a:ln/>
        </p:spPr>
        <p:txBody>
          <a:bodyPr wrap="square" rtlCol="0" anchor="ctr"/>
          <a:lstStyle/>
          <a:p>
            <a:pPr indent="0" marL="0">
              <a:buNone/>
            </a:pPr>
            <a:endParaRPr lang="en-US" dirty="0"/>
          </a:p>
        </p:txBody>
      </p:sp>
      <p:pic>
        <p:nvPicPr>
          <p:cNvPr id="35" name="Image 6" descr="preencoded.png">    </p:cNvPr>
          <p:cNvPicPr>
            <a:picLocks noChangeAspect="1"/>
          </p:cNvPicPr>
          <p:nvPr/>
        </p:nvPicPr>
        <p:blipFill>
          <a:blip r:embed="rId7"/>
          <a:stretch>
            <a:fillRect/>
          </a:stretch>
        </p:blipFill>
        <p:spPr>
          <a:xfrm>
            <a:off x="4572000" y="2857277"/>
            <a:ext cx="405743" cy="85725"/>
          </a:xfrm>
          <a:prstGeom prst="rect">
            <a:avLst/>
          </a:prstGeom>
        </p:spPr>
      </p:pic>
      <p:sp>
        <p:nvSpPr>
          <p:cNvPr id="36" name="Text 27"/>
          <p:cNvSpPr/>
          <p:nvPr/>
        </p:nvSpPr>
        <p:spPr>
          <a:xfrm>
            <a:off x="4572000" y="2985864"/>
            <a:ext cx="4000500" cy="153560"/>
          </a:xfrm>
          <a:prstGeom prst="rect">
            <a:avLst/>
          </a:prstGeom>
          <a:noFill/>
          <a:ln/>
        </p:spPr>
        <p:txBody>
          <a:bodyPr wrap="square" lIns="0" tIns="0" rIns="0" bIns="0" rtlCol="0" anchor="t"/>
          <a:lstStyle/>
          <a:p>
            <a:pPr algn="l" indent="0" marL="0">
              <a:lnSpc>
                <a:spcPts val="906"/>
              </a:lnSpc>
              <a:buNone/>
            </a:pPr>
            <a:r>
              <a:rPr lang="en-US" sz="800" dirty="0">
                <a:solidFill>
                  <a:srgbClr val="94A3B8"/>
                </a:solidFill>
                <a:latin typeface="Carlito" pitchFamily="34" charset="0"/>
                <a:ea typeface="Carlito" pitchFamily="34" charset="-122"/>
                <a:cs typeface="Carlito" pitchFamily="34" charset="-120"/>
              </a:rPr>
              <a:t>COO hire, finance/ops, second engineer hire, cloud + data infra scaling.</a:t>
            </a:r>
            <a:endParaRPr lang="en-US" sz="800" dirty="0"/>
          </a:p>
        </p:txBody>
      </p:sp>
      <p:sp>
        <p:nvSpPr>
          <p:cNvPr id="37" name="Text 28"/>
          <p:cNvSpPr/>
          <p:nvPr/>
        </p:nvSpPr>
        <p:spPr>
          <a:xfrm>
            <a:off x="4572000" y="3200846"/>
            <a:ext cx="3923370" cy="164592"/>
          </a:xfrm>
          <a:prstGeom prst="rect">
            <a:avLst/>
          </a:prstGeom>
          <a:noFill/>
          <a:ln/>
        </p:spPr>
        <p:txBody>
          <a:bodyPr wrap="none" lIns="0" tIns="0" rIns="0" bIns="0" rtlCol="0" anchor="t"/>
          <a:lstStyle/>
          <a:p>
            <a:pPr algn="l" indent="0" marL="0">
              <a:lnSpc>
                <a:spcPts val="1139"/>
              </a:lnSpc>
              <a:buNone/>
            </a:pPr>
            <a:r>
              <a:rPr lang="en-US" sz="800" dirty="0">
                <a:solidFill>
                  <a:srgbClr val="F4F7FB"/>
                </a:solidFill>
                <a:latin typeface="Carlito" pitchFamily="34" charset="0"/>
                <a:ea typeface="Carlito" pitchFamily="34" charset="-122"/>
                <a:cs typeface="Carlito" pitchFamily="34" charset="-120"/>
              </a:rPr>
              <a:t>Contingency</a:t>
            </a:r>
            <a:endParaRPr lang="en-US" sz="800" dirty="0"/>
          </a:p>
        </p:txBody>
      </p:sp>
      <p:sp>
        <p:nvSpPr>
          <p:cNvPr id="38" name="Text 29"/>
          <p:cNvSpPr/>
          <p:nvPr/>
        </p:nvSpPr>
        <p:spPr>
          <a:xfrm>
            <a:off x="8509657" y="3200846"/>
            <a:ext cx="191988" cy="164592"/>
          </a:xfrm>
          <a:prstGeom prst="rect">
            <a:avLst/>
          </a:prstGeom>
          <a:noFill/>
          <a:ln/>
        </p:spPr>
        <p:txBody>
          <a:bodyPr wrap="none" lIns="0" tIns="0" rIns="0" bIns="0" rtlCol="0" anchor="t"/>
          <a:lstStyle/>
          <a:p>
            <a:pPr algn="l" indent="0" marL="0">
              <a:lnSpc>
                <a:spcPts val="1139"/>
              </a:lnSpc>
              <a:buNone/>
            </a:pPr>
            <a:r>
              <a:rPr lang="en-US" sz="800" b="1" spc="15" kern="0" dirty="0">
                <a:solidFill>
                  <a:srgbClr val="00E676"/>
                </a:solidFill>
                <a:latin typeface="Liberation Sans Narrow" pitchFamily="34" charset="0"/>
                <a:ea typeface="Liberation Sans Narrow" pitchFamily="34" charset="-122"/>
                <a:cs typeface="Liberation Sans Narrow" pitchFamily="34" charset="-120"/>
              </a:rPr>
              <a:t>5%</a:t>
            </a:r>
            <a:endParaRPr lang="en-US" sz="800" dirty="0"/>
          </a:p>
        </p:txBody>
      </p:sp>
      <p:sp>
        <p:nvSpPr>
          <p:cNvPr id="39" name="Text 30"/>
          <p:cNvSpPr/>
          <p:nvPr/>
        </p:nvSpPr>
        <p:spPr>
          <a:xfrm>
            <a:off x="4572000" y="3388370"/>
            <a:ext cx="4057650" cy="85725"/>
          </a:xfrm>
          <a:prstGeom prst="roundRect">
            <a:avLst>
              <a:gd name="adj" fmla="val 66667"/>
            </a:avLst>
          </a:prstGeom>
          <a:solidFill>
            <a:srgbClr val="1A2138"/>
          </a:solidFill>
          <a:ln/>
        </p:spPr>
        <p:txBody>
          <a:bodyPr wrap="square" rtlCol="0" anchor="ctr"/>
          <a:lstStyle/>
          <a:p>
            <a:pPr indent="0" marL="0">
              <a:buNone/>
            </a:pPr>
            <a:endParaRPr lang="en-US" dirty="0"/>
          </a:p>
        </p:txBody>
      </p:sp>
      <p:pic>
        <p:nvPicPr>
          <p:cNvPr id="40" name="Image 7" descr="preencoded.png">    </p:cNvPr>
          <p:cNvPicPr>
            <a:picLocks noChangeAspect="1"/>
          </p:cNvPicPr>
          <p:nvPr/>
        </p:nvPicPr>
        <p:blipFill>
          <a:blip r:embed="rId8"/>
          <a:stretch>
            <a:fillRect/>
          </a:stretch>
        </p:blipFill>
        <p:spPr>
          <a:xfrm>
            <a:off x="4572000" y="3388370"/>
            <a:ext cx="202816" cy="85725"/>
          </a:xfrm>
          <a:prstGeom prst="rect">
            <a:avLst/>
          </a:prstGeom>
        </p:spPr>
      </p:pic>
      <p:sp>
        <p:nvSpPr>
          <p:cNvPr id="41" name="Text 31"/>
          <p:cNvSpPr/>
          <p:nvPr/>
        </p:nvSpPr>
        <p:spPr>
          <a:xfrm>
            <a:off x="4572000" y="3516957"/>
            <a:ext cx="4000500" cy="153560"/>
          </a:xfrm>
          <a:prstGeom prst="rect">
            <a:avLst/>
          </a:prstGeom>
          <a:noFill/>
          <a:ln/>
        </p:spPr>
        <p:txBody>
          <a:bodyPr wrap="square" lIns="0" tIns="0" rIns="0" bIns="0" rtlCol="0" anchor="t"/>
          <a:lstStyle/>
          <a:p>
            <a:pPr algn="l" indent="0" marL="0">
              <a:lnSpc>
                <a:spcPts val="906"/>
              </a:lnSpc>
              <a:buNone/>
            </a:pPr>
            <a:r>
              <a:rPr lang="en-US" sz="800" dirty="0">
                <a:solidFill>
                  <a:srgbClr val="94A3B8"/>
                </a:solidFill>
                <a:latin typeface="Carlito" pitchFamily="34" charset="0"/>
                <a:ea typeface="Carlito" pitchFamily="34" charset="-122"/>
                <a:cs typeface="Carlito" pitchFamily="34" charset="-120"/>
              </a:rPr>
              <a:t>Reserve for FX volatility, regulatory delays, and opportunistic hires.</a:t>
            </a:r>
            <a:endParaRPr lang="en-US" sz="800" dirty="0"/>
          </a:p>
        </p:txBody>
      </p:sp>
      <p:sp>
        <p:nvSpPr>
          <p:cNvPr id="42" name="Text 32"/>
          <p:cNvSpPr/>
          <p:nvPr/>
        </p:nvSpPr>
        <p:spPr>
          <a:xfrm>
            <a:off x="4575572" y="3764087"/>
            <a:ext cx="4050506" cy="942975"/>
          </a:xfrm>
          <a:prstGeom prst="roundRect">
            <a:avLst>
              <a:gd name="adj" fmla="val 12121"/>
            </a:avLst>
          </a:prstGeom>
          <a:solidFill>
            <a:srgbClr val="131829"/>
          </a:solidFill>
          <a:ln w="7144">
            <a:solidFill>
              <a:srgbClr val="FFFFFF"/>
            </a:solidFill>
            <a:prstDash val="solid"/>
          </a:ln>
        </p:spPr>
        <p:txBody>
          <a:bodyPr wrap="square" rtlCol="0" anchor="ctr"/>
          <a:lstStyle/>
          <a:p>
            <a:pPr indent="0" marL="0">
              <a:buNone/>
            </a:pPr>
            <a:endParaRPr lang="en-US" dirty="0"/>
          </a:p>
        </p:txBody>
      </p:sp>
      <p:sp>
        <p:nvSpPr>
          <p:cNvPr id="43" name="Text 33"/>
          <p:cNvSpPr/>
          <p:nvPr/>
        </p:nvSpPr>
        <p:spPr>
          <a:xfrm>
            <a:off x="4707731" y="3853383"/>
            <a:ext cx="3786188"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00E676"/>
                </a:solidFill>
                <a:latin typeface="Carlito" pitchFamily="34" charset="0"/>
                <a:ea typeface="Carlito" pitchFamily="34" charset="-122"/>
                <a:cs typeface="Carlito" pitchFamily="34" charset="-120"/>
              </a:rPr>
              <a:t>MILESTONES UNLOCKED</a:t>
            </a:r>
            <a:endParaRPr lang="en-US" sz="800" dirty="0"/>
          </a:p>
        </p:txBody>
      </p:sp>
      <p:sp>
        <p:nvSpPr>
          <p:cNvPr id="44" name="Text 34"/>
          <p:cNvSpPr/>
          <p:nvPr/>
        </p:nvSpPr>
        <p:spPr>
          <a:xfrm>
            <a:off x="4707731" y="4040607"/>
            <a:ext cx="656220"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45" name="Text 35"/>
          <p:cNvSpPr/>
          <p:nvPr/>
        </p:nvSpPr>
        <p:spPr>
          <a:xfrm>
            <a:off x="4707731" y="4053408"/>
            <a:ext cx="656220" cy="239316"/>
          </a:xfrm>
          <a:prstGeom prst="rect">
            <a:avLst/>
          </a:prstGeom>
          <a:noFill/>
          <a:ln/>
        </p:spPr>
        <p:txBody>
          <a:bodyPr wrap="none" lIns="0" tIns="0" rIns="0" bIns="0" rtlCol="0" anchor="ctr"/>
          <a:lstStyle/>
          <a:p>
            <a:pPr algn="ctr" indent="0" marL="0">
              <a:lnSpc>
                <a:spcPts val="1097"/>
              </a:lnSpc>
              <a:buNone/>
            </a:pPr>
            <a:r>
              <a:rPr lang="en-US" sz="800" b="1" dirty="0">
                <a:solidFill>
                  <a:srgbClr val="00E676"/>
                </a:solidFill>
                <a:latin typeface="Liberation Sans Narrow" pitchFamily="34" charset="0"/>
                <a:ea typeface="Liberation Sans Narrow" pitchFamily="34" charset="-122"/>
                <a:cs typeface="Liberation Sans Narrow" pitchFamily="34" charset="-120"/>
              </a:rPr>
              <a:t>50K MAU</a:t>
            </a:r>
            <a:endParaRPr lang="en-US" sz="800" dirty="0"/>
          </a:p>
        </p:txBody>
      </p:sp>
      <p:sp>
        <p:nvSpPr>
          <p:cNvPr id="46" name="Text 36"/>
          <p:cNvSpPr/>
          <p:nvPr/>
        </p:nvSpPr>
        <p:spPr>
          <a:xfrm>
            <a:off x="5449677" y="4040607"/>
            <a:ext cx="676647"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47" name="Text 37"/>
          <p:cNvSpPr/>
          <p:nvPr/>
        </p:nvSpPr>
        <p:spPr>
          <a:xfrm>
            <a:off x="5449677" y="4053408"/>
            <a:ext cx="676647" cy="239316"/>
          </a:xfrm>
          <a:prstGeom prst="rect">
            <a:avLst/>
          </a:prstGeom>
          <a:noFill/>
          <a:ln/>
        </p:spPr>
        <p:txBody>
          <a:bodyPr wrap="none" lIns="0" tIns="0" rIns="0" bIns="0" rtlCol="0" anchor="ctr"/>
          <a:lstStyle/>
          <a:p>
            <a:pPr algn="ctr" indent="0" marL="0">
              <a:lnSpc>
                <a:spcPts val="1097"/>
              </a:lnSpc>
              <a:buNone/>
            </a:pPr>
            <a:r>
              <a:rPr lang="en-US" sz="800" b="1" dirty="0">
                <a:solidFill>
                  <a:srgbClr val="00E676"/>
                </a:solidFill>
                <a:latin typeface="Liberation Sans Narrow" pitchFamily="34" charset="0"/>
                <a:ea typeface="Liberation Sans Narrow" pitchFamily="34" charset="-122"/>
                <a:cs typeface="Liberation Sans Narrow" pitchFamily="34" charset="-120"/>
              </a:rPr>
              <a:t>$5M AUM</a:t>
            </a:r>
            <a:endParaRPr lang="en-US" sz="800" dirty="0"/>
          </a:p>
        </p:txBody>
      </p:sp>
      <p:sp>
        <p:nvSpPr>
          <p:cNvPr id="48" name="Text 38"/>
          <p:cNvSpPr/>
          <p:nvPr/>
        </p:nvSpPr>
        <p:spPr>
          <a:xfrm>
            <a:off x="6212049" y="4040607"/>
            <a:ext cx="1061070"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49" name="Text 39"/>
          <p:cNvSpPr/>
          <p:nvPr/>
        </p:nvSpPr>
        <p:spPr>
          <a:xfrm>
            <a:off x="6212049" y="4053408"/>
            <a:ext cx="1061070" cy="239316"/>
          </a:xfrm>
          <a:prstGeom prst="rect">
            <a:avLst/>
          </a:prstGeom>
          <a:noFill/>
          <a:ln/>
        </p:spPr>
        <p:txBody>
          <a:bodyPr wrap="none" lIns="0" tIns="0" rIns="0" bIns="0" rtlCol="0" anchor="ctr"/>
          <a:lstStyle/>
          <a:p>
            <a:pPr algn="ctr" indent="0" marL="0">
              <a:lnSpc>
                <a:spcPts val="1097"/>
              </a:lnSpc>
              <a:buNone/>
            </a:pPr>
            <a:r>
              <a:rPr lang="en-US" sz="800" b="1" dirty="0">
                <a:solidFill>
                  <a:srgbClr val="00E676"/>
                </a:solidFill>
                <a:latin typeface="Carlito" pitchFamily="34" charset="0"/>
                <a:ea typeface="Carlito" pitchFamily="34" charset="-122"/>
                <a:cs typeface="Carlito" pitchFamily="34" charset="-120"/>
              </a:rPr>
              <a:t>SECP RIA license</a:t>
            </a:r>
            <a:endParaRPr lang="en-US" sz="800" dirty="0"/>
          </a:p>
        </p:txBody>
      </p:sp>
      <p:sp>
        <p:nvSpPr>
          <p:cNvPr id="50" name="Text 40"/>
          <p:cNvSpPr/>
          <p:nvPr/>
        </p:nvSpPr>
        <p:spPr>
          <a:xfrm>
            <a:off x="4684871" y="4365647"/>
            <a:ext cx="1550037"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51" name="Text 41"/>
          <p:cNvSpPr/>
          <p:nvPr/>
        </p:nvSpPr>
        <p:spPr>
          <a:xfrm>
            <a:off x="4707731" y="4378449"/>
            <a:ext cx="1504317" cy="239316"/>
          </a:xfrm>
          <a:prstGeom prst="rect">
            <a:avLst/>
          </a:prstGeom>
          <a:noFill/>
          <a:ln/>
        </p:spPr>
        <p:txBody>
          <a:bodyPr wrap="none" lIns="0" tIns="0" rIns="0" bIns="0" rtlCol="0" anchor="ctr"/>
          <a:lstStyle/>
          <a:p>
            <a:pPr algn="ctr" indent="0" marL="0">
              <a:lnSpc>
                <a:spcPts val="1097"/>
              </a:lnSpc>
              <a:buNone/>
            </a:pPr>
            <a:r>
              <a:rPr lang="en-US" sz="800" b="1" dirty="0">
                <a:solidFill>
                  <a:srgbClr val="00E676"/>
                </a:solidFill>
                <a:latin typeface="Liberation Sans Narrow" pitchFamily="34" charset="0"/>
                <a:ea typeface="Liberation Sans Narrow" pitchFamily="34" charset="-122"/>
                <a:cs typeface="Liberation Sans Narrow" pitchFamily="34" charset="-120"/>
              </a:rPr>
              <a:t>Series A-ready (Q1 2027)</a:t>
            </a:r>
            <a:endParaRPr lang="en-US" sz="800" dirty="0"/>
          </a:p>
        </p:txBody>
      </p:sp>
      <p:sp>
        <p:nvSpPr>
          <p:cNvPr id="52" name="Text 42"/>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THE ASK</a:t>
            </a:r>
            <a:endParaRPr lang="en-US" sz="800" dirty="0"/>
          </a:p>
        </p:txBody>
      </p:sp>
      <p:sp>
        <p:nvSpPr>
          <p:cNvPr id="53" name="Text 43"/>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13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50000"/>
          </a:blip>
          <a:stretch>
            <a:fillRect/>
          </a:stretch>
        </p:blipFill>
        <p:spPr>
          <a:xfrm>
            <a:off x="-1143000" y="-1285875"/>
            <a:ext cx="3857625" cy="3857625"/>
          </a:xfrm>
          <a:prstGeom prst="rect">
            <a:avLst/>
          </a:prstGeom>
        </p:spPr>
      </p:pic>
      <p:sp>
        <p:nvSpPr>
          <p:cNvPr id="4" name="Text 0"/>
          <p:cNvSpPr/>
          <p:nvPr/>
        </p:nvSpPr>
        <p:spPr>
          <a:xfrm>
            <a:off x="-1143000" y="-1285875"/>
            <a:ext cx="3857625" cy="3857625"/>
          </a:xfrm>
          <a:prstGeom prst="ellipse">
            <a:avLst/>
          </a:prstGeom>
          <a:solidFill>
            <a:srgbClr val="00E676">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30000"/>
          </a:blip>
          <a:stretch>
            <a:fillRect/>
          </a:stretch>
        </p:blipFill>
        <p:spPr>
          <a:xfrm>
            <a:off x="7143750" y="3286125"/>
            <a:ext cx="2571750" cy="2571750"/>
          </a:xfrm>
          <a:prstGeom prst="rect">
            <a:avLst/>
          </a:prstGeom>
        </p:spPr>
      </p:pic>
      <p:sp>
        <p:nvSpPr>
          <p:cNvPr id="6" name="Text 1"/>
          <p:cNvSpPr/>
          <p:nvPr/>
        </p:nvSpPr>
        <p:spPr>
          <a:xfrm>
            <a:off x="7143750" y="3286125"/>
            <a:ext cx="2571750" cy="2571750"/>
          </a:xfrm>
          <a:prstGeom prst="ellipse">
            <a:avLst/>
          </a:prstGeom>
          <a:solidFill>
            <a:srgbClr val="325AC8">
              <a:alpha val="0"/>
            </a:srgbClr>
          </a:solidFill>
          <a:ln/>
        </p:spPr>
        <p:txBody>
          <a:bodyPr wrap="square" rtlCol="0" anchor="ctr"/>
          <a:lstStyle/>
          <a:p>
            <a:pPr indent="0" marL="0">
              <a:buNone/>
            </a:pPr>
            <a:endParaRPr lang="en-US" dirty="0"/>
          </a:p>
        </p:txBody>
      </p:sp>
      <p:sp>
        <p:nvSpPr>
          <p:cNvPr id="7" name="Text 2"/>
          <p:cNvSpPr/>
          <p:nvPr/>
        </p:nvSpPr>
        <p:spPr>
          <a:xfrm>
            <a:off x="514350" y="339328"/>
            <a:ext cx="85725" cy="85725"/>
          </a:xfrm>
          <a:prstGeom prst="ellipse">
            <a:avLst/>
          </a:prstGeom>
          <a:solidFill>
            <a:srgbClr val="00E676"/>
          </a:solidFill>
          <a:ln/>
          <a:effectLst>
            <a:outerShdw sx="100000" sy="100000" kx="0" ky="0" algn="bl" rotWithShape="0" blurRad="171450" dist="50800" dir="16200000">
              <a:srgbClr val="00E676">
                <a:alpha val="60000"/>
              </a:srgbClr>
            </a:outerShdw>
          </a:effectLst>
        </p:spPr>
        <p:txBody>
          <a:bodyPr wrap="square" rtlCol="0" anchor="ctr"/>
          <a:lstStyle/>
          <a:p>
            <a:pPr indent="0" marL="0">
              <a:buNone/>
            </a:pPr>
            <a:endParaRPr lang="en-US" dirty="0"/>
          </a:p>
        </p:txBody>
      </p:sp>
      <p:sp>
        <p:nvSpPr>
          <p:cNvPr id="8" name="Text 3"/>
          <p:cNvSpPr/>
          <p:nvPr/>
        </p:nvSpPr>
        <p:spPr>
          <a:xfrm>
            <a:off x="671513" y="285750"/>
            <a:ext cx="877110"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F4F7FB"/>
                </a:solidFill>
                <a:latin typeface="Carlito" pitchFamily="34" charset="0"/>
                <a:ea typeface="Carlito" pitchFamily="34" charset="-122"/>
                <a:cs typeface="Carlito" pitchFamily="34" charset="-120"/>
              </a:rPr>
              <a:t>Latent.pk</a:t>
            </a:r>
            <a:endParaRPr lang="en-US" sz="1013" dirty="0"/>
          </a:p>
        </p:txBody>
      </p:sp>
      <p:sp>
        <p:nvSpPr>
          <p:cNvPr id="9" name="Text 4"/>
          <p:cNvSpPr/>
          <p:nvPr/>
        </p:nvSpPr>
        <p:spPr>
          <a:xfrm>
            <a:off x="7425928" y="323255"/>
            <a:ext cx="1522482"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64748B"/>
                </a:solidFill>
                <a:latin typeface="Liberation Sans Narrow" pitchFamily="34" charset="0"/>
                <a:ea typeface="Liberation Sans Narrow" pitchFamily="34" charset="-122"/>
                <a:cs typeface="Liberation Sans Narrow" pitchFamily="34" charset="-120"/>
              </a:rPr>
              <a:t>INVESTOR DECK · 2026</a:t>
            </a:r>
            <a:endParaRPr lang="en-US" sz="800" dirty="0"/>
          </a:p>
        </p:txBody>
      </p:sp>
      <p:sp>
        <p:nvSpPr>
          <p:cNvPr id="10" name="Text 5"/>
          <p:cNvSpPr/>
          <p:nvPr/>
        </p:nvSpPr>
        <p:spPr>
          <a:xfrm>
            <a:off x="491490" y="921244"/>
            <a:ext cx="1435403" cy="264919"/>
          </a:xfrm>
          <a:prstGeom prst="roundRect">
            <a:avLst>
              <a:gd name="adj" fmla="val 3591843"/>
            </a:avLst>
          </a:prstGeom>
          <a:solidFill>
            <a:srgbClr val="00E676">
              <a:alpha val="14000"/>
            </a:srgbClr>
          </a:solidFill>
          <a:ln w="7144">
            <a:solidFill>
              <a:srgbClr val="00E676"/>
            </a:solidFill>
            <a:prstDash val="solid"/>
          </a:ln>
        </p:spPr>
        <p:txBody>
          <a:bodyPr wrap="square" rtlCol="0" anchor="ctr"/>
          <a:lstStyle/>
          <a:p>
            <a:pPr indent="0" marL="0">
              <a:buNone/>
            </a:pPr>
            <a:endParaRPr lang="en-US" dirty="0"/>
          </a:p>
        </p:txBody>
      </p:sp>
      <p:sp>
        <p:nvSpPr>
          <p:cNvPr id="11" name="Text 6"/>
          <p:cNvSpPr/>
          <p:nvPr/>
        </p:nvSpPr>
        <p:spPr>
          <a:xfrm>
            <a:off x="778669" y="998339"/>
            <a:ext cx="1018208" cy="126609"/>
          </a:xfrm>
          <a:prstGeom prst="rect">
            <a:avLst/>
          </a:prstGeom>
          <a:noFill/>
          <a:ln/>
        </p:spPr>
        <p:txBody>
          <a:bodyPr wrap="none" lIns="0" tIns="0" rIns="0" bIns="0" rtlCol="0" anchor="t"/>
          <a:lstStyle/>
          <a:p>
            <a:pPr algn="l" indent="0" marL="0">
              <a:lnSpc>
                <a:spcPts val="1097"/>
              </a:lnSpc>
              <a:buNone/>
            </a:pPr>
            <a:r>
              <a:rPr lang="en-US" sz="731" spc="29" kern="0" dirty="0">
                <a:solidFill>
                  <a:srgbClr val="00E676"/>
                </a:solidFill>
                <a:latin typeface="Carlito" pitchFamily="34" charset="0"/>
                <a:ea typeface="Carlito" pitchFamily="34" charset="-122"/>
                <a:cs typeface="Carlito" pitchFamily="34" charset="-120"/>
              </a:rPr>
              <a:t>IN CONVERSATION</a:t>
            </a:r>
            <a:endParaRPr lang="en-US" sz="731" dirty="0"/>
          </a:p>
        </p:txBody>
      </p:sp>
      <p:sp>
        <p:nvSpPr>
          <p:cNvPr id="12" name="Text 7"/>
          <p:cNvSpPr/>
          <p:nvPr/>
        </p:nvSpPr>
        <p:spPr>
          <a:xfrm>
            <a:off x="621506" y="1003697"/>
            <a:ext cx="100013" cy="100013"/>
          </a:xfrm>
          <a:prstGeom prst="rect">
            <a:avLst/>
          </a:prstGeom>
          <a:noFill/>
          <a:ln/>
        </p:spPr>
        <p:txBody>
          <a:bodyPr wrap="none" lIns="0" tIns="0" rIns="0" bIns="0" rtlCol="0" anchor="ctr"/>
          <a:lstStyle/>
          <a:p>
            <a:pPr algn="ctr" indent="0" marL="0">
              <a:buNone/>
            </a:pPr>
            <a:r>
              <a:rPr lang="en-US" sz="984" dirty="0">
                <a:solidFill>
                  <a:srgbClr val="00E676"/>
                </a:solidFill>
                <a:latin typeface="Segoe UI Symbol" pitchFamily="34" charset="0"/>
                <a:ea typeface="Segoe UI Symbol" pitchFamily="34" charset="-122"/>
                <a:cs typeface="Segoe UI Symbol" pitchFamily="34" charset="-120"/>
              </a:rPr>
              <a:t>◌</a:t>
            </a:r>
            <a:endParaRPr lang="en-US" sz="984" dirty="0"/>
          </a:p>
        </p:txBody>
      </p:sp>
      <p:sp>
        <p:nvSpPr>
          <p:cNvPr id="13" name="Text 8"/>
          <p:cNvSpPr/>
          <p:nvPr/>
        </p:nvSpPr>
        <p:spPr>
          <a:xfrm>
            <a:off x="514350" y="1344811"/>
            <a:ext cx="6715125" cy="1759077"/>
          </a:xfrm>
          <a:prstGeom prst="rect">
            <a:avLst/>
          </a:prstGeom>
          <a:noFill/>
          <a:ln/>
        </p:spPr>
        <p:txBody>
          <a:bodyPr wrap="square" lIns="0" tIns="0" rIns="0" bIns="0" rtlCol="0" anchor="t"/>
          <a:lstStyle/>
          <a:p>
            <a:pPr algn="l" indent="0" marL="0">
              <a:lnSpc>
                <a:spcPts val="4275"/>
              </a:lnSpc>
              <a:buNone/>
            </a:pPr>
            <a:r>
              <a:rPr lang="en-US" sz="4275" b="1" spc="-128" kern="0" dirty="0">
                <a:solidFill>
                  <a:srgbClr val="F4F7FB"/>
                </a:solidFill>
                <a:latin typeface="Carlito" pitchFamily="34" charset="0"/>
                <a:ea typeface="Carlito" pitchFamily="34" charset="-122"/>
                <a:cs typeface="Carlito" pitchFamily="34" charset="-120"/>
              </a:rPr>
              <a:t>Let's turn </a:t>
            </a:r>
            <a:pPr algn="l" indent="0" marL="0">
              <a:lnSpc>
                <a:spcPts val="4275"/>
              </a:lnSpc>
              <a:buNone/>
            </a:pPr>
            <a:r>
              <a:rPr lang="en-US" sz="4275" b="1" spc="-128" kern="0" dirty="0">
                <a:solidFill>
                  <a:srgbClr val="00E676"/>
                </a:solidFill>
                <a:latin typeface="Liberation Sans Narrow" pitchFamily="34" charset="0"/>
                <a:ea typeface="Liberation Sans Narrow" pitchFamily="34" charset="-122"/>
                <a:cs typeface="Liberation Sans Narrow" pitchFamily="34" charset="-120"/>
              </a:rPr>
              <a:t>240 million people</a:t>
            </a:r>
            <a:pPr algn="l" indent="0" marL="0">
              <a:lnSpc>
                <a:spcPts val="4275"/>
              </a:lnSpc>
              <a:buNone/>
            </a:pPr>
            <a:r>
              <a:rPr lang="en-US" sz="4275" b="1" spc="-128" kern="0" dirty="0">
                <a:solidFill>
                  <a:srgbClr val="F4F7FB"/>
                </a:solidFill>
                <a:latin typeface="Carlito" pitchFamily="34" charset="0"/>
                <a:ea typeface="Carlito" pitchFamily="34" charset="-122"/>
                <a:cs typeface="Carlito" pitchFamily="34" charset="-120"/>
              </a:rPr>
              <a:t> into informed investors.</a:t>
            </a:r>
            <a:endParaRPr lang="en-US" sz="4275" dirty="0"/>
          </a:p>
        </p:txBody>
      </p:sp>
      <p:sp>
        <p:nvSpPr>
          <p:cNvPr id="14" name="Text 9"/>
          <p:cNvSpPr/>
          <p:nvPr/>
        </p:nvSpPr>
        <p:spPr>
          <a:xfrm>
            <a:off x="514350" y="3173611"/>
            <a:ext cx="5429250" cy="439769"/>
          </a:xfrm>
          <a:prstGeom prst="rect">
            <a:avLst/>
          </a:prstGeom>
          <a:noFill/>
          <a:ln/>
        </p:spPr>
        <p:txBody>
          <a:bodyPr wrap="square" lIns="0" tIns="0" rIns="0" bIns="0" rtlCol="0" anchor="t"/>
          <a:lstStyle/>
          <a:p>
            <a:pPr algn="l" indent="0" marL="0">
              <a:lnSpc>
                <a:spcPts val="1603"/>
              </a:lnSpc>
              <a:buNone/>
            </a:pPr>
            <a:r>
              <a:rPr lang="en-US" sz="1069" dirty="0">
                <a:solidFill>
                  <a:srgbClr val="94A3B8"/>
                </a:solidFill>
                <a:latin typeface="Carlito" pitchFamily="34" charset="0"/>
                <a:ea typeface="Carlito" pitchFamily="34" charset="-122"/>
                <a:cs typeface="Carlito" pitchFamily="34" charset="-120"/>
              </a:rPr>
              <a:t>Latent.pk is the plan-first investment layer for the Pakistan Stock Exchange. We are raising $1.5M pre-seed to ship it.</a:t>
            </a:r>
            <a:endParaRPr lang="en-US" sz="1069" dirty="0"/>
          </a:p>
        </p:txBody>
      </p:sp>
      <p:sp>
        <p:nvSpPr>
          <p:cNvPr id="15" name="Text 10"/>
          <p:cNvSpPr/>
          <p:nvPr/>
        </p:nvSpPr>
        <p:spPr>
          <a:xfrm>
            <a:off x="514350" y="4088011"/>
            <a:ext cx="71438" cy="71438"/>
          </a:xfrm>
          <a:prstGeom prst="ellipse">
            <a:avLst/>
          </a:prstGeom>
          <a:solidFill>
            <a:srgbClr val="00E676"/>
          </a:solidFill>
          <a:ln/>
          <a:effectLst>
            <a:outerShdw sx="100000" sy="100000" kx="0" ky="0" algn="bl" rotWithShape="0" blurRad="114300" dist="50800" dir="16200000">
              <a:srgbClr val="00E676">
                <a:alpha val="35000"/>
              </a:srgbClr>
            </a:outerShdw>
          </a:effectLst>
        </p:spPr>
        <p:txBody>
          <a:bodyPr wrap="square" rtlCol="0" anchor="ctr"/>
          <a:lstStyle/>
          <a:p>
            <a:pPr indent="0" marL="0">
              <a:buNone/>
            </a:pPr>
            <a:endParaRPr lang="en-US" dirty="0"/>
          </a:p>
        </p:txBody>
      </p:sp>
      <p:sp>
        <p:nvSpPr>
          <p:cNvPr id="16" name="Text 11"/>
          <p:cNvSpPr/>
          <p:nvPr/>
        </p:nvSpPr>
        <p:spPr>
          <a:xfrm>
            <a:off x="814388" y="4038005"/>
            <a:ext cx="1593531" cy="185166"/>
          </a:xfrm>
          <a:prstGeom prst="rect">
            <a:avLst/>
          </a:prstGeom>
          <a:noFill/>
          <a:ln/>
        </p:spPr>
        <p:txBody>
          <a:bodyPr wrap="none" lIns="0" tIns="0" rIns="0" bIns="0" rtlCol="0" anchor="t"/>
          <a:lstStyle/>
          <a:p>
            <a:pPr algn="l" indent="0" marL="0">
              <a:lnSpc>
                <a:spcPts val="1350"/>
              </a:lnSpc>
              <a:buNone/>
            </a:pPr>
            <a:r>
              <a:rPr lang="en-US" sz="900" dirty="0">
                <a:solidFill>
                  <a:srgbClr val="F4F7FB"/>
                </a:solidFill>
                <a:latin typeface="Carlito" pitchFamily="34" charset="0"/>
                <a:ea typeface="Carlito" pitchFamily="34" charset="-122"/>
                <a:cs typeface="Carlito" pitchFamily="34" charset="-120"/>
              </a:rPr>
              <a:t>founders@latent.pk</a:t>
            </a:r>
            <a:endParaRPr lang="en-US" sz="900" dirty="0"/>
          </a:p>
        </p:txBody>
      </p:sp>
      <p:sp>
        <p:nvSpPr>
          <p:cNvPr id="17" name="Text 12"/>
          <p:cNvSpPr/>
          <p:nvPr/>
        </p:nvSpPr>
        <p:spPr>
          <a:xfrm>
            <a:off x="2317812" y="4066580"/>
            <a:ext cx="7144" cy="114300"/>
          </a:xfrm>
          <a:prstGeom prst="rect">
            <a:avLst/>
          </a:prstGeom>
          <a:solidFill>
            <a:srgbClr val="FFFFFF">
              <a:alpha val="8000"/>
            </a:srgbClr>
          </a:solidFill>
          <a:ln/>
        </p:spPr>
        <p:txBody>
          <a:bodyPr wrap="square" rtlCol="0" anchor="ctr"/>
          <a:lstStyle/>
          <a:p>
            <a:pPr indent="0" marL="0">
              <a:buNone/>
            </a:pPr>
            <a:endParaRPr lang="en-US" dirty="0"/>
          </a:p>
        </p:txBody>
      </p:sp>
      <p:sp>
        <p:nvSpPr>
          <p:cNvPr id="18" name="Text 13"/>
          <p:cNvSpPr/>
          <p:nvPr/>
        </p:nvSpPr>
        <p:spPr>
          <a:xfrm>
            <a:off x="2553556" y="4038005"/>
            <a:ext cx="4675919" cy="185166"/>
          </a:xfrm>
          <a:prstGeom prst="rect">
            <a:avLst/>
          </a:prstGeom>
          <a:noFill/>
          <a:ln/>
        </p:spPr>
        <p:txBody>
          <a:bodyPr wrap="none" lIns="0" tIns="0" rIns="0" bIns="0" rtlCol="0" anchor="t"/>
          <a:lstStyle/>
          <a:p>
            <a:pPr algn="l" indent="0" marL="0">
              <a:lnSpc>
                <a:spcPts val="1350"/>
              </a:lnSpc>
              <a:buNone/>
            </a:pPr>
            <a:r>
              <a:rPr lang="en-US" sz="900" dirty="0">
                <a:solidFill>
                  <a:srgbClr val="00E676"/>
                </a:solidFill>
                <a:latin typeface="Carlito" pitchFamily="34" charset="0"/>
                <a:ea typeface="Carlito" pitchFamily="34" charset="-122"/>
                <a:cs typeface="Carlito" pitchFamily="34" charset="-120"/>
              </a:rPr>
              <a:t>latent.pk/investors</a:t>
            </a:r>
            <a:endParaRPr lang="en-US" sz="900" dirty="0"/>
          </a:p>
        </p:txBody>
      </p:sp>
      <p:sp>
        <p:nvSpPr>
          <p:cNvPr id="19" name="Text 14"/>
          <p:cNvSpPr/>
          <p:nvPr/>
        </p:nvSpPr>
        <p:spPr>
          <a:xfrm>
            <a:off x="514350" y="4657725"/>
            <a:ext cx="400050" cy="28575"/>
          </a:xfrm>
          <a:prstGeom prst="roundRect">
            <a:avLst>
              <a:gd name="adj" fmla="val 66667"/>
            </a:avLst>
          </a:prstGeom>
          <a:solidFill>
            <a:srgbClr val="00E676"/>
          </a:solidFill>
          <a:ln/>
          <a:effectLst>
            <a:outerShdw sx="100000" sy="100000" kx="0" ky="0" algn="bl" rotWithShape="0" blurRad="114300" dist="50800" dir="16200000">
              <a:srgbClr val="00E676">
                <a:alpha val="55000"/>
              </a:srgbClr>
            </a:outerShdw>
          </a:effectLst>
        </p:spPr>
        <p:txBody>
          <a:bodyPr wrap="square" rtlCol="0" anchor="ctr"/>
          <a:lstStyle/>
          <a:p>
            <a:pPr indent="0" marL="0">
              <a:buNone/>
            </a:pPr>
            <a:endParaRPr lang="en-US" dirty="0"/>
          </a:p>
        </p:txBody>
      </p:sp>
      <p:sp>
        <p:nvSpPr>
          <p:cNvPr id="20" name="Text 15"/>
          <p:cNvSpPr/>
          <p:nvPr/>
        </p:nvSpPr>
        <p:spPr>
          <a:xfrm>
            <a:off x="514350" y="4825603"/>
            <a:ext cx="772574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4A3B8"/>
                </a:solidFill>
                <a:latin typeface="Carlito" pitchFamily="34" charset="0"/>
                <a:ea typeface="Carlito" pitchFamily="34" charset="-122"/>
                <a:cs typeface="Carlito" pitchFamily="34" charset="-120"/>
              </a:rPr>
              <a:t>LATENT.PK · THANK YOU</a:t>
            </a:r>
            <a:endParaRPr lang="en-US" sz="800" dirty="0"/>
          </a:p>
        </p:txBody>
      </p:sp>
      <p:sp>
        <p:nvSpPr>
          <p:cNvPr id="21" name="Text 16"/>
          <p:cNvSpPr/>
          <p:nvPr/>
        </p:nvSpPr>
        <p:spPr>
          <a:xfrm>
            <a:off x="8254380" y="4825603"/>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64748B"/>
                </a:solidFill>
                <a:latin typeface="Liberation Sans Narrow" pitchFamily="34" charset="0"/>
                <a:ea typeface="Liberation Sans Narrow" pitchFamily="34" charset="-122"/>
                <a:cs typeface="Liberation Sans Narrow" pitchFamily="34" charset="-120"/>
              </a:rPr>
              <a:t>14 /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2026-09-30T09:23:02Z</dcterms:created>
  <dcterms:modified xsi:type="dcterms:W3CDTF">2026-09-30T09:23:02Z</dcterms:modified>
</cp:coreProperties>
</file>